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6858000" cx="12192000"/>
  <p:notesSz cx="6858000" cy="9144000"/>
  <p:embeddedFontLst>
    <p:embeddedFont>
      <p:font typeface="Google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8" roundtripDataSignature="AMtx7mh7Bz4gNzEcuhQ2CIgqJJdhgs80/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40BEFB7-4C62-4909-B6A0-25815D243FD2}">
  <a:tblStyle styleId="{F40BEFB7-4C62-4909-B6A0-25815D243FD2}"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E7"/>
          </a:solidFill>
        </a:fill>
      </a:tcStyle>
    </a:wholeTbl>
    <a:band1H>
      <a:tcTxStyle/>
      <a:tcStyle>
        <a:fill>
          <a:solidFill>
            <a:srgbClr val="CFDECC"/>
          </a:solidFill>
        </a:fill>
      </a:tcStyle>
    </a:band1H>
    <a:band2H>
      <a:tcTxStyle/>
    </a:band2H>
    <a:band1V>
      <a:tcTxStyle/>
      <a:tcStyle>
        <a:fill>
          <a:solidFill>
            <a:srgbClr val="CFDECC"/>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GoogleSans-regular.fntdata"/><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font" Target="fonts/GoogleSans-italic.fntdata"/><Relationship Id="rId23" Type="http://schemas.openxmlformats.org/officeDocument/2006/relationships/slide" Target="slides/slide17.xml"/><Relationship Id="rId45" Type="http://schemas.openxmlformats.org/officeDocument/2006/relationships/font" Target="fonts/Google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GoogleSans-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f22e9c551e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g3f22e9c551e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f22e9c551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g3f22e9c551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5.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 name="Shape 17"/>
        <p:cNvGrpSpPr/>
        <p:nvPr/>
      </p:nvGrpSpPr>
      <p:grpSpPr>
        <a:xfrm>
          <a:off x="0" y="0"/>
          <a:ext cx="0" cy="0"/>
          <a:chOff x="0" y="0"/>
          <a:chExt cx="0" cy="0"/>
        </a:xfrm>
      </p:grpSpPr>
      <p:sp>
        <p:nvSpPr>
          <p:cNvPr id="18" name="Google Shape;18;p37"/>
          <p:cNvSpPr/>
          <p:nvPr/>
        </p:nvSpPr>
        <p:spPr>
          <a:xfrm>
            <a:off x="-24143" y="0"/>
            <a:ext cx="633743" cy="6858000"/>
          </a:xfrm>
          <a:prstGeom prst="rect">
            <a:avLst/>
          </a:prstGeom>
          <a:gradFill>
            <a:gsLst>
              <a:gs pos="0">
                <a:srgbClr val="10CC57"/>
              </a:gs>
              <a:gs pos="100000">
                <a:srgbClr val="017058"/>
              </a:gs>
            </a:gsLst>
            <a:lin ang="5400000" scaled="0"/>
          </a:gradFill>
          <a:ln>
            <a:noFill/>
          </a:ln>
          <a:effectLst>
            <a:outerShdw blurRad="508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 name="Google Shape;19;p37"/>
          <p:cNvSpPr/>
          <p:nvPr/>
        </p:nvSpPr>
        <p:spPr>
          <a:xfrm flipH="1" rot="10800000">
            <a:off x="-31247" y="0"/>
            <a:ext cx="633743" cy="6858000"/>
          </a:xfrm>
          <a:prstGeom prst="rect">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 name="Google Shape;20;p37"/>
          <p:cNvSpPr txBox="1"/>
          <p:nvPr/>
        </p:nvSpPr>
        <p:spPr>
          <a:xfrm rot="-5400000">
            <a:off x="-1800908" y="4465666"/>
            <a:ext cx="417306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chemeClr val="lt1"/>
                </a:solidFill>
                <a:latin typeface="Arial"/>
                <a:ea typeface="Arial"/>
                <a:cs typeface="Arial"/>
                <a:sym typeface="Arial"/>
              </a:rPr>
              <a:t>FACULTY OF COMPUTER ENGINEERING</a:t>
            </a:r>
            <a:endParaRPr/>
          </a:p>
        </p:txBody>
      </p:sp>
      <p:sp>
        <p:nvSpPr>
          <p:cNvPr id="21" name="Google Shape;21;p37"/>
          <p:cNvSpPr/>
          <p:nvPr>
            <p:ph type="ctrTitle"/>
          </p:nvPr>
        </p:nvSpPr>
        <p:spPr>
          <a:xfrm>
            <a:off x="1524000" y="1923591"/>
            <a:ext cx="9144000" cy="2387600"/>
          </a:xfrm>
          <a:prstGeom prst="roundRect">
            <a:avLst>
              <a:gd fmla="val 3901" name="adj"/>
            </a:avLst>
          </a:prstGeom>
          <a:noFill/>
          <a:ln cap="flat" cmpd="sng" w="25400">
            <a:solidFill>
              <a:srgbClr val="10CC57"/>
            </a:solidFill>
            <a:prstDash val="solid"/>
            <a:round/>
            <a:headEnd len="sm" w="sm" type="none"/>
            <a:tailEnd len="sm" w="sm" type="none"/>
          </a:ln>
        </p:spPr>
        <p:txBody>
          <a:bodyPr anchorCtr="0" anchor="ctr" bIns="45700" lIns="91425" spcFirstLastPara="1" rIns="91425" wrap="square" tIns="45700">
            <a:normAutofit/>
          </a:bodyPr>
          <a:lstStyle>
            <a:lvl1pPr lvl="0" algn="ctr">
              <a:lnSpc>
                <a:spcPct val="90000"/>
              </a:lnSpc>
              <a:spcBef>
                <a:spcPts val="0"/>
              </a:spcBef>
              <a:spcAft>
                <a:spcPts val="0"/>
              </a:spcAft>
              <a:buClr>
                <a:srgbClr val="11998E"/>
              </a:buClr>
              <a:buSzPts val="6000"/>
              <a:buFont typeface="Times New Roman"/>
              <a:buNone/>
              <a:defRPr b="1" sz="6000">
                <a:solidFill>
                  <a:srgbClr val="11998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24" name="Google Shape;24;p37"/>
          <p:cNvGrpSpPr/>
          <p:nvPr/>
        </p:nvGrpSpPr>
        <p:grpSpPr>
          <a:xfrm>
            <a:off x="11508226" y="243069"/>
            <a:ext cx="546132" cy="546132"/>
            <a:chOff x="11082048" y="197383"/>
            <a:chExt cx="486579" cy="486579"/>
          </a:xfrm>
        </p:grpSpPr>
        <p:sp>
          <p:nvSpPr>
            <p:cNvPr id="25" name="Google Shape;25;p37"/>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 name="Google Shape;26;p37"/>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7" name="Google Shape;27;p37"/>
          <p:cNvGrpSpPr/>
          <p:nvPr/>
        </p:nvGrpSpPr>
        <p:grpSpPr>
          <a:xfrm>
            <a:off x="4479985" y="131938"/>
            <a:ext cx="3232030" cy="768394"/>
            <a:chOff x="4280055" y="84406"/>
            <a:chExt cx="3631889" cy="863458"/>
          </a:xfrm>
        </p:grpSpPr>
        <p:sp>
          <p:nvSpPr>
            <p:cNvPr id="28" name="Google Shape;28;p37"/>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 name="Google Shape;29;p37"/>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con&#10;&#10;Description automatically generated with medium confidence" id="30" name="Google Shape;30;p37"/>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31" name="Google Shape;31;p37"/>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sp>
        <p:nvSpPr>
          <p:cNvPr id="32" name="Google Shape;32;p37"/>
          <p:cNvSpPr txBox="1"/>
          <p:nvPr>
            <p:ph idx="1" type="body"/>
          </p:nvPr>
        </p:nvSpPr>
        <p:spPr>
          <a:xfrm>
            <a:off x="1524000" y="5542055"/>
            <a:ext cx="9144000" cy="519113"/>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i="1" sz="18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7"/>
          <p:cNvSpPr/>
          <p:nvPr>
            <p:ph idx="2" type="body"/>
          </p:nvPr>
        </p:nvSpPr>
        <p:spPr>
          <a:xfrm>
            <a:off x="3730283" y="1550070"/>
            <a:ext cx="2365717" cy="381000"/>
          </a:xfrm>
          <a:prstGeom prst="roundRect">
            <a:avLst>
              <a:gd fmla="val 8146" name="adj"/>
            </a:avLst>
          </a:prstGeom>
          <a:gradFill>
            <a:gsLst>
              <a:gs pos="0">
                <a:srgbClr val="017058"/>
              </a:gs>
              <a:gs pos="100000">
                <a:srgbClr val="10CC57"/>
              </a:gs>
            </a:gsLst>
            <a:lin ang="2700000" scaled="0"/>
          </a:gradFill>
          <a:ln>
            <a:noFill/>
          </a:ln>
        </p:spPr>
        <p:txBody>
          <a:bodyPr anchorCtr="0" anchor="ctr" bIns="45700" lIns="91425" spcFirstLastPara="1" rIns="91425" wrap="square" tIns="45700">
            <a:normAutofit/>
          </a:bodyPr>
          <a:lstStyle>
            <a:lvl1pPr indent="-330200" lvl="0" marL="457200" algn="l">
              <a:lnSpc>
                <a:spcPct val="90000"/>
              </a:lnSpc>
              <a:spcBef>
                <a:spcPts val="1000"/>
              </a:spcBef>
              <a:spcAft>
                <a:spcPts val="0"/>
              </a:spcAft>
              <a:buClr>
                <a:schemeClr val="lt1"/>
              </a:buClr>
              <a:buSzPts val="1600"/>
              <a:buChar char="•"/>
              <a:defRPr b="1" sz="16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37"/>
          <p:cNvSpPr/>
          <p:nvPr>
            <p:ph idx="3" type="body"/>
          </p:nvPr>
        </p:nvSpPr>
        <p:spPr>
          <a:xfrm>
            <a:off x="6096000" y="4309683"/>
            <a:ext cx="3388242" cy="381000"/>
          </a:xfrm>
          <a:prstGeom prst="roundRect">
            <a:avLst>
              <a:gd fmla="val 8146" name="adj"/>
            </a:avLst>
          </a:prstGeom>
          <a:gradFill>
            <a:gsLst>
              <a:gs pos="0">
                <a:srgbClr val="017058"/>
              </a:gs>
              <a:gs pos="100000">
                <a:srgbClr val="10CC57"/>
              </a:gs>
            </a:gsLst>
            <a:lin ang="2700000" scaled="0"/>
          </a:gradFill>
          <a:ln>
            <a:noFill/>
          </a:ln>
        </p:spPr>
        <p:txBody>
          <a:bodyPr anchorCtr="0" anchor="ctr" bIns="45700" lIns="91425" spcFirstLastPara="1" rIns="91425" wrap="square" tIns="45700">
            <a:normAutofit/>
          </a:bodyPr>
          <a:lstStyle>
            <a:lvl1pPr indent="-330200" lvl="0" marL="457200" algn="l">
              <a:lnSpc>
                <a:spcPct val="90000"/>
              </a:lnSpc>
              <a:spcBef>
                <a:spcPts val="1000"/>
              </a:spcBef>
              <a:spcAft>
                <a:spcPts val="0"/>
              </a:spcAft>
              <a:buClr>
                <a:schemeClr val="lt1"/>
              </a:buClr>
              <a:buSzPts val="1600"/>
              <a:buChar char="•"/>
              <a:defRPr b="1" sz="16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37"/>
          <p:cNvSpPr txBox="1"/>
          <p:nvPr>
            <p:ph idx="12" type="sldNum"/>
          </p:nvPr>
        </p:nvSpPr>
        <p:spPr>
          <a:xfrm>
            <a:off x="10409692" y="333573"/>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i="0" sz="1200" u="none" cap="none" strike="noStrike">
                <a:solidFill>
                  <a:schemeClr val="lt1"/>
                </a:solidFill>
                <a:latin typeface="Arial"/>
                <a:ea typeface="Arial"/>
                <a:cs typeface="Arial"/>
                <a:sym typeface="Arial"/>
              </a:defRPr>
            </a:lvl1pPr>
            <a:lvl2pPr indent="0" lvl="1" marL="0" algn="ctr">
              <a:spcBef>
                <a:spcPts val="0"/>
              </a:spcBef>
              <a:buNone/>
              <a:defRPr b="1" i="0" sz="1200" u="none" cap="none" strike="noStrike">
                <a:solidFill>
                  <a:schemeClr val="lt1"/>
                </a:solidFill>
                <a:latin typeface="Arial"/>
                <a:ea typeface="Arial"/>
                <a:cs typeface="Arial"/>
                <a:sym typeface="Arial"/>
              </a:defRPr>
            </a:lvl2pPr>
            <a:lvl3pPr indent="0" lvl="2" marL="0" algn="ctr">
              <a:spcBef>
                <a:spcPts val="0"/>
              </a:spcBef>
              <a:buNone/>
              <a:defRPr b="1" i="0" sz="1200" u="none" cap="none" strike="noStrike">
                <a:solidFill>
                  <a:schemeClr val="lt1"/>
                </a:solidFill>
                <a:latin typeface="Arial"/>
                <a:ea typeface="Arial"/>
                <a:cs typeface="Arial"/>
                <a:sym typeface="Arial"/>
              </a:defRPr>
            </a:lvl3pPr>
            <a:lvl4pPr indent="0" lvl="3" marL="0" algn="ctr">
              <a:spcBef>
                <a:spcPts val="0"/>
              </a:spcBef>
              <a:buNone/>
              <a:defRPr b="1" i="0" sz="1200" u="none" cap="none" strike="noStrike">
                <a:solidFill>
                  <a:schemeClr val="lt1"/>
                </a:solidFill>
                <a:latin typeface="Arial"/>
                <a:ea typeface="Arial"/>
                <a:cs typeface="Arial"/>
                <a:sym typeface="Arial"/>
              </a:defRPr>
            </a:lvl4pPr>
            <a:lvl5pPr indent="0" lvl="4" marL="0" algn="ctr">
              <a:spcBef>
                <a:spcPts val="0"/>
              </a:spcBef>
              <a:buNone/>
              <a:defRPr b="1" i="0" sz="1200" u="none" cap="none" strike="noStrike">
                <a:solidFill>
                  <a:schemeClr val="lt1"/>
                </a:solidFill>
                <a:latin typeface="Arial"/>
                <a:ea typeface="Arial"/>
                <a:cs typeface="Arial"/>
                <a:sym typeface="Arial"/>
              </a:defRPr>
            </a:lvl5pPr>
            <a:lvl6pPr indent="0" lvl="5" marL="0" algn="ctr">
              <a:spcBef>
                <a:spcPts val="0"/>
              </a:spcBef>
              <a:buNone/>
              <a:defRPr b="1" i="0" sz="1200" u="none" cap="none" strike="noStrike">
                <a:solidFill>
                  <a:schemeClr val="lt1"/>
                </a:solidFill>
                <a:latin typeface="Arial"/>
                <a:ea typeface="Arial"/>
                <a:cs typeface="Arial"/>
                <a:sym typeface="Arial"/>
              </a:defRPr>
            </a:lvl6pPr>
            <a:lvl7pPr indent="0" lvl="6" marL="0" algn="ctr">
              <a:spcBef>
                <a:spcPts val="0"/>
              </a:spcBef>
              <a:buNone/>
              <a:defRPr b="1" i="0" sz="1200" u="none" cap="none" strike="noStrike">
                <a:solidFill>
                  <a:schemeClr val="lt1"/>
                </a:solidFill>
                <a:latin typeface="Arial"/>
                <a:ea typeface="Arial"/>
                <a:cs typeface="Arial"/>
                <a:sym typeface="Arial"/>
              </a:defRPr>
            </a:lvl7pPr>
            <a:lvl8pPr indent="0" lvl="7" marL="0" algn="ctr">
              <a:spcBef>
                <a:spcPts val="0"/>
              </a:spcBef>
              <a:buNone/>
              <a:defRPr b="1" i="0" sz="1200" u="none" cap="none" strike="noStrike">
                <a:solidFill>
                  <a:schemeClr val="lt1"/>
                </a:solidFill>
                <a:latin typeface="Arial"/>
                <a:ea typeface="Arial"/>
                <a:cs typeface="Arial"/>
                <a:sym typeface="Arial"/>
              </a:defRPr>
            </a:lvl8pPr>
            <a:lvl9pPr indent="0" lvl="8" marL="0" algn="ctr">
              <a:spcBef>
                <a:spcPts val="0"/>
              </a:spcBef>
              <a:buNone/>
              <a:defRPr b="1" i="0" sz="1200"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36" name="Google Shape;36;p37"/>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37" name="Shape 37"/>
        <p:cNvGrpSpPr/>
        <p:nvPr/>
      </p:nvGrpSpPr>
      <p:grpSpPr>
        <a:xfrm>
          <a:off x="0" y="0"/>
          <a:ext cx="0" cy="0"/>
          <a:chOff x="0" y="0"/>
          <a:chExt cx="0" cy="0"/>
        </a:xfrm>
      </p:grpSpPr>
      <p:sp>
        <p:nvSpPr>
          <p:cNvPr id="38" name="Google Shape;38;p38"/>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a:solidFill>
                  <a:srgbClr val="01705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8"/>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a:bodyPr>
          <a:lstStyle>
            <a:lvl1pPr indent="-406400" lvl="0" marL="457200" algn="l">
              <a:lnSpc>
                <a:spcPct val="130000"/>
              </a:lnSpc>
              <a:spcBef>
                <a:spcPts val="300"/>
              </a:spcBef>
              <a:spcAft>
                <a:spcPts val="0"/>
              </a:spcAft>
              <a:buClr>
                <a:schemeClr val="dk1"/>
              </a:buClr>
              <a:buSzPts val="2800"/>
              <a:buChar char="•"/>
              <a:defRPr/>
            </a:lvl1pPr>
            <a:lvl2pPr indent="-381000" lvl="1" marL="914400" algn="l">
              <a:lnSpc>
                <a:spcPct val="130000"/>
              </a:lnSpc>
              <a:spcBef>
                <a:spcPts val="300"/>
              </a:spcBef>
              <a:spcAft>
                <a:spcPts val="0"/>
              </a:spcAft>
              <a:buClr>
                <a:schemeClr val="dk1"/>
              </a:buClr>
              <a:buSzPts val="2400"/>
              <a:buChar char="•"/>
              <a:defRPr/>
            </a:lvl2pPr>
            <a:lvl3pPr indent="-355600" lvl="2" marL="1371600" algn="l">
              <a:lnSpc>
                <a:spcPct val="130000"/>
              </a:lnSpc>
              <a:spcBef>
                <a:spcPts val="300"/>
              </a:spcBef>
              <a:spcAft>
                <a:spcPts val="0"/>
              </a:spcAft>
              <a:buClr>
                <a:schemeClr val="dk1"/>
              </a:buClr>
              <a:buSzPts val="2000"/>
              <a:buChar char="•"/>
              <a:defRPr/>
            </a:lvl3pPr>
            <a:lvl4pPr indent="-342900" lvl="3" marL="1828800" algn="l">
              <a:lnSpc>
                <a:spcPct val="130000"/>
              </a:lnSpc>
              <a:spcBef>
                <a:spcPts val="300"/>
              </a:spcBef>
              <a:spcAft>
                <a:spcPts val="0"/>
              </a:spcAft>
              <a:buClr>
                <a:schemeClr val="dk1"/>
              </a:buClr>
              <a:buSzPts val="1800"/>
              <a:buChar char="•"/>
              <a:defRPr/>
            </a:lvl4pPr>
            <a:lvl5pPr indent="-342900" lvl="4" marL="2286000" algn="l">
              <a:lnSpc>
                <a:spcPct val="130000"/>
              </a:lnSpc>
              <a:spcBef>
                <a:spcPts val="3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8"/>
          <p:cNvSpPr txBox="1"/>
          <p:nvPr>
            <p:ph idx="10" type="dt"/>
          </p:nvPr>
        </p:nvSpPr>
        <p:spPr>
          <a:xfrm>
            <a:off x="103316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8"/>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8"/>
          <p:cNvSpPr/>
          <p:nvPr/>
        </p:nvSpPr>
        <p:spPr>
          <a:xfrm rot="5400000">
            <a:off x="5778985" y="-5780045"/>
            <a:ext cx="631552" cy="12194479"/>
          </a:xfrm>
          <a:prstGeom prst="rect">
            <a:avLst/>
          </a:prstGeom>
          <a:gradFill>
            <a:gsLst>
              <a:gs pos="0">
                <a:srgbClr val="10CC57"/>
              </a:gs>
              <a:gs pos="100000">
                <a:srgbClr val="017058"/>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 name="Google Shape;43;p38"/>
          <p:cNvSpPr/>
          <p:nvPr/>
        </p:nvSpPr>
        <p:spPr>
          <a:xfrm flipH="1" rot="-5400000">
            <a:off x="578022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 name="Google Shape;44;p38"/>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FACULTY OF COMPUTER ENGINEERING</a:t>
            </a:r>
            <a:endParaRPr/>
          </a:p>
        </p:txBody>
      </p:sp>
      <p:grpSp>
        <p:nvGrpSpPr>
          <p:cNvPr id="45" name="Google Shape;45;p38"/>
          <p:cNvGrpSpPr/>
          <p:nvPr/>
        </p:nvGrpSpPr>
        <p:grpSpPr>
          <a:xfrm>
            <a:off x="4479985" y="241694"/>
            <a:ext cx="3232030" cy="768394"/>
            <a:chOff x="4280055" y="84406"/>
            <a:chExt cx="3631889" cy="863458"/>
          </a:xfrm>
        </p:grpSpPr>
        <p:sp>
          <p:nvSpPr>
            <p:cNvPr id="46" name="Google Shape;46;p38"/>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 name="Google Shape;47;p38"/>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con&#10;&#10;Description automatically generated with medium confidence" id="48" name="Google Shape;48;p38"/>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49" name="Google Shape;49;p38"/>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50" name="Google Shape;50;p38"/>
          <p:cNvGrpSpPr/>
          <p:nvPr/>
        </p:nvGrpSpPr>
        <p:grpSpPr>
          <a:xfrm>
            <a:off x="11508226" y="6270255"/>
            <a:ext cx="546132" cy="546132"/>
            <a:chOff x="11082048" y="197383"/>
            <a:chExt cx="486579" cy="486579"/>
          </a:xfrm>
        </p:grpSpPr>
        <p:sp>
          <p:nvSpPr>
            <p:cNvPr id="51" name="Google Shape;51;p38"/>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 name="Google Shape;52;p38"/>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53" name="Google Shape;53;p38"/>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200">
                <a:solidFill>
                  <a:schemeClr val="lt1"/>
                </a:solidFill>
                <a:latin typeface="Arial"/>
                <a:ea typeface="Arial"/>
                <a:cs typeface="Arial"/>
                <a:sym typeface="Arial"/>
              </a:defRPr>
            </a:lvl1pPr>
            <a:lvl2pPr indent="0" lvl="1" marL="0" algn="ctr">
              <a:spcBef>
                <a:spcPts val="0"/>
              </a:spcBef>
              <a:buNone/>
              <a:defRPr sz="1200">
                <a:solidFill>
                  <a:schemeClr val="lt1"/>
                </a:solidFill>
                <a:latin typeface="Arial"/>
                <a:ea typeface="Arial"/>
                <a:cs typeface="Arial"/>
                <a:sym typeface="Arial"/>
              </a:defRPr>
            </a:lvl2pPr>
            <a:lvl3pPr indent="0" lvl="2" marL="0" algn="ctr">
              <a:spcBef>
                <a:spcPts val="0"/>
              </a:spcBef>
              <a:buNone/>
              <a:defRPr sz="1200">
                <a:solidFill>
                  <a:schemeClr val="lt1"/>
                </a:solidFill>
                <a:latin typeface="Arial"/>
                <a:ea typeface="Arial"/>
                <a:cs typeface="Arial"/>
                <a:sym typeface="Arial"/>
              </a:defRPr>
            </a:lvl3pPr>
            <a:lvl4pPr indent="0" lvl="3" marL="0" algn="ctr">
              <a:spcBef>
                <a:spcPts val="0"/>
              </a:spcBef>
              <a:buNone/>
              <a:defRPr sz="1200">
                <a:solidFill>
                  <a:schemeClr val="lt1"/>
                </a:solidFill>
                <a:latin typeface="Arial"/>
                <a:ea typeface="Arial"/>
                <a:cs typeface="Arial"/>
                <a:sym typeface="Arial"/>
              </a:defRPr>
            </a:lvl4pPr>
            <a:lvl5pPr indent="0" lvl="4" marL="0" algn="ctr">
              <a:spcBef>
                <a:spcPts val="0"/>
              </a:spcBef>
              <a:buNone/>
              <a:defRPr sz="1200">
                <a:solidFill>
                  <a:schemeClr val="lt1"/>
                </a:solidFill>
                <a:latin typeface="Arial"/>
                <a:ea typeface="Arial"/>
                <a:cs typeface="Arial"/>
                <a:sym typeface="Arial"/>
              </a:defRPr>
            </a:lvl5pPr>
            <a:lvl6pPr indent="0" lvl="5" marL="0" algn="ctr">
              <a:spcBef>
                <a:spcPts val="0"/>
              </a:spcBef>
              <a:buNone/>
              <a:defRPr sz="1200">
                <a:solidFill>
                  <a:schemeClr val="lt1"/>
                </a:solidFill>
                <a:latin typeface="Arial"/>
                <a:ea typeface="Arial"/>
                <a:cs typeface="Arial"/>
                <a:sym typeface="Arial"/>
              </a:defRPr>
            </a:lvl6pPr>
            <a:lvl7pPr indent="0" lvl="6" marL="0" algn="ctr">
              <a:spcBef>
                <a:spcPts val="0"/>
              </a:spcBef>
              <a:buNone/>
              <a:defRPr sz="1200">
                <a:solidFill>
                  <a:schemeClr val="lt1"/>
                </a:solidFill>
                <a:latin typeface="Arial"/>
                <a:ea typeface="Arial"/>
                <a:cs typeface="Arial"/>
                <a:sym typeface="Arial"/>
              </a:defRPr>
            </a:lvl7pPr>
            <a:lvl8pPr indent="0" lvl="7" marL="0" algn="ctr">
              <a:spcBef>
                <a:spcPts val="0"/>
              </a:spcBef>
              <a:buNone/>
              <a:defRPr sz="1200">
                <a:solidFill>
                  <a:schemeClr val="lt1"/>
                </a:solidFill>
                <a:latin typeface="Arial"/>
                <a:ea typeface="Arial"/>
                <a:cs typeface="Arial"/>
                <a:sym typeface="Arial"/>
              </a:defRPr>
            </a:lvl8pPr>
            <a:lvl9pPr indent="0" lvl="8" marL="0" algn="ctr">
              <a:spcBef>
                <a:spcPts val="0"/>
              </a:spcBef>
              <a:buNone/>
              <a:defRPr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54" name="Google Shape;54;p38"/>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55" name="Shape 55"/>
        <p:cNvGrpSpPr/>
        <p:nvPr/>
      </p:nvGrpSpPr>
      <p:grpSpPr>
        <a:xfrm>
          <a:off x="0" y="0"/>
          <a:ext cx="0" cy="0"/>
          <a:chOff x="0" y="0"/>
          <a:chExt cx="0" cy="0"/>
        </a:xfrm>
      </p:grpSpPr>
      <p:sp>
        <p:nvSpPr>
          <p:cNvPr id="56" name="Google Shape;56;p39"/>
          <p:cNvSpPr txBox="1"/>
          <p:nvPr>
            <p:ph idx="10" type="dt"/>
          </p:nvPr>
        </p:nvSpPr>
        <p:spPr>
          <a:xfrm>
            <a:off x="4236403"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9"/>
          <p:cNvSpPr txBox="1"/>
          <p:nvPr>
            <p:ph idx="11" type="ftr"/>
          </p:nvPr>
        </p:nvSpPr>
        <p:spPr>
          <a:xfrm>
            <a:off x="723265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9"/>
          <p:cNvSpPr/>
          <p:nvPr/>
        </p:nvSpPr>
        <p:spPr>
          <a:xfrm>
            <a:off x="-24143" y="0"/>
            <a:ext cx="4056393" cy="6858000"/>
          </a:xfrm>
          <a:prstGeom prst="rect">
            <a:avLst/>
          </a:prstGeom>
          <a:gradFill>
            <a:gsLst>
              <a:gs pos="0">
                <a:srgbClr val="38EF7D"/>
              </a:gs>
              <a:gs pos="100000">
                <a:srgbClr val="11998E"/>
              </a:gs>
            </a:gsLst>
            <a:lin ang="5400000" scaled="0"/>
          </a:gradFill>
          <a:ln>
            <a:noFill/>
          </a:ln>
          <a:effectLst>
            <a:outerShdw blurRad="508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 name="Google Shape;59;p39"/>
          <p:cNvSpPr/>
          <p:nvPr/>
        </p:nvSpPr>
        <p:spPr>
          <a:xfrm flipH="1" rot="10800000">
            <a:off x="-31247" y="0"/>
            <a:ext cx="1804783" cy="6858000"/>
          </a:xfrm>
          <a:prstGeom prst="rect">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 name="Google Shape;60;p39"/>
          <p:cNvSpPr txBox="1"/>
          <p:nvPr/>
        </p:nvSpPr>
        <p:spPr>
          <a:xfrm rot="-5400000">
            <a:off x="-1800908" y="4465666"/>
            <a:ext cx="417306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FACULTY OF COMPUTER ENGINEERING</a:t>
            </a:r>
            <a:endParaRPr/>
          </a:p>
        </p:txBody>
      </p:sp>
      <p:grpSp>
        <p:nvGrpSpPr>
          <p:cNvPr id="61" name="Google Shape;61;p39"/>
          <p:cNvGrpSpPr/>
          <p:nvPr/>
        </p:nvGrpSpPr>
        <p:grpSpPr>
          <a:xfrm>
            <a:off x="4479985" y="131938"/>
            <a:ext cx="3232030" cy="768394"/>
            <a:chOff x="4280055" y="84406"/>
            <a:chExt cx="3631889" cy="863458"/>
          </a:xfrm>
        </p:grpSpPr>
        <p:sp>
          <p:nvSpPr>
            <p:cNvPr id="62" name="Google Shape;62;p39"/>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 name="Google Shape;63;p39"/>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con&#10;&#10;Description automatically generated with medium confidence" id="64" name="Google Shape;64;p39"/>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65" name="Google Shape;65;p39"/>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66" name="Google Shape;66;p39"/>
          <p:cNvGrpSpPr/>
          <p:nvPr/>
        </p:nvGrpSpPr>
        <p:grpSpPr>
          <a:xfrm>
            <a:off x="11508226" y="243069"/>
            <a:ext cx="546132" cy="546132"/>
            <a:chOff x="11082048" y="197383"/>
            <a:chExt cx="486579" cy="486579"/>
          </a:xfrm>
        </p:grpSpPr>
        <p:sp>
          <p:nvSpPr>
            <p:cNvPr id="67" name="Google Shape;67;p39"/>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 name="Google Shape;68;p39"/>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69" name="Google Shape;69;p39"/>
          <p:cNvSpPr txBox="1"/>
          <p:nvPr>
            <p:ph idx="12" type="sldNum"/>
          </p:nvPr>
        </p:nvSpPr>
        <p:spPr>
          <a:xfrm>
            <a:off x="10409692" y="332284"/>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200">
                <a:solidFill>
                  <a:schemeClr val="lt1"/>
                </a:solidFill>
                <a:latin typeface="Arial"/>
                <a:ea typeface="Arial"/>
                <a:cs typeface="Arial"/>
                <a:sym typeface="Arial"/>
              </a:defRPr>
            </a:lvl1pPr>
            <a:lvl2pPr indent="0" lvl="1" marL="0" algn="ctr">
              <a:spcBef>
                <a:spcPts val="0"/>
              </a:spcBef>
              <a:buNone/>
              <a:defRPr sz="1200">
                <a:solidFill>
                  <a:schemeClr val="lt1"/>
                </a:solidFill>
                <a:latin typeface="Arial"/>
                <a:ea typeface="Arial"/>
                <a:cs typeface="Arial"/>
                <a:sym typeface="Arial"/>
              </a:defRPr>
            </a:lvl2pPr>
            <a:lvl3pPr indent="0" lvl="2" marL="0" algn="ctr">
              <a:spcBef>
                <a:spcPts val="0"/>
              </a:spcBef>
              <a:buNone/>
              <a:defRPr sz="1200">
                <a:solidFill>
                  <a:schemeClr val="lt1"/>
                </a:solidFill>
                <a:latin typeface="Arial"/>
                <a:ea typeface="Arial"/>
                <a:cs typeface="Arial"/>
                <a:sym typeface="Arial"/>
              </a:defRPr>
            </a:lvl3pPr>
            <a:lvl4pPr indent="0" lvl="3" marL="0" algn="ctr">
              <a:spcBef>
                <a:spcPts val="0"/>
              </a:spcBef>
              <a:buNone/>
              <a:defRPr sz="1200">
                <a:solidFill>
                  <a:schemeClr val="lt1"/>
                </a:solidFill>
                <a:latin typeface="Arial"/>
                <a:ea typeface="Arial"/>
                <a:cs typeface="Arial"/>
                <a:sym typeface="Arial"/>
              </a:defRPr>
            </a:lvl4pPr>
            <a:lvl5pPr indent="0" lvl="4" marL="0" algn="ctr">
              <a:spcBef>
                <a:spcPts val="0"/>
              </a:spcBef>
              <a:buNone/>
              <a:defRPr sz="1200">
                <a:solidFill>
                  <a:schemeClr val="lt1"/>
                </a:solidFill>
                <a:latin typeface="Arial"/>
                <a:ea typeface="Arial"/>
                <a:cs typeface="Arial"/>
                <a:sym typeface="Arial"/>
              </a:defRPr>
            </a:lvl5pPr>
            <a:lvl6pPr indent="0" lvl="5" marL="0" algn="ctr">
              <a:spcBef>
                <a:spcPts val="0"/>
              </a:spcBef>
              <a:buNone/>
              <a:defRPr sz="1200">
                <a:solidFill>
                  <a:schemeClr val="lt1"/>
                </a:solidFill>
                <a:latin typeface="Arial"/>
                <a:ea typeface="Arial"/>
                <a:cs typeface="Arial"/>
                <a:sym typeface="Arial"/>
              </a:defRPr>
            </a:lvl6pPr>
            <a:lvl7pPr indent="0" lvl="6" marL="0" algn="ctr">
              <a:spcBef>
                <a:spcPts val="0"/>
              </a:spcBef>
              <a:buNone/>
              <a:defRPr sz="1200">
                <a:solidFill>
                  <a:schemeClr val="lt1"/>
                </a:solidFill>
                <a:latin typeface="Arial"/>
                <a:ea typeface="Arial"/>
                <a:cs typeface="Arial"/>
                <a:sym typeface="Arial"/>
              </a:defRPr>
            </a:lvl7pPr>
            <a:lvl8pPr indent="0" lvl="7" marL="0" algn="ctr">
              <a:spcBef>
                <a:spcPts val="0"/>
              </a:spcBef>
              <a:buNone/>
              <a:defRPr sz="1200">
                <a:solidFill>
                  <a:schemeClr val="lt1"/>
                </a:solidFill>
                <a:latin typeface="Arial"/>
                <a:ea typeface="Arial"/>
                <a:cs typeface="Arial"/>
                <a:sym typeface="Arial"/>
              </a:defRPr>
            </a:lvl8pPr>
            <a:lvl9pPr indent="0" lvl="8" marL="0" algn="ctr">
              <a:spcBef>
                <a:spcPts val="0"/>
              </a:spcBef>
              <a:buNone/>
              <a:defRPr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70" name="Google Shape;70;p39"/>
          <p:cNvSpPr/>
          <p:nvPr/>
        </p:nvSpPr>
        <p:spPr>
          <a:xfrm>
            <a:off x="1136821" y="1450428"/>
            <a:ext cx="10210628" cy="4289654"/>
          </a:xfrm>
          <a:prstGeom prst="roundRect">
            <a:avLst>
              <a:gd fmla="val 2701" name="adj"/>
            </a:avLst>
          </a:prstGeom>
          <a:blipFill rotWithShape="1">
            <a:blip r:embed="rId5">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 name="Google Shape;71;p39"/>
          <p:cNvSpPr/>
          <p:nvPr/>
        </p:nvSpPr>
        <p:spPr>
          <a:xfrm>
            <a:off x="1136821" y="1450428"/>
            <a:ext cx="10210628" cy="4289654"/>
          </a:xfrm>
          <a:prstGeom prst="roundRect">
            <a:avLst>
              <a:gd fmla="val 2701" name="adj"/>
            </a:avLst>
          </a:prstGeom>
          <a:gradFill>
            <a:gsLst>
              <a:gs pos="0">
                <a:srgbClr val="38EF7D">
                  <a:alpha val="40000"/>
                </a:srgbClr>
              </a:gs>
              <a:gs pos="100000">
                <a:srgbClr val="11998E">
                  <a:alpha val="40000"/>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 name="Google Shape;72;p39"/>
          <p:cNvSpPr txBox="1"/>
          <p:nvPr>
            <p:ph type="title"/>
          </p:nvPr>
        </p:nvSpPr>
        <p:spPr>
          <a:xfrm>
            <a:off x="1653362" y="2425382"/>
            <a:ext cx="9177548" cy="150595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5400"/>
              <a:buFont typeface="Times New Roman"/>
              <a:buNone/>
              <a:defRPr b="1"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39"/>
          <p:cNvSpPr txBox="1"/>
          <p:nvPr>
            <p:ph idx="1" type="body"/>
          </p:nvPr>
        </p:nvSpPr>
        <p:spPr>
          <a:xfrm>
            <a:off x="1653362" y="4108231"/>
            <a:ext cx="5564835" cy="7419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74" name="Google Shape;74;p39"/>
          <p:cNvSpPr txBox="1"/>
          <p:nvPr>
            <p:ph idx="2" type="body"/>
          </p:nvPr>
        </p:nvSpPr>
        <p:spPr>
          <a:xfrm>
            <a:off x="1653362" y="561276"/>
            <a:ext cx="2052637" cy="178593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11500"/>
              <a:buNone/>
              <a:defRPr b="1" sz="115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9"/>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76" name="Shape 76"/>
        <p:cNvGrpSpPr/>
        <p:nvPr/>
      </p:nvGrpSpPr>
      <p:grpSpPr>
        <a:xfrm>
          <a:off x="0" y="0"/>
          <a:ext cx="0" cy="0"/>
          <a:chOff x="0" y="0"/>
          <a:chExt cx="0" cy="0"/>
        </a:xfrm>
      </p:grpSpPr>
      <p:sp>
        <p:nvSpPr>
          <p:cNvPr id="77" name="Google Shape;77;p40"/>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a:solidFill>
                  <a:srgbClr val="01705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40"/>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a:bodyPr>
          <a:lstStyle>
            <a:lvl1pPr indent="-406400" lvl="0" marL="457200" algn="l">
              <a:lnSpc>
                <a:spcPct val="130000"/>
              </a:lnSpc>
              <a:spcBef>
                <a:spcPts val="300"/>
              </a:spcBef>
              <a:spcAft>
                <a:spcPts val="0"/>
              </a:spcAft>
              <a:buClr>
                <a:schemeClr val="dk1"/>
              </a:buClr>
              <a:buSzPts val="2800"/>
              <a:buChar char="•"/>
              <a:defRPr/>
            </a:lvl1pPr>
            <a:lvl2pPr indent="-381000" lvl="1" marL="914400" algn="l">
              <a:lnSpc>
                <a:spcPct val="130000"/>
              </a:lnSpc>
              <a:spcBef>
                <a:spcPts val="300"/>
              </a:spcBef>
              <a:spcAft>
                <a:spcPts val="0"/>
              </a:spcAft>
              <a:buClr>
                <a:schemeClr val="dk1"/>
              </a:buClr>
              <a:buSzPts val="2400"/>
              <a:buChar char="•"/>
              <a:defRPr/>
            </a:lvl2pPr>
            <a:lvl3pPr indent="-355600" lvl="2" marL="1371600" algn="l">
              <a:lnSpc>
                <a:spcPct val="130000"/>
              </a:lnSpc>
              <a:spcBef>
                <a:spcPts val="300"/>
              </a:spcBef>
              <a:spcAft>
                <a:spcPts val="0"/>
              </a:spcAft>
              <a:buClr>
                <a:schemeClr val="dk1"/>
              </a:buClr>
              <a:buSzPts val="2000"/>
              <a:buChar char="•"/>
              <a:defRPr/>
            </a:lvl3pPr>
            <a:lvl4pPr indent="-342900" lvl="3" marL="1828800" algn="l">
              <a:lnSpc>
                <a:spcPct val="130000"/>
              </a:lnSpc>
              <a:spcBef>
                <a:spcPts val="300"/>
              </a:spcBef>
              <a:spcAft>
                <a:spcPts val="0"/>
              </a:spcAft>
              <a:buClr>
                <a:schemeClr val="dk1"/>
              </a:buClr>
              <a:buSzPts val="1800"/>
              <a:buChar char="•"/>
              <a:defRPr/>
            </a:lvl4pPr>
            <a:lvl5pPr indent="-342900" lvl="4" marL="2286000" algn="l">
              <a:lnSpc>
                <a:spcPct val="130000"/>
              </a:lnSpc>
              <a:spcBef>
                <a:spcPts val="3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40"/>
          <p:cNvSpPr txBox="1"/>
          <p:nvPr>
            <p:ph idx="10" type="dt"/>
          </p:nvPr>
        </p:nvSpPr>
        <p:spPr>
          <a:xfrm>
            <a:off x="103316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0"/>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0"/>
          <p:cNvSpPr/>
          <p:nvPr/>
        </p:nvSpPr>
        <p:spPr>
          <a:xfrm rot="5400000">
            <a:off x="5778985" y="-5780045"/>
            <a:ext cx="631552" cy="12194479"/>
          </a:xfrm>
          <a:prstGeom prst="rect">
            <a:avLst/>
          </a:prstGeom>
          <a:gradFill>
            <a:gsLst>
              <a:gs pos="0">
                <a:srgbClr val="10CC57"/>
              </a:gs>
              <a:gs pos="100000">
                <a:srgbClr val="017058"/>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 name="Google Shape;82;p40"/>
          <p:cNvSpPr/>
          <p:nvPr/>
        </p:nvSpPr>
        <p:spPr>
          <a:xfrm flipH="1" rot="-5400000">
            <a:off x="578022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3" name="Google Shape;83;p40"/>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FACULTY OF COMPUTER ENGINEERING</a:t>
            </a:r>
            <a:endParaRPr/>
          </a:p>
        </p:txBody>
      </p:sp>
      <p:grpSp>
        <p:nvGrpSpPr>
          <p:cNvPr id="84" name="Google Shape;84;p40"/>
          <p:cNvGrpSpPr/>
          <p:nvPr/>
        </p:nvGrpSpPr>
        <p:grpSpPr>
          <a:xfrm>
            <a:off x="4479985" y="241694"/>
            <a:ext cx="3232030" cy="768394"/>
            <a:chOff x="4280055" y="84406"/>
            <a:chExt cx="3631889" cy="863458"/>
          </a:xfrm>
        </p:grpSpPr>
        <p:sp>
          <p:nvSpPr>
            <p:cNvPr id="85" name="Google Shape;85;p40"/>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 name="Google Shape;86;p40"/>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con&#10;&#10;Description automatically generated with medium confidence" id="87" name="Google Shape;87;p40"/>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88" name="Google Shape;88;p40"/>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89" name="Google Shape;89;p40"/>
          <p:cNvGrpSpPr/>
          <p:nvPr/>
        </p:nvGrpSpPr>
        <p:grpSpPr>
          <a:xfrm>
            <a:off x="11508226" y="6270255"/>
            <a:ext cx="546132" cy="546132"/>
            <a:chOff x="11082048" y="197383"/>
            <a:chExt cx="486579" cy="486579"/>
          </a:xfrm>
        </p:grpSpPr>
        <p:sp>
          <p:nvSpPr>
            <p:cNvPr id="90" name="Google Shape;90;p40"/>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 name="Google Shape;91;p40"/>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92" name="Google Shape;92;p40"/>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200">
                <a:solidFill>
                  <a:schemeClr val="lt1"/>
                </a:solidFill>
                <a:latin typeface="Arial"/>
                <a:ea typeface="Arial"/>
                <a:cs typeface="Arial"/>
                <a:sym typeface="Arial"/>
              </a:defRPr>
            </a:lvl1pPr>
            <a:lvl2pPr indent="0" lvl="1" marL="0" algn="ctr">
              <a:spcBef>
                <a:spcPts val="0"/>
              </a:spcBef>
              <a:buNone/>
              <a:defRPr sz="1200">
                <a:solidFill>
                  <a:schemeClr val="lt1"/>
                </a:solidFill>
                <a:latin typeface="Arial"/>
                <a:ea typeface="Arial"/>
                <a:cs typeface="Arial"/>
                <a:sym typeface="Arial"/>
              </a:defRPr>
            </a:lvl2pPr>
            <a:lvl3pPr indent="0" lvl="2" marL="0" algn="ctr">
              <a:spcBef>
                <a:spcPts val="0"/>
              </a:spcBef>
              <a:buNone/>
              <a:defRPr sz="1200">
                <a:solidFill>
                  <a:schemeClr val="lt1"/>
                </a:solidFill>
                <a:latin typeface="Arial"/>
                <a:ea typeface="Arial"/>
                <a:cs typeface="Arial"/>
                <a:sym typeface="Arial"/>
              </a:defRPr>
            </a:lvl3pPr>
            <a:lvl4pPr indent="0" lvl="3" marL="0" algn="ctr">
              <a:spcBef>
                <a:spcPts val="0"/>
              </a:spcBef>
              <a:buNone/>
              <a:defRPr sz="1200">
                <a:solidFill>
                  <a:schemeClr val="lt1"/>
                </a:solidFill>
                <a:latin typeface="Arial"/>
                <a:ea typeface="Arial"/>
                <a:cs typeface="Arial"/>
                <a:sym typeface="Arial"/>
              </a:defRPr>
            </a:lvl4pPr>
            <a:lvl5pPr indent="0" lvl="4" marL="0" algn="ctr">
              <a:spcBef>
                <a:spcPts val="0"/>
              </a:spcBef>
              <a:buNone/>
              <a:defRPr sz="1200">
                <a:solidFill>
                  <a:schemeClr val="lt1"/>
                </a:solidFill>
                <a:latin typeface="Arial"/>
                <a:ea typeface="Arial"/>
                <a:cs typeface="Arial"/>
                <a:sym typeface="Arial"/>
              </a:defRPr>
            </a:lvl5pPr>
            <a:lvl6pPr indent="0" lvl="5" marL="0" algn="ctr">
              <a:spcBef>
                <a:spcPts val="0"/>
              </a:spcBef>
              <a:buNone/>
              <a:defRPr sz="1200">
                <a:solidFill>
                  <a:schemeClr val="lt1"/>
                </a:solidFill>
                <a:latin typeface="Arial"/>
                <a:ea typeface="Arial"/>
                <a:cs typeface="Arial"/>
                <a:sym typeface="Arial"/>
              </a:defRPr>
            </a:lvl6pPr>
            <a:lvl7pPr indent="0" lvl="6" marL="0" algn="ctr">
              <a:spcBef>
                <a:spcPts val="0"/>
              </a:spcBef>
              <a:buNone/>
              <a:defRPr sz="1200">
                <a:solidFill>
                  <a:schemeClr val="lt1"/>
                </a:solidFill>
                <a:latin typeface="Arial"/>
                <a:ea typeface="Arial"/>
                <a:cs typeface="Arial"/>
                <a:sym typeface="Arial"/>
              </a:defRPr>
            </a:lvl7pPr>
            <a:lvl8pPr indent="0" lvl="7" marL="0" algn="ctr">
              <a:spcBef>
                <a:spcPts val="0"/>
              </a:spcBef>
              <a:buNone/>
              <a:defRPr sz="1200">
                <a:solidFill>
                  <a:schemeClr val="lt1"/>
                </a:solidFill>
                <a:latin typeface="Arial"/>
                <a:ea typeface="Arial"/>
                <a:cs typeface="Arial"/>
                <a:sym typeface="Arial"/>
              </a:defRPr>
            </a:lvl8pPr>
            <a:lvl9pPr indent="0" lvl="8" marL="0" algn="ctr">
              <a:spcBef>
                <a:spcPts val="0"/>
              </a:spcBef>
              <a:buNone/>
              <a:defRPr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93" name="Google Shape;93;p40"/>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Content">
  <p:cSld name="4_Title and Content">
    <p:spTree>
      <p:nvGrpSpPr>
        <p:cNvPr id="94" name="Shape 94"/>
        <p:cNvGrpSpPr/>
        <p:nvPr/>
      </p:nvGrpSpPr>
      <p:grpSpPr>
        <a:xfrm>
          <a:off x="0" y="0"/>
          <a:ext cx="0" cy="0"/>
          <a:chOff x="0" y="0"/>
          <a:chExt cx="0" cy="0"/>
        </a:xfrm>
      </p:grpSpPr>
      <p:sp>
        <p:nvSpPr>
          <p:cNvPr id="95" name="Google Shape;95;p41"/>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a:solidFill>
                  <a:srgbClr val="01705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41"/>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a:bodyPr>
          <a:lstStyle>
            <a:lvl1pPr indent="-406400" lvl="0" marL="457200" algn="l">
              <a:lnSpc>
                <a:spcPct val="130000"/>
              </a:lnSpc>
              <a:spcBef>
                <a:spcPts val="300"/>
              </a:spcBef>
              <a:spcAft>
                <a:spcPts val="0"/>
              </a:spcAft>
              <a:buClr>
                <a:schemeClr val="dk1"/>
              </a:buClr>
              <a:buSzPts val="2800"/>
              <a:buChar char="•"/>
              <a:defRPr/>
            </a:lvl1pPr>
            <a:lvl2pPr indent="-381000" lvl="1" marL="914400" algn="l">
              <a:lnSpc>
                <a:spcPct val="130000"/>
              </a:lnSpc>
              <a:spcBef>
                <a:spcPts val="300"/>
              </a:spcBef>
              <a:spcAft>
                <a:spcPts val="0"/>
              </a:spcAft>
              <a:buClr>
                <a:schemeClr val="dk1"/>
              </a:buClr>
              <a:buSzPts val="2400"/>
              <a:buChar char="•"/>
              <a:defRPr/>
            </a:lvl2pPr>
            <a:lvl3pPr indent="-355600" lvl="2" marL="1371600" algn="l">
              <a:lnSpc>
                <a:spcPct val="130000"/>
              </a:lnSpc>
              <a:spcBef>
                <a:spcPts val="300"/>
              </a:spcBef>
              <a:spcAft>
                <a:spcPts val="0"/>
              </a:spcAft>
              <a:buClr>
                <a:schemeClr val="dk1"/>
              </a:buClr>
              <a:buSzPts val="2000"/>
              <a:buChar char="•"/>
              <a:defRPr/>
            </a:lvl3pPr>
            <a:lvl4pPr indent="-342900" lvl="3" marL="1828800" algn="l">
              <a:lnSpc>
                <a:spcPct val="130000"/>
              </a:lnSpc>
              <a:spcBef>
                <a:spcPts val="300"/>
              </a:spcBef>
              <a:spcAft>
                <a:spcPts val="0"/>
              </a:spcAft>
              <a:buClr>
                <a:schemeClr val="dk1"/>
              </a:buClr>
              <a:buSzPts val="1800"/>
              <a:buChar char="•"/>
              <a:defRPr/>
            </a:lvl4pPr>
            <a:lvl5pPr indent="-342900" lvl="4" marL="2286000" algn="l">
              <a:lnSpc>
                <a:spcPct val="130000"/>
              </a:lnSpc>
              <a:spcBef>
                <a:spcPts val="3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41"/>
          <p:cNvSpPr txBox="1"/>
          <p:nvPr>
            <p:ph idx="10" type="dt"/>
          </p:nvPr>
        </p:nvSpPr>
        <p:spPr>
          <a:xfrm>
            <a:off x="103316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1"/>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1"/>
          <p:cNvSpPr/>
          <p:nvPr/>
        </p:nvSpPr>
        <p:spPr>
          <a:xfrm rot="5400000">
            <a:off x="5778985" y="-5780045"/>
            <a:ext cx="631552" cy="12194479"/>
          </a:xfrm>
          <a:prstGeom prst="rect">
            <a:avLst/>
          </a:prstGeom>
          <a:gradFill>
            <a:gsLst>
              <a:gs pos="0">
                <a:srgbClr val="10CC57"/>
              </a:gs>
              <a:gs pos="100000">
                <a:srgbClr val="017058"/>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 name="Google Shape;100;p41"/>
          <p:cNvSpPr/>
          <p:nvPr/>
        </p:nvSpPr>
        <p:spPr>
          <a:xfrm flipH="1" rot="-5400000">
            <a:off x="578022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1" name="Google Shape;101;p41"/>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FACULTY OF COMPUTER ENGINEERING</a:t>
            </a:r>
            <a:endParaRPr/>
          </a:p>
        </p:txBody>
      </p:sp>
      <p:grpSp>
        <p:nvGrpSpPr>
          <p:cNvPr id="102" name="Google Shape;102;p41"/>
          <p:cNvGrpSpPr/>
          <p:nvPr/>
        </p:nvGrpSpPr>
        <p:grpSpPr>
          <a:xfrm>
            <a:off x="4479985" y="241694"/>
            <a:ext cx="3232030" cy="768394"/>
            <a:chOff x="4280055" y="84406"/>
            <a:chExt cx="3631889" cy="863458"/>
          </a:xfrm>
        </p:grpSpPr>
        <p:sp>
          <p:nvSpPr>
            <p:cNvPr id="103" name="Google Shape;103;p41"/>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4" name="Google Shape;104;p41"/>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con&#10;&#10;Description automatically generated with medium confidence" id="105" name="Google Shape;105;p41"/>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106" name="Google Shape;106;p41"/>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107" name="Google Shape;107;p41"/>
          <p:cNvGrpSpPr/>
          <p:nvPr/>
        </p:nvGrpSpPr>
        <p:grpSpPr>
          <a:xfrm>
            <a:off x="11508226" y="6270255"/>
            <a:ext cx="546132" cy="546132"/>
            <a:chOff x="11082048" y="197383"/>
            <a:chExt cx="486579" cy="486579"/>
          </a:xfrm>
        </p:grpSpPr>
        <p:sp>
          <p:nvSpPr>
            <p:cNvPr id="108" name="Google Shape;108;p41"/>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9" name="Google Shape;109;p41"/>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10" name="Google Shape;110;p41"/>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200">
                <a:solidFill>
                  <a:schemeClr val="lt1"/>
                </a:solidFill>
                <a:latin typeface="Arial"/>
                <a:ea typeface="Arial"/>
                <a:cs typeface="Arial"/>
                <a:sym typeface="Arial"/>
              </a:defRPr>
            </a:lvl1pPr>
            <a:lvl2pPr indent="0" lvl="1" marL="0" algn="ctr">
              <a:spcBef>
                <a:spcPts val="0"/>
              </a:spcBef>
              <a:buNone/>
              <a:defRPr sz="1200">
                <a:solidFill>
                  <a:schemeClr val="lt1"/>
                </a:solidFill>
                <a:latin typeface="Arial"/>
                <a:ea typeface="Arial"/>
                <a:cs typeface="Arial"/>
                <a:sym typeface="Arial"/>
              </a:defRPr>
            </a:lvl2pPr>
            <a:lvl3pPr indent="0" lvl="2" marL="0" algn="ctr">
              <a:spcBef>
                <a:spcPts val="0"/>
              </a:spcBef>
              <a:buNone/>
              <a:defRPr sz="1200">
                <a:solidFill>
                  <a:schemeClr val="lt1"/>
                </a:solidFill>
                <a:latin typeface="Arial"/>
                <a:ea typeface="Arial"/>
                <a:cs typeface="Arial"/>
                <a:sym typeface="Arial"/>
              </a:defRPr>
            </a:lvl3pPr>
            <a:lvl4pPr indent="0" lvl="3" marL="0" algn="ctr">
              <a:spcBef>
                <a:spcPts val="0"/>
              </a:spcBef>
              <a:buNone/>
              <a:defRPr sz="1200">
                <a:solidFill>
                  <a:schemeClr val="lt1"/>
                </a:solidFill>
                <a:latin typeface="Arial"/>
                <a:ea typeface="Arial"/>
                <a:cs typeface="Arial"/>
                <a:sym typeface="Arial"/>
              </a:defRPr>
            </a:lvl4pPr>
            <a:lvl5pPr indent="0" lvl="4" marL="0" algn="ctr">
              <a:spcBef>
                <a:spcPts val="0"/>
              </a:spcBef>
              <a:buNone/>
              <a:defRPr sz="1200">
                <a:solidFill>
                  <a:schemeClr val="lt1"/>
                </a:solidFill>
                <a:latin typeface="Arial"/>
                <a:ea typeface="Arial"/>
                <a:cs typeface="Arial"/>
                <a:sym typeface="Arial"/>
              </a:defRPr>
            </a:lvl5pPr>
            <a:lvl6pPr indent="0" lvl="5" marL="0" algn="ctr">
              <a:spcBef>
                <a:spcPts val="0"/>
              </a:spcBef>
              <a:buNone/>
              <a:defRPr sz="1200">
                <a:solidFill>
                  <a:schemeClr val="lt1"/>
                </a:solidFill>
                <a:latin typeface="Arial"/>
                <a:ea typeface="Arial"/>
                <a:cs typeface="Arial"/>
                <a:sym typeface="Arial"/>
              </a:defRPr>
            </a:lvl6pPr>
            <a:lvl7pPr indent="0" lvl="6" marL="0" algn="ctr">
              <a:spcBef>
                <a:spcPts val="0"/>
              </a:spcBef>
              <a:buNone/>
              <a:defRPr sz="1200">
                <a:solidFill>
                  <a:schemeClr val="lt1"/>
                </a:solidFill>
                <a:latin typeface="Arial"/>
                <a:ea typeface="Arial"/>
                <a:cs typeface="Arial"/>
                <a:sym typeface="Arial"/>
              </a:defRPr>
            </a:lvl7pPr>
            <a:lvl8pPr indent="0" lvl="7" marL="0" algn="ctr">
              <a:spcBef>
                <a:spcPts val="0"/>
              </a:spcBef>
              <a:buNone/>
              <a:defRPr sz="1200">
                <a:solidFill>
                  <a:schemeClr val="lt1"/>
                </a:solidFill>
                <a:latin typeface="Arial"/>
                <a:ea typeface="Arial"/>
                <a:cs typeface="Arial"/>
                <a:sym typeface="Arial"/>
              </a:defRPr>
            </a:lvl8pPr>
            <a:lvl9pPr indent="0" lvl="8" marL="0" algn="ctr">
              <a:spcBef>
                <a:spcPts val="0"/>
              </a:spcBef>
              <a:buNone/>
              <a:defRPr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11" name="Google Shape;111;p41"/>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112" name="Shape 112"/>
        <p:cNvGrpSpPr/>
        <p:nvPr/>
      </p:nvGrpSpPr>
      <p:grpSpPr>
        <a:xfrm>
          <a:off x="0" y="0"/>
          <a:ext cx="0" cy="0"/>
          <a:chOff x="0" y="0"/>
          <a:chExt cx="0" cy="0"/>
        </a:xfrm>
      </p:grpSpPr>
      <p:sp>
        <p:nvSpPr>
          <p:cNvPr id="113" name="Google Shape;113;p42"/>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a:solidFill>
                  <a:srgbClr val="01705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42"/>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a:bodyPr>
          <a:lstStyle>
            <a:lvl1pPr indent="-406400" lvl="0" marL="457200" algn="l">
              <a:lnSpc>
                <a:spcPct val="130000"/>
              </a:lnSpc>
              <a:spcBef>
                <a:spcPts val="300"/>
              </a:spcBef>
              <a:spcAft>
                <a:spcPts val="0"/>
              </a:spcAft>
              <a:buClr>
                <a:schemeClr val="dk1"/>
              </a:buClr>
              <a:buSzPts val="2800"/>
              <a:buChar char="•"/>
              <a:defRPr/>
            </a:lvl1pPr>
            <a:lvl2pPr indent="-381000" lvl="1" marL="914400" algn="l">
              <a:lnSpc>
                <a:spcPct val="130000"/>
              </a:lnSpc>
              <a:spcBef>
                <a:spcPts val="300"/>
              </a:spcBef>
              <a:spcAft>
                <a:spcPts val="0"/>
              </a:spcAft>
              <a:buClr>
                <a:schemeClr val="dk1"/>
              </a:buClr>
              <a:buSzPts val="2400"/>
              <a:buChar char="•"/>
              <a:defRPr/>
            </a:lvl2pPr>
            <a:lvl3pPr indent="-355600" lvl="2" marL="1371600" algn="l">
              <a:lnSpc>
                <a:spcPct val="130000"/>
              </a:lnSpc>
              <a:spcBef>
                <a:spcPts val="300"/>
              </a:spcBef>
              <a:spcAft>
                <a:spcPts val="0"/>
              </a:spcAft>
              <a:buClr>
                <a:schemeClr val="dk1"/>
              </a:buClr>
              <a:buSzPts val="2000"/>
              <a:buChar char="•"/>
              <a:defRPr/>
            </a:lvl3pPr>
            <a:lvl4pPr indent="-342900" lvl="3" marL="1828800" algn="l">
              <a:lnSpc>
                <a:spcPct val="130000"/>
              </a:lnSpc>
              <a:spcBef>
                <a:spcPts val="300"/>
              </a:spcBef>
              <a:spcAft>
                <a:spcPts val="0"/>
              </a:spcAft>
              <a:buClr>
                <a:schemeClr val="dk1"/>
              </a:buClr>
              <a:buSzPts val="1800"/>
              <a:buChar char="•"/>
              <a:defRPr/>
            </a:lvl4pPr>
            <a:lvl5pPr indent="-342900" lvl="4" marL="2286000" algn="l">
              <a:lnSpc>
                <a:spcPct val="130000"/>
              </a:lnSpc>
              <a:spcBef>
                <a:spcPts val="3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42"/>
          <p:cNvSpPr txBox="1"/>
          <p:nvPr>
            <p:ph idx="10" type="dt"/>
          </p:nvPr>
        </p:nvSpPr>
        <p:spPr>
          <a:xfrm>
            <a:off x="103316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42"/>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42"/>
          <p:cNvSpPr/>
          <p:nvPr/>
        </p:nvSpPr>
        <p:spPr>
          <a:xfrm rot="5400000">
            <a:off x="5778985" y="-5780045"/>
            <a:ext cx="631552" cy="12194479"/>
          </a:xfrm>
          <a:prstGeom prst="rect">
            <a:avLst/>
          </a:prstGeom>
          <a:gradFill>
            <a:gsLst>
              <a:gs pos="0">
                <a:srgbClr val="10CC57"/>
              </a:gs>
              <a:gs pos="100000">
                <a:srgbClr val="017058"/>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 name="Google Shape;118;p42"/>
          <p:cNvSpPr/>
          <p:nvPr/>
        </p:nvSpPr>
        <p:spPr>
          <a:xfrm flipH="1" rot="-5400000">
            <a:off x="578022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 name="Google Shape;119;p42"/>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FACULTY OF COMPUTER ENGINEERING</a:t>
            </a:r>
            <a:endParaRPr/>
          </a:p>
        </p:txBody>
      </p:sp>
      <p:grpSp>
        <p:nvGrpSpPr>
          <p:cNvPr id="120" name="Google Shape;120;p42"/>
          <p:cNvGrpSpPr/>
          <p:nvPr/>
        </p:nvGrpSpPr>
        <p:grpSpPr>
          <a:xfrm>
            <a:off x="4479985" y="241694"/>
            <a:ext cx="3232030" cy="768394"/>
            <a:chOff x="4280055" y="84406"/>
            <a:chExt cx="3631889" cy="863458"/>
          </a:xfrm>
        </p:grpSpPr>
        <p:sp>
          <p:nvSpPr>
            <p:cNvPr id="121" name="Google Shape;121;p42"/>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2" name="Google Shape;122;p42"/>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con&#10;&#10;Description automatically generated with medium confidence" id="123" name="Google Shape;123;p42"/>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124" name="Google Shape;124;p42"/>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125" name="Google Shape;125;p42"/>
          <p:cNvGrpSpPr/>
          <p:nvPr/>
        </p:nvGrpSpPr>
        <p:grpSpPr>
          <a:xfrm>
            <a:off x="11508226" y="6270255"/>
            <a:ext cx="546132" cy="546132"/>
            <a:chOff x="11082048" y="197383"/>
            <a:chExt cx="486579" cy="486579"/>
          </a:xfrm>
        </p:grpSpPr>
        <p:sp>
          <p:nvSpPr>
            <p:cNvPr id="126" name="Google Shape;126;p42"/>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 name="Google Shape;127;p42"/>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28" name="Google Shape;128;p42"/>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200">
                <a:solidFill>
                  <a:schemeClr val="lt1"/>
                </a:solidFill>
                <a:latin typeface="Arial"/>
                <a:ea typeface="Arial"/>
                <a:cs typeface="Arial"/>
                <a:sym typeface="Arial"/>
              </a:defRPr>
            </a:lvl1pPr>
            <a:lvl2pPr indent="0" lvl="1" marL="0" algn="ctr">
              <a:spcBef>
                <a:spcPts val="0"/>
              </a:spcBef>
              <a:buNone/>
              <a:defRPr sz="1200">
                <a:solidFill>
                  <a:schemeClr val="lt1"/>
                </a:solidFill>
                <a:latin typeface="Arial"/>
                <a:ea typeface="Arial"/>
                <a:cs typeface="Arial"/>
                <a:sym typeface="Arial"/>
              </a:defRPr>
            </a:lvl2pPr>
            <a:lvl3pPr indent="0" lvl="2" marL="0" algn="ctr">
              <a:spcBef>
                <a:spcPts val="0"/>
              </a:spcBef>
              <a:buNone/>
              <a:defRPr sz="1200">
                <a:solidFill>
                  <a:schemeClr val="lt1"/>
                </a:solidFill>
                <a:latin typeface="Arial"/>
                <a:ea typeface="Arial"/>
                <a:cs typeface="Arial"/>
                <a:sym typeface="Arial"/>
              </a:defRPr>
            </a:lvl3pPr>
            <a:lvl4pPr indent="0" lvl="3" marL="0" algn="ctr">
              <a:spcBef>
                <a:spcPts val="0"/>
              </a:spcBef>
              <a:buNone/>
              <a:defRPr sz="1200">
                <a:solidFill>
                  <a:schemeClr val="lt1"/>
                </a:solidFill>
                <a:latin typeface="Arial"/>
                <a:ea typeface="Arial"/>
                <a:cs typeface="Arial"/>
                <a:sym typeface="Arial"/>
              </a:defRPr>
            </a:lvl4pPr>
            <a:lvl5pPr indent="0" lvl="4" marL="0" algn="ctr">
              <a:spcBef>
                <a:spcPts val="0"/>
              </a:spcBef>
              <a:buNone/>
              <a:defRPr sz="1200">
                <a:solidFill>
                  <a:schemeClr val="lt1"/>
                </a:solidFill>
                <a:latin typeface="Arial"/>
                <a:ea typeface="Arial"/>
                <a:cs typeface="Arial"/>
                <a:sym typeface="Arial"/>
              </a:defRPr>
            </a:lvl5pPr>
            <a:lvl6pPr indent="0" lvl="5" marL="0" algn="ctr">
              <a:spcBef>
                <a:spcPts val="0"/>
              </a:spcBef>
              <a:buNone/>
              <a:defRPr sz="1200">
                <a:solidFill>
                  <a:schemeClr val="lt1"/>
                </a:solidFill>
                <a:latin typeface="Arial"/>
                <a:ea typeface="Arial"/>
                <a:cs typeface="Arial"/>
                <a:sym typeface="Arial"/>
              </a:defRPr>
            </a:lvl6pPr>
            <a:lvl7pPr indent="0" lvl="6" marL="0" algn="ctr">
              <a:spcBef>
                <a:spcPts val="0"/>
              </a:spcBef>
              <a:buNone/>
              <a:defRPr sz="1200">
                <a:solidFill>
                  <a:schemeClr val="lt1"/>
                </a:solidFill>
                <a:latin typeface="Arial"/>
                <a:ea typeface="Arial"/>
                <a:cs typeface="Arial"/>
                <a:sym typeface="Arial"/>
              </a:defRPr>
            </a:lvl7pPr>
            <a:lvl8pPr indent="0" lvl="7" marL="0" algn="ctr">
              <a:spcBef>
                <a:spcPts val="0"/>
              </a:spcBef>
              <a:buNone/>
              <a:defRPr sz="1200">
                <a:solidFill>
                  <a:schemeClr val="lt1"/>
                </a:solidFill>
                <a:latin typeface="Arial"/>
                <a:ea typeface="Arial"/>
                <a:cs typeface="Arial"/>
                <a:sym typeface="Arial"/>
              </a:defRPr>
            </a:lvl8pPr>
            <a:lvl9pPr indent="0" lvl="8" marL="0" algn="ctr">
              <a:spcBef>
                <a:spcPts val="0"/>
              </a:spcBef>
              <a:buNone/>
              <a:defRPr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29" name="Google Shape;129;p42"/>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130" name="Shape 130"/>
        <p:cNvGrpSpPr/>
        <p:nvPr/>
      </p:nvGrpSpPr>
      <p:grpSpPr>
        <a:xfrm>
          <a:off x="0" y="0"/>
          <a:ext cx="0" cy="0"/>
          <a:chOff x="0" y="0"/>
          <a:chExt cx="0" cy="0"/>
        </a:xfrm>
      </p:grpSpPr>
      <p:sp>
        <p:nvSpPr>
          <p:cNvPr id="131" name="Google Shape;131;p43"/>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a:solidFill>
                  <a:srgbClr val="01705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43"/>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a:bodyPr>
          <a:lstStyle>
            <a:lvl1pPr indent="-406400" lvl="0" marL="457200" algn="l">
              <a:lnSpc>
                <a:spcPct val="130000"/>
              </a:lnSpc>
              <a:spcBef>
                <a:spcPts val="300"/>
              </a:spcBef>
              <a:spcAft>
                <a:spcPts val="0"/>
              </a:spcAft>
              <a:buClr>
                <a:schemeClr val="dk1"/>
              </a:buClr>
              <a:buSzPts val="2800"/>
              <a:buChar char="•"/>
              <a:defRPr/>
            </a:lvl1pPr>
            <a:lvl2pPr indent="-381000" lvl="1" marL="914400" algn="l">
              <a:lnSpc>
                <a:spcPct val="130000"/>
              </a:lnSpc>
              <a:spcBef>
                <a:spcPts val="300"/>
              </a:spcBef>
              <a:spcAft>
                <a:spcPts val="0"/>
              </a:spcAft>
              <a:buClr>
                <a:schemeClr val="dk1"/>
              </a:buClr>
              <a:buSzPts val="2400"/>
              <a:buChar char="•"/>
              <a:defRPr/>
            </a:lvl2pPr>
            <a:lvl3pPr indent="-355600" lvl="2" marL="1371600" algn="l">
              <a:lnSpc>
                <a:spcPct val="130000"/>
              </a:lnSpc>
              <a:spcBef>
                <a:spcPts val="300"/>
              </a:spcBef>
              <a:spcAft>
                <a:spcPts val="0"/>
              </a:spcAft>
              <a:buClr>
                <a:schemeClr val="dk1"/>
              </a:buClr>
              <a:buSzPts val="2000"/>
              <a:buChar char="•"/>
              <a:defRPr/>
            </a:lvl3pPr>
            <a:lvl4pPr indent="-342900" lvl="3" marL="1828800" algn="l">
              <a:lnSpc>
                <a:spcPct val="130000"/>
              </a:lnSpc>
              <a:spcBef>
                <a:spcPts val="300"/>
              </a:spcBef>
              <a:spcAft>
                <a:spcPts val="0"/>
              </a:spcAft>
              <a:buClr>
                <a:schemeClr val="dk1"/>
              </a:buClr>
              <a:buSzPts val="1800"/>
              <a:buChar char="•"/>
              <a:defRPr/>
            </a:lvl4pPr>
            <a:lvl5pPr indent="-342900" lvl="4" marL="2286000" algn="l">
              <a:lnSpc>
                <a:spcPct val="130000"/>
              </a:lnSpc>
              <a:spcBef>
                <a:spcPts val="3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43"/>
          <p:cNvSpPr txBox="1"/>
          <p:nvPr>
            <p:ph idx="10" type="dt"/>
          </p:nvPr>
        </p:nvSpPr>
        <p:spPr>
          <a:xfrm>
            <a:off x="1033164"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43"/>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43"/>
          <p:cNvSpPr/>
          <p:nvPr/>
        </p:nvSpPr>
        <p:spPr>
          <a:xfrm rot="5400000">
            <a:off x="5778985" y="-5780045"/>
            <a:ext cx="631552" cy="12194479"/>
          </a:xfrm>
          <a:prstGeom prst="rect">
            <a:avLst/>
          </a:prstGeom>
          <a:gradFill>
            <a:gsLst>
              <a:gs pos="0">
                <a:srgbClr val="10CC57"/>
              </a:gs>
              <a:gs pos="100000">
                <a:srgbClr val="017058"/>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6" name="Google Shape;136;p43"/>
          <p:cNvSpPr/>
          <p:nvPr/>
        </p:nvSpPr>
        <p:spPr>
          <a:xfrm flipH="1" rot="-5400000">
            <a:off x="578022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7" name="Google Shape;137;p43"/>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FACULTY OF COMPUTER ENGINEERING</a:t>
            </a:r>
            <a:endParaRPr/>
          </a:p>
        </p:txBody>
      </p:sp>
      <p:grpSp>
        <p:nvGrpSpPr>
          <p:cNvPr id="138" name="Google Shape;138;p43"/>
          <p:cNvGrpSpPr/>
          <p:nvPr/>
        </p:nvGrpSpPr>
        <p:grpSpPr>
          <a:xfrm>
            <a:off x="4479985" y="241694"/>
            <a:ext cx="3232030" cy="768394"/>
            <a:chOff x="4280055" y="84406"/>
            <a:chExt cx="3631889" cy="863458"/>
          </a:xfrm>
        </p:grpSpPr>
        <p:sp>
          <p:nvSpPr>
            <p:cNvPr id="139" name="Google Shape;139;p43"/>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0" name="Google Shape;140;p43"/>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con&#10;&#10;Description automatically generated with medium confidence" id="141" name="Google Shape;141;p43"/>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142" name="Google Shape;142;p43"/>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143" name="Google Shape;143;p43"/>
          <p:cNvGrpSpPr/>
          <p:nvPr/>
        </p:nvGrpSpPr>
        <p:grpSpPr>
          <a:xfrm>
            <a:off x="11508226" y="6270255"/>
            <a:ext cx="546132" cy="546132"/>
            <a:chOff x="11082048" y="197383"/>
            <a:chExt cx="486579" cy="486579"/>
          </a:xfrm>
        </p:grpSpPr>
        <p:sp>
          <p:nvSpPr>
            <p:cNvPr id="144" name="Google Shape;144;p43"/>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5" name="Google Shape;145;p43"/>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46" name="Google Shape;146;p43"/>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200">
                <a:solidFill>
                  <a:schemeClr val="lt1"/>
                </a:solidFill>
                <a:latin typeface="Arial"/>
                <a:ea typeface="Arial"/>
                <a:cs typeface="Arial"/>
                <a:sym typeface="Arial"/>
              </a:defRPr>
            </a:lvl1pPr>
            <a:lvl2pPr indent="0" lvl="1" marL="0" algn="ctr">
              <a:spcBef>
                <a:spcPts val="0"/>
              </a:spcBef>
              <a:buNone/>
              <a:defRPr sz="1200">
                <a:solidFill>
                  <a:schemeClr val="lt1"/>
                </a:solidFill>
                <a:latin typeface="Arial"/>
                <a:ea typeface="Arial"/>
                <a:cs typeface="Arial"/>
                <a:sym typeface="Arial"/>
              </a:defRPr>
            </a:lvl2pPr>
            <a:lvl3pPr indent="0" lvl="2" marL="0" algn="ctr">
              <a:spcBef>
                <a:spcPts val="0"/>
              </a:spcBef>
              <a:buNone/>
              <a:defRPr sz="1200">
                <a:solidFill>
                  <a:schemeClr val="lt1"/>
                </a:solidFill>
                <a:latin typeface="Arial"/>
                <a:ea typeface="Arial"/>
                <a:cs typeface="Arial"/>
                <a:sym typeface="Arial"/>
              </a:defRPr>
            </a:lvl3pPr>
            <a:lvl4pPr indent="0" lvl="3" marL="0" algn="ctr">
              <a:spcBef>
                <a:spcPts val="0"/>
              </a:spcBef>
              <a:buNone/>
              <a:defRPr sz="1200">
                <a:solidFill>
                  <a:schemeClr val="lt1"/>
                </a:solidFill>
                <a:latin typeface="Arial"/>
                <a:ea typeface="Arial"/>
                <a:cs typeface="Arial"/>
                <a:sym typeface="Arial"/>
              </a:defRPr>
            </a:lvl4pPr>
            <a:lvl5pPr indent="0" lvl="4" marL="0" algn="ctr">
              <a:spcBef>
                <a:spcPts val="0"/>
              </a:spcBef>
              <a:buNone/>
              <a:defRPr sz="1200">
                <a:solidFill>
                  <a:schemeClr val="lt1"/>
                </a:solidFill>
                <a:latin typeface="Arial"/>
                <a:ea typeface="Arial"/>
                <a:cs typeface="Arial"/>
                <a:sym typeface="Arial"/>
              </a:defRPr>
            </a:lvl5pPr>
            <a:lvl6pPr indent="0" lvl="5" marL="0" algn="ctr">
              <a:spcBef>
                <a:spcPts val="0"/>
              </a:spcBef>
              <a:buNone/>
              <a:defRPr sz="1200">
                <a:solidFill>
                  <a:schemeClr val="lt1"/>
                </a:solidFill>
                <a:latin typeface="Arial"/>
                <a:ea typeface="Arial"/>
                <a:cs typeface="Arial"/>
                <a:sym typeface="Arial"/>
              </a:defRPr>
            </a:lvl6pPr>
            <a:lvl7pPr indent="0" lvl="6" marL="0" algn="ctr">
              <a:spcBef>
                <a:spcPts val="0"/>
              </a:spcBef>
              <a:buNone/>
              <a:defRPr sz="1200">
                <a:solidFill>
                  <a:schemeClr val="lt1"/>
                </a:solidFill>
                <a:latin typeface="Arial"/>
                <a:ea typeface="Arial"/>
                <a:cs typeface="Arial"/>
                <a:sym typeface="Arial"/>
              </a:defRPr>
            </a:lvl7pPr>
            <a:lvl8pPr indent="0" lvl="7" marL="0" algn="ctr">
              <a:spcBef>
                <a:spcPts val="0"/>
              </a:spcBef>
              <a:buNone/>
              <a:defRPr sz="1200">
                <a:solidFill>
                  <a:schemeClr val="lt1"/>
                </a:solidFill>
                <a:latin typeface="Arial"/>
                <a:ea typeface="Arial"/>
                <a:cs typeface="Arial"/>
                <a:sym typeface="Arial"/>
              </a:defRPr>
            </a:lvl8pPr>
            <a:lvl9pPr indent="0" lvl="8" marL="0" algn="ctr">
              <a:spcBef>
                <a:spcPts val="0"/>
              </a:spcBef>
              <a:buNone/>
              <a:defRPr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47" name="Google Shape;147;p43"/>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8" name="Shape 148"/>
        <p:cNvGrpSpPr/>
        <p:nvPr/>
      </p:nvGrpSpPr>
      <p:grpSpPr>
        <a:xfrm>
          <a:off x="0" y="0"/>
          <a:ext cx="0" cy="0"/>
          <a:chOff x="0" y="0"/>
          <a:chExt cx="0" cy="0"/>
        </a:xfrm>
      </p:grpSpPr>
      <p:sp>
        <p:nvSpPr>
          <p:cNvPr id="149" name="Google Shape;149;p44"/>
          <p:cNvSpPr txBox="1"/>
          <p:nvPr>
            <p:ph type="title"/>
          </p:nvPr>
        </p:nvSpPr>
        <p:spPr>
          <a:xfrm>
            <a:off x="606000" y="898975"/>
            <a:ext cx="10980000" cy="84123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sz="4400">
                <a:solidFill>
                  <a:srgbClr val="017058"/>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44"/>
          <p:cNvSpPr txBox="1"/>
          <p:nvPr>
            <p:ph idx="1" type="body"/>
          </p:nvPr>
        </p:nvSpPr>
        <p:spPr>
          <a:xfrm>
            <a:off x="616856" y="2006210"/>
            <a:ext cx="5310000" cy="417075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44"/>
          <p:cNvSpPr txBox="1"/>
          <p:nvPr>
            <p:ph idx="2" type="body"/>
          </p:nvPr>
        </p:nvSpPr>
        <p:spPr>
          <a:xfrm>
            <a:off x="6276000" y="2006210"/>
            <a:ext cx="5310000" cy="417075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44"/>
          <p:cNvSpPr/>
          <p:nvPr/>
        </p:nvSpPr>
        <p:spPr>
          <a:xfrm rot="5400000">
            <a:off x="5778985" y="-5780045"/>
            <a:ext cx="631552" cy="12194479"/>
          </a:xfrm>
          <a:prstGeom prst="rect">
            <a:avLst/>
          </a:prstGeom>
          <a:gradFill>
            <a:gsLst>
              <a:gs pos="0">
                <a:srgbClr val="38EF7D"/>
              </a:gs>
              <a:gs pos="100000">
                <a:srgbClr val="11998E"/>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5" name="Google Shape;155;p44"/>
          <p:cNvSpPr/>
          <p:nvPr/>
        </p:nvSpPr>
        <p:spPr>
          <a:xfrm flipH="1" rot="-5400000">
            <a:off x="577898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6" name="Google Shape;156;p44"/>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FACULTY OF COMPUTER ENGINEERING</a:t>
            </a:r>
            <a:endParaRPr/>
          </a:p>
        </p:txBody>
      </p:sp>
      <p:grpSp>
        <p:nvGrpSpPr>
          <p:cNvPr id="157" name="Google Shape;157;p44"/>
          <p:cNvGrpSpPr/>
          <p:nvPr/>
        </p:nvGrpSpPr>
        <p:grpSpPr>
          <a:xfrm>
            <a:off x="4479985" y="241694"/>
            <a:ext cx="3232030" cy="768394"/>
            <a:chOff x="4280055" y="84406"/>
            <a:chExt cx="3631889" cy="863458"/>
          </a:xfrm>
        </p:grpSpPr>
        <p:sp>
          <p:nvSpPr>
            <p:cNvPr id="158" name="Google Shape;158;p44"/>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9" name="Google Shape;159;p44"/>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con&#10;&#10;Description automatically generated with medium confidence" id="160" name="Google Shape;160;p44"/>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161" name="Google Shape;161;p44"/>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162" name="Google Shape;162;p44"/>
          <p:cNvGrpSpPr/>
          <p:nvPr/>
        </p:nvGrpSpPr>
        <p:grpSpPr>
          <a:xfrm>
            <a:off x="11508226" y="6270255"/>
            <a:ext cx="546132" cy="546132"/>
            <a:chOff x="11082048" y="197383"/>
            <a:chExt cx="486579" cy="486579"/>
          </a:xfrm>
        </p:grpSpPr>
        <p:sp>
          <p:nvSpPr>
            <p:cNvPr id="163" name="Google Shape;163;p44"/>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4" name="Google Shape;164;p44"/>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65" name="Google Shape;165;p44"/>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6" name="Google Shape;166;p44"/>
          <p:cNvSpPr txBox="1"/>
          <p:nvPr>
            <p:ph idx="12" type="sldNum"/>
          </p:nvPr>
        </p:nvSpPr>
        <p:spPr>
          <a:xfrm>
            <a:off x="10409692" y="6356350"/>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sz="1200">
                <a:solidFill>
                  <a:schemeClr val="lt1"/>
                </a:solidFill>
                <a:latin typeface="Arial"/>
                <a:ea typeface="Arial"/>
                <a:cs typeface="Arial"/>
                <a:sym typeface="Arial"/>
              </a:defRPr>
            </a:lvl1pPr>
            <a:lvl2pPr indent="0" lvl="1" marL="0" algn="ctr">
              <a:spcBef>
                <a:spcPts val="0"/>
              </a:spcBef>
              <a:buNone/>
              <a:defRPr b="1" sz="1200">
                <a:solidFill>
                  <a:schemeClr val="lt1"/>
                </a:solidFill>
                <a:latin typeface="Arial"/>
                <a:ea typeface="Arial"/>
                <a:cs typeface="Arial"/>
                <a:sym typeface="Arial"/>
              </a:defRPr>
            </a:lvl2pPr>
            <a:lvl3pPr indent="0" lvl="2" marL="0" algn="ctr">
              <a:spcBef>
                <a:spcPts val="0"/>
              </a:spcBef>
              <a:buNone/>
              <a:defRPr b="1" sz="1200">
                <a:solidFill>
                  <a:schemeClr val="lt1"/>
                </a:solidFill>
                <a:latin typeface="Arial"/>
                <a:ea typeface="Arial"/>
                <a:cs typeface="Arial"/>
                <a:sym typeface="Arial"/>
              </a:defRPr>
            </a:lvl3pPr>
            <a:lvl4pPr indent="0" lvl="3" marL="0" algn="ctr">
              <a:spcBef>
                <a:spcPts val="0"/>
              </a:spcBef>
              <a:buNone/>
              <a:defRPr b="1" sz="1200">
                <a:solidFill>
                  <a:schemeClr val="lt1"/>
                </a:solidFill>
                <a:latin typeface="Arial"/>
                <a:ea typeface="Arial"/>
                <a:cs typeface="Arial"/>
                <a:sym typeface="Arial"/>
              </a:defRPr>
            </a:lvl4pPr>
            <a:lvl5pPr indent="0" lvl="4" marL="0" algn="ctr">
              <a:spcBef>
                <a:spcPts val="0"/>
              </a:spcBef>
              <a:buNone/>
              <a:defRPr b="1" sz="1200">
                <a:solidFill>
                  <a:schemeClr val="lt1"/>
                </a:solidFill>
                <a:latin typeface="Arial"/>
                <a:ea typeface="Arial"/>
                <a:cs typeface="Arial"/>
                <a:sym typeface="Arial"/>
              </a:defRPr>
            </a:lvl5pPr>
            <a:lvl6pPr indent="0" lvl="5" marL="0" algn="ctr">
              <a:spcBef>
                <a:spcPts val="0"/>
              </a:spcBef>
              <a:buNone/>
              <a:defRPr b="1" sz="1200">
                <a:solidFill>
                  <a:schemeClr val="lt1"/>
                </a:solidFill>
                <a:latin typeface="Arial"/>
                <a:ea typeface="Arial"/>
                <a:cs typeface="Arial"/>
                <a:sym typeface="Arial"/>
              </a:defRPr>
            </a:lvl6pPr>
            <a:lvl7pPr indent="0" lvl="6" marL="0" algn="ctr">
              <a:spcBef>
                <a:spcPts val="0"/>
              </a:spcBef>
              <a:buNone/>
              <a:defRPr b="1" sz="1200">
                <a:solidFill>
                  <a:schemeClr val="lt1"/>
                </a:solidFill>
                <a:latin typeface="Arial"/>
                <a:ea typeface="Arial"/>
                <a:cs typeface="Arial"/>
                <a:sym typeface="Arial"/>
              </a:defRPr>
            </a:lvl7pPr>
            <a:lvl8pPr indent="0" lvl="7" marL="0" algn="ctr">
              <a:spcBef>
                <a:spcPts val="0"/>
              </a:spcBef>
              <a:buNone/>
              <a:defRPr b="1" sz="1200">
                <a:solidFill>
                  <a:schemeClr val="lt1"/>
                </a:solidFill>
                <a:latin typeface="Arial"/>
                <a:ea typeface="Arial"/>
                <a:cs typeface="Arial"/>
                <a:sym typeface="Arial"/>
              </a:defRPr>
            </a:lvl8pPr>
            <a:lvl9pPr indent="0" lvl="8" marL="0" algn="ctr">
              <a:spcBef>
                <a:spcPts val="0"/>
              </a:spcBef>
              <a:buNone/>
              <a:defRPr b="1"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7" name="Shape 167"/>
        <p:cNvGrpSpPr/>
        <p:nvPr/>
      </p:nvGrpSpPr>
      <p:grpSpPr>
        <a:xfrm>
          <a:off x="0" y="0"/>
          <a:ext cx="0" cy="0"/>
          <a:chOff x="0" y="0"/>
          <a:chExt cx="0" cy="0"/>
        </a:xfrm>
      </p:grpSpPr>
      <p:sp>
        <p:nvSpPr>
          <p:cNvPr id="168" name="Google Shape;168;p45"/>
          <p:cNvSpPr txBox="1"/>
          <p:nvPr>
            <p:ph type="title"/>
          </p:nvPr>
        </p:nvSpPr>
        <p:spPr>
          <a:xfrm>
            <a:off x="606000" y="891895"/>
            <a:ext cx="10980000" cy="9892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sz="4400">
                <a:solidFill>
                  <a:srgbClr val="017058"/>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9" name="Google Shape;169;p45"/>
          <p:cNvSpPr txBox="1"/>
          <p:nvPr>
            <p:ph idx="1" type="body"/>
          </p:nvPr>
        </p:nvSpPr>
        <p:spPr>
          <a:xfrm>
            <a:off x="606001" y="1992588"/>
            <a:ext cx="5310000" cy="64303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accent6"/>
              </a:buClr>
              <a:buSzPts val="2400"/>
              <a:buNone/>
              <a:defRPr b="1" sz="2400">
                <a:solidFill>
                  <a:schemeClr val="accent6"/>
                </a:solidFil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0" name="Google Shape;170;p45"/>
          <p:cNvSpPr txBox="1"/>
          <p:nvPr>
            <p:ph idx="2" type="body"/>
          </p:nvPr>
        </p:nvSpPr>
        <p:spPr>
          <a:xfrm>
            <a:off x="606001" y="2747028"/>
            <a:ext cx="5310000" cy="344263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45"/>
          <p:cNvSpPr txBox="1"/>
          <p:nvPr>
            <p:ph idx="3" type="body"/>
          </p:nvPr>
        </p:nvSpPr>
        <p:spPr>
          <a:xfrm>
            <a:off x="6276000" y="1992588"/>
            <a:ext cx="5310000" cy="64303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accent6"/>
              </a:buClr>
              <a:buSzPts val="2400"/>
              <a:buNone/>
              <a:defRPr b="1" sz="2400">
                <a:solidFill>
                  <a:schemeClr val="accent6"/>
                </a:solidFill>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2" name="Google Shape;172;p45"/>
          <p:cNvSpPr txBox="1"/>
          <p:nvPr>
            <p:ph idx="4" type="body"/>
          </p:nvPr>
        </p:nvSpPr>
        <p:spPr>
          <a:xfrm>
            <a:off x="6276000" y="2747028"/>
            <a:ext cx="5310000" cy="344263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 name="Google Shape;173;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45"/>
          <p:cNvSpPr/>
          <p:nvPr/>
        </p:nvSpPr>
        <p:spPr>
          <a:xfrm rot="5400000">
            <a:off x="5778985" y="-5780045"/>
            <a:ext cx="631552" cy="12194479"/>
          </a:xfrm>
          <a:prstGeom prst="rect">
            <a:avLst/>
          </a:prstGeom>
          <a:gradFill>
            <a:gsLst>
              <a:gs pos="0">
                <a:srgbClr val="38EF7D"/>
              </a:gs>
              <a:gs pos="100000">
                <a:srgbClr val="11998E"/>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6" name="Google Shape;176;p45"/>
          <p:cNvSpPr/>
          <p:nvPr/>
        </p:nvSpPr>
        <p:spPr>
          <a:xfrm flipH="1" rot="-5400000">
            <a:off x="577898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7" name="Google Shape;177;p45"/>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FACULTY OF COMPUTER ENGINEERING</a:t>
            </a:r>
            <a:endParaRPr/>
          </a:p>
        </p:txBody>
      </p:sp>
      <p:grpSp>
        <p:nvGrpSpPr>
          <p:cNvPr id="178" name="Google Shape;178;p45"/>
          <p:cNvGrpSpPr/>
          <p:nvPr/>
        </p:nvGrpSpPr>
        <p:grpSpPr>
          <a:xfrm>
            <a:off x="4479985" y="241694"/>
            <a:ext cx="3232030" cy="768394"/>
            <a:chOff x="4280055" y="84406"/>
            <a:chExt cx="3631889" cy="863458"/>
          </a:xfrm>
        </p:grpSpPr>
        <p:sp>
          <p:nvSpPr>
            <p:cNvPr id="179" name="Google Shape;179;p45"/>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0" name="Google Shape;180;p45"/>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con&#10;&#10;Description automatically generated with medium confidence" id="181" name="Google Shape;181;p45"/>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182" name="Google Shape;182;p45"/>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183" name="Google Shape;183;p45"/>
          <p:cNvGrpSpPr/>
          <p:nvPr/>
        </p:nvGrpSpPr>
        <p:grpSpPr>
          <a:xfrm>
            <a:off x="11508226" y="6270255"/>
            <a:ext cx="546132" cy="546132"/>
            <a:chOff x="11082048" y="197383"/>
            <a:chExt cx="486579" cy="486579"/>
          </a:xfrm>
        </p:grpSpPr>
        <p:sp>
          <p:nvSpPr>
            <p:cNvPr id="184" name="Google Shape;184;p45"/>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5" name="Google Shape;185;p45"/>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186" name="Google Shape;186;p45"/>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7" name="Google Shape;187;p45"/>
          <p:cNvSpPr txBox="1"/>
          <p:nvPr>
            <p:ph idx="12" type="sldNum"/>
          </p:nvPr>
        </p:nvSpPr>
        <p:spPr>
          <a:xfrm>
            <a:off x="10409692" y="6356350"/>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sz="1200">
                <a:solidFill>
                  <a:schemeClr val="lt1"/>
                </a:solidFill>
                <a:latin typeface="Arial"/>
                <a:ea typeface="Arial"/>
                <a:cs typeface="Arial"/>
                <a:sym typeface="Arial"/>
              </a:defRPr>
            </a:lvl1pPr>
            <a:lvl2pPr indent="0" lvl="1" marL="0" algn="ctr">
              <a:spcBef>
                <a:spcPts val="0"/>
              </a:spcBef>
              <a:buNone/>
              <a:defRPr b="1" sz="1200">
                <a:solidFill>
                  <a:schemeClr val="lt1"/>
                </a:solidFill>
                <a:latin typeface="Arial"/>
                <a:ea typeface="Arial"/>
                <a:cs typeface="Arial"/>
                <a:sym typeface="Arial"/>
              </a:defRPr>
            </a:lvl2pPr>
            <a:lvl3pPr indent="0" lvl="2" marL="0" algn="ctr">
              <a:spcBef>
                <a:spcPts val="0"/>
              </a:spcBef>
              <a:buNone/>
              <a:defRPr b="1" sz="1200">
                <a:solidFill>
                  <a:schemeClr val="lt1"/>
                </a:solidFill>
                <a:latin typeface="Arial"/>
                <a:ea typeface="Arial"/>
                <a:cs typeface="Arial"/>
                <a:sym typeface="Arial"/>
              </a:defRPr>
            </a:lvl3pPr>
            <a:lvl4pPr indent="0" lvl="3" marL="0" algn="ctr">
              <a:spcBef>
                <a:spcPts val="0"/>
              </a:spcBef>
              <a:buNone/>
              <a:defRPr b="1" sz="1200">
                <a:solidFill>
                  <a:schemeClr val="lt1"/>
                </a:solidFill>
                <a:latin typeface="Arial"/>
                <a:ea typeface="Arial"/>
                <a:cs typeface="Arial"/>
                <a:sym typeface="Arial"/>
              </a:defRPr>
            </a:lvl4pPr>
            <a:lvl5pPr indent="0" lvl="4" marL="0" algn="ctr">
              <a:spcBef>
                <a:spcPts val="0"/>
              </a:spcBef>
              <a:buNone/>
              <a:defRPr b="1" sz="1200">
                <a:solidFill>
                  <a:schemeClr val="lt1"/>
                </a:solidFill>
                <a:latin typeface="Arial"/>
                <a:ea typeface="Arial"/>
                <a:cs typeface="Arial"/>
                <a:sym typeface="Arial"/>
              </a:defRPr>
            </a:lvl5pPr>
            <a:lvl6pPr indent="0" lvl="5" marL="0" algn="ctr">
              <a:spcBef>
                <a:spcPts val="0"/>
              </a:spcBef>
              <a:buNone/>
              <a:defRPr b="1" sz="1200">
                <a:solidFill>
                  <a:schemeClr val="lt1"/>
                </a:solidFill>
                <a:latin typeface="Arial"/>
                <a:ea typeface="Arial"/>
                <a:cs typeface="Arial"/>
                <a:sym typeface="Arial"/>
              </a:defRPr>
            </a:lvl6pPr>
            <a:lvl7pPr indent="0" lvl="6" marL="0" algn="ctr">
              <a:spcBef>
                <a:spcPts val="0"/>
              </a:spcBef>
              <a:buNone/>
              <a:defRPr b="1" sz="1200">
                <a:solidFill>
                  <a:schemeClr val="lt1"/>
                </a:solidFill>
                <a:latin typeface="Arial"/>
                <a:ea typeface="Arial"/>
                <a:cs typeface="Arial"/>
                <a:sym typeface="Arial"/>
              </a:defRPr>
            </a:lvl7pPr>
            <a:lvl8pPr indent="0" lvl="7" marL="0" algn="ctr">
              <a:spcBef>
                <a:spcPts val="0"/>
              </a:spcBef>
              <a:buNone/>
              <a:defRPr b="1" sz="1200">
                <a:solidFill>
                  <a:schemeClr val="lt1"/>
                </a:solidFill>
                <a:latin typeface="Arial"/>
                <a:ea typeface="Arial"/>
                <a:cs typeface="Arial"/>
                <a:sym typeface="Arial"/>
              </a:defRPr>
            </a:lvl8pPr>
            <a:lvl9pPr indent="0" lvl="8" marL="0" algn="ctr">
              <a:spcBef>
                <a:spcPts val="0"/>
              </a:spcBef>
              <a:buNone/>
              <a:defRPr b="1"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8" name="Shape 188"/>
        <p:cNvGrpSpPr/>
        <p:nvPr/>
      </p:nvGrpSpPr>
      <p:grpSpPr>
        <a:xfrm>
          <a:off x="0" y="0"/>
          <a:ext cx="0" cy="0"/>
          <a:chOff x="0" y="0"/>
          <a:chExt cx="0" cy="0"/>
        </a:xfrm>
      </p:grpSpPr>
      <p:sp>
        <p:nvSpPr>
          <p:cNvPr id="189" name="Google Shape;189;p46"/>
          <p:cNvSpPr txBox="1"/>
          <p:nvPr>
            <p:ph type="title"/>
          </p:nvPr>
        </p:nvSpPr>
        <p:spPr>
          <a:xfrm>
            <a:off x="606000" y="977990"/>
            <a:ext cx="10980000" cy="986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sz="4400">
                <a:solidFill>
                  <a:srgbClr val="017058"/>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46"/>
          <p:cNvSpPr/>
          <p:nvPr/>
        </p:nvSpPr>
        <p:spPr>
          <a:xfrm rot="5400000">
            <a:off x="5778985" y="-5780045"/>
            <a:ext cx="631552" cy="12194479"/>
          </a:xfrm>
          <a:prstGeom prst="rect">
            <a:avLst/>
          </a:prstGeom>
          <a:gradFill>
            <a:gsLst>
              <a:gs pos="0">
                <a:srgbClr val="38EF7D"/>
              </a:gs>
              <a:gs pos="100000">
                <a:srgbClr val="11998E"/>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3" name="Google Shape;193;p46"/>
          <p:cNvSpPr/>
          <p:nvPr/>
        </p:nvSpPr>
        <p:spPr>
          <a:xfrm flipH="1" rot="-5400000">
            <a:off x="577898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4" name="Google Shape;194;p46"/>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FACULTY OF COMPUTER ENGINEERING</a:t>
            </a:r>
            <a:endParaRPr/>
          </a:p>
        </p:txBody>
      </p:sp>
      <p:grpSp>
        <p:nvGrpSpPr>
          <p:cNvPr id="195" name="Google Shape;195;p46"/>
          <p:cNvGrpSpPr/>
          <p:nvPr/>
        </p:nvGrpSpPr>
        <p:grpSpPr>
          <a:xfrm>
            <a:off x="4479985" y="241694"/>
            <a:ext cx="3232030" cy="768394"/>
            <a:chOff x="4280055" y="84406"/>
            <a:chExt cx="3631889" cy="863458"/>
          </a:xfrm>
        </p:grpSpPr>
        <p:sp>
          <p:nvSpPr>
            <p:cNvPr id="196" name="Google Shape;196;p46"/>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7" name="Google Shape;197;p46"/>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con&#10;&#10;Description automatically generated with medium confidence" id="198" name="Google Shape;198;p46"/>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199" name="Google Shape;199;p46"/>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200" name="Google Shape;200;p46"/>
          <p:cNvGrpSpPr/>
          <p:nvPr/>
        </p:nvGrpSpPr>
        <p:grpSpPr>
          <a:xfrm>
            <a:off x="11508226" y="6270255"/>
            <a:ext cx="546132" cy="546132"/>
            <a:chOff x="11082048" y="197383"/>
            <a:chExt cx="486579" cy="486579"/>
          </a:xfrm>
        </p:grpSpPr>
        <p:sp>
          <p:nvSpPr>
            <p:cNvPr id="201" name="Google Shape;201;p46"/>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2" name="Google Shape;202;p46"/>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203" name="Google Shape;203;p46"/>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4" name="Google Shape;204;p46"/>
          <p:cNvSpPr txBox="1"/>
          <p:nvPr>
            <p:ph idx="12" type="sldNum"/>
          </p:nvPr>
        </p:nvSpPr>
        <p:spPr>
          <a:xfrm>
            <a:off x="10409692" y="6356350"/>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sz="1200">
                <a:solidFill>
                  <a:schemeClr val="lt1"/>
                </a:solidFill>
                <a:latin typeface="Arial"/>
                <a:ea typeface="Arial"/>
                <a:cs typeface="Arial"/>
                <a:sym typeface="Arial"/>
              </a:defRPr>
            </a:lvl1pPr>
            <a:lvl2pPr indent="0" lvl="1" marL="0" algn="ctr">
              <a:spcBef>
                <a:spcPts val="0"/>
              </a:spcBef>
              <a:buNone/>
              <a:defRPr b="1" sz="1200">
                <a:solidFill>
                  <a:schemeClr val="lt1"/>
                </a:solidFill>
                <a:latin typeface="Arial"/>
                <a:ea typeface="Arial"/>
                <a:cs typeface="Arial"/>
                <a:sym typeface="Arial"/>
              </a:defRPr>
            </a:lvl2pPr>
            <a:lvl3pPr indent="0" lvl="2" marL="0" algn="ctr">
              <a:spcBef>
                <a:spcPts val="0"/>
              </a:spcBef>
              <a:buNone/>
              <a:defRPr b="1" sz="1200">
                <a:solidFill>
                  <a:schemeClr val="lt1"/>
                </a:solidFill>
                <a:latin typeface="Arial"/>
                <a:ea typeface="Arial"/>
                <a:cs typeface="Arial"/>
                <a:sym typeface="Arial"/>
              </a:defRPr>
            </a:lvl3pPr>
            <a:lvl4pPr indent="0" lvl="3" marL="0" algn="ctr">
              <a:spcBef>
                <a:spcPts val="0"/>
              </a:spcBef>
              <a:buNone/>
              <a:defRPr b="1" sz="1200">
                <a:solidFill>
                  <a:schemeClr val="lt1"/>
                </a:solidFill>
                <a:latin typeface="Arial"/>
                <a:ea typeface="Arial"/>
                <a:cs typeface="Arial"/>
                <a:sym typeface="Arial"/>
              </a:defRPr>
            </a:lvl4pPr>
            <a:lvl5pPr indent="0" lvl="4" marL="0" algn="ctr">
              <a:spcBef>
                <a:spcPts val="0"/>
              </a:spcBef>
              <a:buNone/>
              <a:defRPr b="1" sz="1200">
                <a:solidFill>
                  <a:schemeClr val="lt1"/>
                </a:solidFill>
                <a:latin typeface="Arial"/>
                <a:ea typeface="Arial"/>
                <a:cs typeface="Arial"/>
                <a:sym typeface="Arial"/>
              </a:defRPr>
            </a:lvl5pPr>
            <a:lvl6pPr indent="0" lvl="5" marL="0" algn="ctr">
              <a:spcBef>
                <a:spcPts val="0"/>
              </a:spcBef>
              <a:buNone/>
              <a:defRPr b="1" sz="1200">
                <a:solidFill>
                  <a:schemeClr val="lt1"/>
                </a:solidFill>
                <a:latin typeface="Arial"/>
                <a:ea typeface="Arial"/>
                <a:cs typeface="Arial"/>
                <a:sym typeface="Arial"/>
              </a:defRPr>
            </a:lvl6pPr>
            <a:lvl7pPr indent="0" lvl="6" marL="0" algn="ctr">
              <a:spcBef>
                <a:spcPts val="0"/>
              </a:spcBef>
              <a:buNone/>
              <a:defRPr b="1" sz="1200">
                <a:solidFill>
                  <a:schemeClr val="lt1"/>
                </a:solidFill>
                <a:latin typeface="Arial"/>
                <a:ea typeface="Arial"/>
                <a:cs typeface="Arial"/>
                <a:sym typeface="Arial"/>
              </a:defRPr>
            </a:lvl7pPr>
            <a:lvl8pPr indent="0" lvl="7" marL="0" algn="ctr">
              <a:spcBef>
                <a:spcPts val="0"/>
              </a:spcBef>
              <a:buNone/>
              <a:defRPr b="1" sz="1200">
                <a:solidFill>
                  <a:schemeClr val="lt1"/>
                </a:solidFill>
                <a:latin typeface="Arial"/>
                <a:ea typeface="Arial"/>
                <a:cs typeface="Arial"/>
                <a:sym typeface="Arial"/>
              </a:defRPr>
            </a:lvl8pPr>
            <a:lvl9pPr indent="0" lvl="8" marL="0" algn="ctr">
              <a:spcBef>
                <a:spcPts val="0"/>
              </a:spcBef>
              <a:buNone/>
              <a:defRPr b="1"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5" name="Shape 205"/>
        <p:cNvGrpSpPr/>
        <p:nvPr/>
      </p:nvGrpSpPr>
      <p:grpSpPr>
        <a:xfrm>
          <a:off x="0" y="0"/>
          <a:ext cx="0" cy="0"/>
          <a:chOff x="0" y="0"/>
          <a:chExt cx="0" cy="0"/>
        </a:xfrm>
      </p:grpSpPr>
      <p:sp>
        <p:nvSpPr>
          <p:cNvPr id="206" name="Google Shape;206;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p:cSld name="2_Blank">
    <p:spTree>
      <p:nvGrpSpPr>
        <p:cNvPr id="209" name="Shape 209"/>
        <p:cNvGrpSpPr/>
        <p:nvPr/>
      </p:nvGrpSpPr>
      <p:grpSpPr>
        <a:xfrm>
          <a:off x="0" y="0"/>
          <a:ext cx="0" cy="0"/>
          <a:chOff x="0" y="0"/>
          <a:chExt cx="0" cy="0"/>
        </a:xfrm>
      </p:grpSpPr>
      <p:sp>
        <p:nvSpPr>
          <p:cNvPr id="210" name="Google Shape;210;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 name="Google Shape;212;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213" name="Shape 213"/>
        <p:cNvGrpSpPr/>
        <p:nvPr/>
      </p:nvGrpSpPr>
      <p:grpSpPr>
        <a:xfrm>
          <a:off x="0" y="0"/>
          <a:ext cx="0" cy="0"/>
          <a:chOff x="0" y="0"/>
          <a:chExt cx="0" cy="0"/>
        </a:xfrm>
      </p:grpSpPr>
      <p:sp>
        <p:nvSpPr>
          <p:cNvPr id="214" name="Google Shape;214;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7" name="Shape 217"/>
        <p:cNvGrpSpPr/>
        <p:nvPr/>
      </p:nvGrpSpPr>
      <p:grpSpPr>
        <a:xfrm>
          <a:off x="0" y="0"/>
          <a:ext cx="0" cy="0"/>
          <a:chOff x="0" y="0"/>
          <a:chExt cx="0" cy="0"/>
        </a:xfrm>
      </p:grpSpPr>
      <p:sp>
        <p:nvSpPr>
          <p:cNvPr id="218" name="Google Shape;218;p50"/>
          <p:cNvSpPr txBox="1"/>
          <p:nvPr>
            <p:ph type="title"/>
          </p:nvPr>
        </p:nvSpPr>
        <p:spPr>
          <a:xfrm>
            <a:off x="657226" y="1248198"/>
            <a:ext cx="4114799" cy="139958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17058"/>
              </a:buClr>
              <a:buSzPts val="4000"/>
              <a:buFont typeface="Times New Roman"/>
              <a:buNone/>
              <a:defRPr b="1" sz="4000">
                <a:solidFill>
                  <a:srgbClr val="017058"/>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50"/>
          <p:cNvSpPr txBox="1"/>
          <p:nvPr>
            <p:ph idx="1" type="body"/>
          </p:nvPr>
        </p:nvSpPr>
        <p:spPr>
          <a:xfrm>
            <a:off x="5183188" y="1247490"/>
            <a:ext cx="6325038" cy="4788557"/>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20" name="Google Shape;220;p50"/>
          <p:cNvSpPr txBox="1"/>
          <p:nvPr>
            <p:ph idx="2" type="body"/>
          </p:nvPr>
        </p:nvSpPr>
        <p:spPr>
          <a:xfrm>
            <a:off x="657226" y="2777068"/>
            <a:ext cx="4114799" cy="32669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21" name="Google Shape;221;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50"/>
          <p:cNvSpPr/>
          <p:nvPr/>
        </p:nvSpPr>
        <p:spPr>
          <a:xfrm rot="5400000">
            <a:off x="5778985" y="-5780045"/>
            <a:ext cx="631552" cy="12194479"/>
          </a:xfrm>
          <a:prstGeom prst="rect">
            <a:avLst/>
          </a:prstGeom>
          <a:gradFill>
            <a:gsLst>
              <a:gs pos="0">
                <a:srgbClr val="38EF7D"/>
              </a:gs>
              <a:gs pos="100000">
                <a:srgbClr val="11998E"/>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4" name="Google Shape;224;p50"/>
          <p:cNvSpPr/>
          <p:nvPr/>
        </p:nvSpPr>
        <p:spPr>
          <a:xfrm flipH="1" rot="-5400000">
            <a:off x="577898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5" name="Google Shape;225;p50"/>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FACULTY OF COMPUTER ENGINEERING</a:t>
            </a:r>
            <a:endParaRPr/>
          </a:p>
        </p:txBody>
      </p:sp>
      <p:grpSp>
        <p:nvGrpSpPr>
          <p:cNvPr id="226" name="Google Shape;226;p50"/>
          <p:cNvGrpSpPr/>
          <p:nvPr/>
        </p:nvGrpSpPr>
        <p:grpSpPr>
          <a:xfrm>
            <a:off x="4479985" y="241694"/>
            <a:ext cx="3232030" cy="768394"/>
            <a:chOff x="4280055" y="84406"/>
            <a:chExt cx="3631889" cy="863458"/>
          </a:xfrm>
        </p:grpSpPr>
        <p:sp>
          <p:nvSpPr>
            <p:cNvPr id="227" name="Google Shape;227;p50"/>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 name="Google Shape;228;p50"/>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con&#10;&#10;Description automatically generated with medium confidence" id="229" name="Google Shape;229;p50"/>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230" name="Google Shape;230;p50"/>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231" name="Google Shape;231;p50"/>
          <p:cNvGrpSpPr/>
          <p:nvPr/>
        </p:nvGrpSpPr>
        <p:grpSpPr>
          <a:xfrm>
            <a:off x="11508226" y="6270255"/>
            <a:ext cx="546132" cy="546132"/>
            <a:chOff x="11082048" y="197383"/>
            <a:chExt cx="486579" cy="486579"/>
          </a:xfrm>
        </p:grpSpPr>
        <p:sp>
          <p:nvSpPr>
            <p:cNvPr id="232" name="Google Shape;232;p50"/>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3" name="Google Shape;233;p50"/>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234" name="Google Shape;234;p50"/>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5" name="Google Shape;235;p50"/>
          <p:cNvSpPr txBox="1"/>
          <p:nvPr>
            <p:ph idx="12" type="sldNum"/>
          </p:nvPr>
        </p:nvSpPr>
        <p:spPr>
          <a:xfrm>
            <a:off x="10409692" y="6356350"/>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sz="1200">
                <a:solidFill>
                  <a:schemeClr val="lt1"/>
                </a:solidFill>
                <a:latin typeface="Arial"/>
                <a:ea typeface="Arial"/>
                <a:cs typeface="Arial"/>
                <a:sym typeface="Arial"/>
              </a:defRPr>
            </a:lvl1pPr>
            <a:lvl2pPr indent="0" lvl="1" marL="0" algn="ctr">
              <a:spcBef>
                <a:spcPts val="0"/>
              </a:spcBef>
              <a:buNone/>
              <a:defRPr b="1" sz="1200">
                <a:solidFill>
                  <a:schemeClr val="lt1"/>
                </a:solidFill>
                <a:latin typeface="Arial"/>
                <a:ea typeface="Arial"/>
                <a:cs typeface="Arial"/>
                <a:sym typeface="Arial"/>
              </a:defRPr>
            </a:lvl2pPr>
            <a:lvl3pPr indent="0" lvl="2" marL="0" algn="ctr">
              <a:spcBef>
                <a:spcPts val="0"/>
              </a:spcBef>
              <a:buNone/>
              <a:defRPr b="1" sz="1200">
                <a:solidFill>
                  <a:schemeClr val="lt1"/>
                </a:solidFill>
                <a:latin typeface="Arial"/>
                <a:ea typeface="Arial"/>
                <a:cs typeface="Arial"/>
                <a:sym typeface="Arial"/>
              </a:defRPr>
            </a:lvl3pPr>
            <a:lvl4pPr indent="0" lvl="3" marL="0" algn="ctr">
              <a:spcBef>
                <a:spcPts val="0"/>
              </a:spcBef>
              <a:buNone/>
              <a:defRPr b="1" sz="1200">
                <a:solidFill>
                  <a:schemeClr val="lt1"/>
                </a:solidFill>
                <a:latin typeface="Arial"/>
                <a:ea typeface="Arial"/>
                <a:cs typeface="Arial"/>
                <a:sym typeface="Arial"/>
              </a:defRPr>
            </a:lvl4pPr>
            <a:lvl5pPr indent="0" lvl="4" marL="0" algn="ctr">
              <a:spcBef>
                <a:spcPts val="0"/>
              </a:spcBef>
              <a:buNone/>
              <a:defRPr b="1" sz="1200">
                <a:solidFill>
                  <a:schemeClr val="lt1"/>
                </a:solidFill>
                <a:latin typeface="Arial"/>
                <a:ea typeface="Arial"/>
                <a:cs typeface="Arial"/>
                <a:sym typeface="Arial"/>
              </a:defRPr>
            </a:lvl5pPr>
            <a:lvl6pPr indent="0" lvl="5" marL="0" algn="ctr">
              <a:spcBef>
                <a:spcPts val="0"/>
              </a:spcBef>
              <a:buNone/>
              <a:defRPr b="1" sz="1200">
                <a:solidFill>
                  <a:schemeClr val="lt1"/>
                </a:solidFill>
                <a:latin typeface="Arial"/>
                <a:ea typeface="Arial"/>
                <a:cs typeface="Arial"/>
                <a:sym typeface="Arial"/>
              </a:defRPr>
            </a:lvl6pPr>
            <a:lvl7pPr indent="0" lvl="6" marL="0" algn="ctr">
              <a:spcBef>
                <a:spcPts val="0"/>
              </a:spcBef>
              <a:buNone/>
              <a:defRPr b="1" sz="1200">
                <a:solidFill>
                  <a:schemeClr val="lt1"/>
                </a:solidFill>
                <a:latin typeface="Arial"/>
                <a:ea typeface="Arial"/>
                <a:cs typeface="Arial"/>
                <a:sym typeface="Arial"/>
              </a:defRPr>
            </a:lvl7pPr>
            <a:lvl8pPr indent="0" lvl="7" marL="0" algn="ctr">
              <a:spcBef>
                <a:spcPts val="0"/>
              </a:spcBef>
              <a:buNone/>
              <a:defRPr b="1" sz="1200">
                <a:solidFill>
                  <a:schemeClr val="lt1"/>
                </a:solidFill>
                <a:latin typeface="Arial"/>
                <a:ea typeface="Arial"/>
                <a:cs typeface="Arial"/>
                <a:sym typeface="Arial"/>
              </a:defRPr>
            </a:lvl8pPr>
            <a:lvl9pPr indent="0" lvl="8" marL="0" algn="ctr">
              <a:spcBef>
                <a:spcPts val="0"/>
              </a:spcBef>
              <a:buNone/>
              <a:defRPr b="1"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6" name="Shape 236"/>
        <p:cNvGrpSpPr/>
        <p:nvPr/>
      </p:nvGrpSpPr>
      <p:grpSpPr>
        <a:xfrm>
          <a:off x="0" y="0"/>
          <a:ext cx="0" cy="0"/>
          <a:chOff x="0" y="0"/>
          <a:chExt cx="0" cy="0"/>
        </a:xfrm>
      </p:grpSpPr>
      <p:sp>
        <p:nvSpPr>
          <p:cNvPr id="237" name="Google Shape;237;p51"/>
          <p:cNvSpPr txBox="1"/>
          <p:nvPr>
            <p:ph type="title"/>
          </p:nvPr>
        </p:nvSpPr>
        <p:spPr>
          <a:xfrm>
            <a:off x="657226" y="1270699"/>
            <a:ext cx="4114799" cy="116218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017058"/>
              </a:buClr>
              <a:buSzPts val="4000"/>
              <a:buFont typeface="Times New Roman"/>
              <a:buNone/>
              <a:defRPr b="1" sz="4000">
                <a:solidFill>
                  <a:srgbClr val="017058"/>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51"/>
          <p:cNvSpPr/>
          <p:nvPr>
            <p:ph idx="2" type="pic"/>
          </p:nvPr>
        </p:nvSpPr>
        <p:spPr>
          <a:xfrm>
            <a:off x="5183188" y="1270699"/>
            <a:ext cx="6325038" cy="4796495"/>
          </a:xfrm>
          <a:prstGeom prst="rect">
            <a:avLst/>
          </a:prstGeom>
          <a:noFill/>
          <a:ln>
            <a:noFill/>
          </a:ln>
        </p:spPr>
      </p:sp>
      <p:sp>
        <p:nvSpPr>
          <p:cNvPr id="239" name="Google Shape;239;p51"/>
          <p:cNvSpPr txBox="1"/>
          <p:nvPr>
            <p:ph idx="1" type="body"/>
          </p:nvPr>
        </p:nvSpPr>
        <p:spPr>
          <a:xfrm>
            <a:off x="657226" y="2561454"/>
            <a:ext cx="4114799" cy="350574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40" name="Google Shape;240;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51"/>
          <p:cNvSpPr/>
          <p:nvPr/>
        </p:nvSpPr>
        <p:spPr>
          <a:xfrm rot="5400000">
            <a:off x="5778985" y="-5780045"/>
            <a:ext cx="631552" cy="12194479"/>
          </a:xfrm>
          <a:prstGeom prst="rect">
            <a:avLst/>
          </a:prstGeom>
          <a:gradFill>
            <a:gsLst>
              <a:gs pos="0">
                <a:srgbClr val="38EF7D"/>
              </a:gs>
              <a:gs pos="100000">
                <a:srgbClr val="11998E"/>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3" name="Google Shape;243;p51"/>
          <p:cNvSpPr/>
          <p:nvPr/>
        </p:nvSpPr>
        <p:spPr>
          <a:xfrm flipH="1" rot="-5400000">
            <a:off x="577898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4" name="Google Shape;244;p51"/>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FACULTY OF COMPUTER ENGINEERING</a:t>
            </a:r>
            <a:endParaRPr/>
          </a:p>
        </p:txBody>
      </p:sp>
      <p:grpSp>
        <p:nvGrpSpPr>
          <p:cNvPr id="245" name="Google Shape;245;p51"/>
          <p:cNvGrpSpPr/>
          <p:nvPr/>
        </p:nvGrpSpPr>
        <p:grpSpPr>
          <a:xfrm>
            <a:off x="4479985" y="241694"/>
            <a:ext cx="3232030" cy="768394"/>
            <a:chOff x="4280055" y="84406"/>
            <a:chExt cx="3631889" cy="863458"/>
          </a:xfrm>
        </p:grpSpPr>
        <p:sp>
          <p:nvSpPr>
            <p:cNvPr id="246" name="Google Shape;246;p51"/>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 name="Google Shape;247;p51"/>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con&#10;&#10;Description automatically generated with medium confidence" id="248" name="Google Shape;248;p51"/>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249" name="Google Shape;249;p51"/>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250" name="Google Shape;250;p51"/>
          <p:cNvGrpSpPr/>
          <p:nvPr/>
        </p:nvGrpSpPr>
        <p:grpSpPr>
          <a:xfrm>
            <a:off x="11508226" y="6270255"/>
            <a:ext cx="546132" cy="546132"/>
            <a:chOff x="11082048" y="197383"/>
            <a:chExt cx="486579" cy="486579"/>
          </a:xfrm>
        </p:grpSpPr>
        <p:sp>
          <p:nvSpPr>
            <p:cNvPr id="251" name="Google Shape;251;p51"/>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2" name="Google Shape;252;p51"/>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253" name="Google Shape;253;p51"/>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4" name="Google Shape;254;p51"/>
          <p:cNvSpPr txBox="1"/>
          <p:nvPr>
            <p:ph idx="12" type="sldNum"/>
          </p:nvPr>
        </p:nvSpPr>
        <p:spPr>
          <a:xfrm>
            <a:off x="10409692" y="6356350"/>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sz="1200">
                <a:solidFill>
                  <a:schemeClr val="lt1"/>
                </a:solidFill>
                <a:latin typeface="Arial"/>
                <a:ea typeface="Arial"/>
                <a:cs typeface="Arial"/>
                <a:sym typeface="Arial"/>
              </a:defRPr>
            </a:lvl1pPr>
            <a:lvl2pPr indent="0" lvl="1" marL="0" algn="ctr">
              <a:spcBef>
                <a:spcPts val="0"/>
              </a:spcBef>
              <a:buNone/>
              <a:defRPr b="1" sz="1200">
                <a:solidFill>
                  <a:schemeClr val="lt1"/>
                </a:solidFill>
                <a:latin typeface="Arial"/>
                <a:ea typeface="Arial"/>
                <a:cs typeface="Arial"/>
                <a:sym typeface="Arial"/>
              </a:defRPr>
            </a:lvl2pPr>
            <a:lvl3pPr indent="0" lvl="2" marL="0" algn="ctr">
              <a:spcBef>
                <a:spcPts val="0"/>
              </a:spcBef>
              <a:buNone/>
              <a:defRPr b="1" sz="1200">
                <a:solidFill>
                  <a:schemeClr val="lt1"/>
                </a:solidFill>
                <a:latin typeface="Arial"/>
                <a:ea typeface="Arial"/>
                <a:cs typeface="Arial"/>
                <a:sym typeface="Arial"/>
              </a:defRPr>
            </a:lvl3pPr>
            <a:lvl4pPr indent="0" lvl="3" marL="0" algn="ctr">
              <a:spcBef>
                <a:spcPts val="0"/>
              </a:spcBef>
              <a:buNone/>
              <a:defRPr b="1" sz="1200">
                <a:solidFill>
                  <a:schemeClr val="lt1"/>
                </a:solidFill>
                <a:latin typeface="Arial"/>
                <a:ea typeface="Arial"/>
                <a:cs typeface="Arial"/>
                <a:sym typeface="Arial"/>
              </a:defRPr>
            </a:lvl4pPr>
            <a:lvl5pPr indent="0" lvl="4" marL="0" algn="ctr">
              <a:spcBef>
                <a:spcPts val="0"/>
              </a:spcBef>
              <a:buNone/>
              <a:defRPr b="1" sz="1200">
                <a:solidFill>
                  <a:schemeClr val="lt1"/>
                </a:solidFill>
                <a:latin typeface="Arial"/>
                <a:ea typeface="Arial"/>
                <a:cs typeface="Arial"/>
                <a:sym typeface="Arial"/>
              </a:defRPr>
            </a:lvl5pPr>
            <a:lvl6pPr indent="0" lvl="5" marL="0" algn="ctr">
              <a:spcBef>
                <a:spcPts val="0"/>
              </a:spcBef>
              <a:buNone/>
              <a:defRPr b="1" sz="1200">
                <a:solidFill>
                  <a:schemeClr val="lt1"/>
                </a:solidFill>
                <a:latin typeface="Arial"/>
                <a:ea typeface="Arial"/>
                <a:cs typeface="Arial"/>
                <a:sym typeface="Arial"/>
              </a:defRPr>
            </a:lvl6pPr>
            <a:lvl7pPr indent="0" lvl="6" marL="0" algn="ctr">
              <a:spcBef>
                <a:spcPts val="0"/>
              </a:spcBef>
              <a:buNone/>
              <a:defRPr b="1" sz="1200">
                <a:solidFill>
                  <a:schemeClr val="lt1"/>
                </a:solidFill>
                <a:latin typeface="Arial"/>
                <a:ea typeface="Arial"/>
                <a:cs typeface="Arial"/>
                <a:sym typeface="Arial"/>
              </a:defRPr>
            </a:lvl7pPr>
            <a:lvl8pPr indent="0" lvl="7" marL="0" algn="ctr">
              <a:spcBef>
                <a:spcPts val="0"/>
              </a:spcBef>
              <a:buNone/>
              <a:defRPr b="1" sz="1200">
                <a:solidFill>
                  <a:schemeClr val="lt1"/>
                </a:solidFill>
                <a:latin typeface="Arial"/>
                <a:ea typeface="Arial"/>
                <a:cs typeface="Arial"/>
                <a:sym typeface="Arial"/>
              </a:defRPr>
            </a:lvl8pPr>
            <a:lvl9pPr indent="0" lvl="8" marL="0" algn="ctr">
              <a:spcBef>
                <a:spcPts val="0"/>
              </a:spcBef>
              <a:buNone/>
              <a:defRPr b="1"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55" name="Shape 255"/>
        <p:cNvGrpSpPr/>
        <p:nvPr/>
      </p:nvGrpSpPr>
      <p:grpSpPr>
        <a:xfrm>
          <a:off x="0" y="0"/>
          <a:ext cx="0" cy="0"/>
          <a:chOff x="0" y="0"/>
          <a:chExt cx="0" cy="0"/>
        </a:xfrm>
      </p:grpSpPr>
      <p:sp>
        <p:nvSpPr>
          <p:cNvPr id="256" name="Google Shape;256;p52"/>
          <p:cNvSpPr txBox="1"/>
          <p:nvPr>
            <p:ph type="title"/>
          </p:nvPr>
        </p:nvSpPr>
        <p:spPr>
          <a:xfrm>
            <a:off x="838200" y="929761"/>
            <a:ext cx="10515600" cy="77654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sz="4400">
                <a:solidFill>
                  <a:srgbClr val="017058"/>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52"/>
          <p:cNvSpPr txBox="1"/>
          <p:nvPr>
            <p:ph idx="1" type="body"/>
          </p:nvPr>
        </p:nvSpPr>
        <p:spPr>
          <a:xfrm rot="5400000">
            <a:off x="3903721" y="-1273116"/>
            <a:ext cx="4384559"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 name="Google Shape;258;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0" name="Google Shape;260;p52"/>
          <p:cNvSpPr/>
          <p:nvPr/>
        </p:nvSpPr>
        <p:spPr>
          <a:xfrm rot="5400000">
            <a:off x="5778985" y="-5780045"/>
            <a:ext cx="631552" cy="12194479"/>
          </a:xfrm>
          <a:prstGeom prst="rect">
            <a:avLst/>
          </a:prstGeom>
          <a:gradFill>
            <a:gsLst>
              <a:gs pos="0">
                <a:srgbClr val="38EF7D"/>
              </a:gs>
              <a:gs pos="100000">
                <a:srgbClr val="11998E"/>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1" name="Google Shape;261;p52"/>
          <p:cNvSpPr/>
          <p:nvPr/>
        </p:nvSpPr>
        <p:spPr>
          <a:xfrm flipH="1" rot="-5400000">
            <a:off x="577898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2" name="Google Shape;262;p52"/>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FACULTY OF COMPUTER ENGINEERING</a:t>
            </a:r>
            <a:endParaRPr/>
          </a:p>
        </p:txBody>
      </p:sp>
      <p:grpSp>
        <p:nvGrpSpPr>
          <p:cNvPr id="263" name="Google Shape;263;p52"/>
          <p:cNvGrpSpPr/>
          <p:nvPr/>
        </p:nvGrpSpPr>
        <p:grpSpPr>
          <a:xfrm>
            <a:off x="4479985" y="241694"/>
            <a:ext cx="3232030" cy="768394"/>
            <a:chOff x="4280055" y="84406"/>
            <a:chExt cx="3631889" cy="863458"/>
          </a:xfrm>
        </p:grpSpPr>
        <p:sp>
          <p:nvSpPr>
            <p:cNvPr id="264" name="Google Shape;264;p52"/>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5" name="Google Shape;265;p52"/>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con&#10;&#10;Description automatically generated with medium confidence" id="266" name="Google Shape;266;p52"/>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267" name="Google Shape;267;p52"/>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268" name="Google Shape;268;p52"/>
          <p:cNvGrpSpPr/>
          <p:nvPr/>
        </p:nvGrpSpPr>
        <p:grpSpPr>
          <a:xfrm>
            <a:off x="11508226" y="6270255"/>
            <a:ext cx="546132" cy="546132"/>
            <a:chOff x="11082048" y="197383"/>
            <a:chExt cx="486579" cy="486579"/>
          </a:xfrm>
        </p:grpSpPr>
        <p:sp>
          <p:nvSpPr>
            <p:cNvPr id="269" name="Google Shape;269;p52"/>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 name="Google Shape;270;p52"/>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271" name="Google Shape;271;p52"/>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2" name="Google Shape;272;p52"/>
          <p:cNvSpPr txBox="1"/>
          <p:nvPr>
            <p:ph idx="12" type="sldNum"/>
          </p:nvPr>
        </p:nvSpPr>
        <p:spPr>
          <a:xfrm>
            <a:off x="10409692" y="6356350"/>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sz="1200">
                <a:solidFill>
                  <a:schemeClr val="lt1"/>
                </a:solidFill>
                <a:latin typeface="Arial"/>
                <a:ea typeface="Arial"/>
                <a:cs typeface="Arial"/>
                <a:sym typeface="Arial"/>
              </a:defRPr>
            </a:lvl1pPr>
            <a:lvl2pPr indent="0" lvl="1" marL="0" algn="ctr">
              <a:spcBef>
                <a:spcPts val="0"/>
              </a:spcBef>
              <a:buNone/>
              <a:defRPr b="1" sz="1200">
                <a:solidFill>
                  <a:schemeClr val="lt1"/>
                </a:solidFill>
                <a:latin typeface="Arial"/>
                <a:ea typeface="Arial"/>
                <a:cs typeface="Arial"/>
                <a:sym typeface="Arial"/>
              </a:defRPr>
            </a:lvl2pPr>
            <a:lvl3pPr indent="0" lvl="2" marL="0" algn="ctr">
              <a:spcBef>
                <a:spcPts val="0"/>
              </a:spcBef>
              <a:buNone/>
              <a:defRPr b="1" sz="1200">
                <a:solidFill>
                  <a:schemeClr val="lt1"/>
                </a:solidFill>
                <a:latin typeface="Arial"/>
                <a:ea typeface="Arial"/>
                <a:cs typeface="Arial"/>
                <a:sym typeface="Arial"/>
              </a:defRPr>
            </a:lvl3pPr>
            <a:lvl4pPr indent="0" lvl="3" marL="0" algn="ctr">
              <a:spcBef>
                <a:spcPts val="0"/>
              </a:spcBef>
              <a:buNone/>
              <a:defRPr b="1" sz="1200">
                <a:solidFill>
                  <a:schemeClr val="lt1"/>
                </a:solidFill>
                <a:latin typeface="Arial"/>
                <a:ea typeface="Arial"/>
                <a:cs typeface="Arial"/>
                <a:sym typeface="Arial"/>
              </a:defRPr>
            </a:lvl4pPr>
            <a:lvl5pPr indent="0" lvl="4" marL="0" algn="ctr">
              <a:spcBef>
                <a:spcPts val="0"/>
              </a:spcBef>
              <a:buNone/>
              <a:defRPr b="1" sz="1200">
                <a:solidFill>
                  <a:schemeClr val="lt1"/>
                </a:solidFill>
                <a:latin typeface="Arial"/>
                <a:ea typeface="Arial"/>
                <a:cs typeface="Arial"/>
                <a:sym typeface="Arial"/>
              </a:defRPr>
            </a:lvl5pPr>
            <a:lvl6pPr indent="0" lvl="5" marL="0" algn="ctr">
              <a:spcBef>
                <a:spcPts val="0"/>
              </a:spcBef>
              <a:buNone/>
              <a:defRPr b="1" sz="1200">
                <a:solidFill>
                  <a:schemeClr val="lt1"/>
                </a:solidFill>
                <a:latin typeface="Arial"/>
                <a:ea typeface="Arial"/>
                <a:cs typeface="Arial"/>
                <a:sym typeface="Arial"/>
              </a:defRPr>
            </a:lvl6pPr>
            <a:lvl7pPr indent="0" lvl="6" marL="0" algn="ctr">
              <a:spcBef>
                <a:spcPts val="0"/>
              </a:spcBef>
              <a:buNone/>
              <a:defRPr b="1" sz="1200">
                <a:solidFill>
                  <a:schemeClr val="lt1"/>
                </a:solidFill>
                <a:latin typeface="Arial"/>
                <a:ea typeface="Arial"/>
                <a:cs typeface="Arial"/>
                <a:sym typeface="Arial"/>
              </a:defRPr>
            </a:lvl7pPr>
            <a:lvl8pPr indent="0" lvl="7" marL="0" algn="ctr">
              <a:spcBef>
                <a:spcPts val="0"/>
              </a:spcBef>
              <a:buNone/>
              <a:defRPr b="1" sz="1200">
                <a:solidFill>
                  <a:schemeClr val="lt1"/>
                </a:solidFill>
                <a:latin typeface="Arial"/>
                <a:ea typeface="Arial"/>
                <a:cs typeface="Arial"/>
                <a:sym typeface="Arial"/>
              </a:defRPr>
            </a:lvl8pPr>
            <a:lvl9pPr indent="0" lvl="8" marL="0" algn="ctr">
              <a:spcBef>
                <a:spcPts val="0"/>
              </a:spcBef>
              <a:buNone/>
              <a:defRPr b="1"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3" name="Shape 273"/>
        <p:cNvGrpSpPr/>
        <p:nvPr/>
      </p:nvGrpSpPr>
      <p:grpSpPr>
        <a:xfrm>
          <a:off x="0" y="0"/>
          <a:ext cx="0" cy="0"/>
          <a:chOff x="0" y="0"/>
          <a:chExt cx="0" cy="0"/>
        </a:xfrm>
      </p:grpSpPr>
      <p:sp>
        <p:nvSpPr>
          <p:cNvPr id="274" name="Google Shape;274;p53"/>
          <p:cNvSpPr txBox="1"/>
          <p:nvPr>
            <p:ph type="title"/>
          </p:nvPr>
        </p:nvSpPr>
        <p:spPr>
          <a:xfrm rot="5400000">
            <a:off x="7470079" y="2293242"/>
            <a:ext cx="5138542"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7058"/>
              </a:buClr>
              <a:buSzPts val="4400"/>
              <a:buFont typeface="Times New Roman"/>
              <a:buNone/>
              <a:defRPr b="1" sz="4400">
                <a:solidFill>
                  <a:srgbClr val="017058"/>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5" name="Google Shape;275;p53"/>
          <p:cNvSpPr txBox="1"/>
          <p:nvPr>
            <p:ph idx="1" type="body"/>
          </p:nvPr>
        </p:nvSpPr>
        <p:spPr>
          <a:xfrm rot="5400000">
            <a:off x="2136079" y="-259458"/>
            <a:ext cx="5138542"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6" name="Google Shape;276;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p53"/>
          <p:cNvSpPr/>
          <p:nvPr/>
        </p:nvSpPr>
        <p:spPr>
          <a:xfrm rot="5400000">
            <a:off x="5778985" y="-5780045"/>
            <a:ext cx="631552" cy="12194479"/>
          </a:xfrm>
          <a:prstGeom prst="rect">
            <a:avLst/>
          </a:prstGeom>
          <a:gradFill>
            <a:gsLst>
              <a:gs pos="0">
                <a:srgbClr val="38EF7D"/>
              </a:gs>
              <a:gs pos="100000">
                <a:srgbClr val="11998E"/>
              </a:gs>
            </a:gsLst>
            <a:lin ang="5400000" scaled="0"/>
          </a:grad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9" name="Google Shape;279;p53"/>
          <p:cNvSpPr/>
          <p:nvPr/>
        </p:nvSpPr>
        <p:spPr>
          <a:xfrm flipH="1" rot="-5400000">
            <a:off x="5778984" y="-5781463"/>
            <a:ext cx="631552" cy="12194479"/>
          </a:xfrm>
          <a:prstGeom prst="rect">
            <a:avLst/>
          </a:prstGeom>
          <a:blipFill rotWithShape="1">
            <a:blip r:embed="rId2">
              <a:alphaModFix/>
            </a:blip>
            <a:stretch>
              <a:fillRect b="0" l="0" r="0" t="27562"/>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0" name="Google Shape;280;p53"/>
          <p:cNvSpPr txBox="1"/>
          <p:nvPr/>
        </p:nvSpPr>
        <p:spPr>
          <a:xfrm>
            <a:off x="240281" y="141423"/>
            <a:ext cx="7420291" cy="3373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lt1"/>
                </a:solidFill>
                <a:latin typeface="Arial"/>
                <a:ea typeface="Arial"/>
                <a:cs typeface="Arial"/>
                <a:sym typeface="Arial"/>
              </a:rPr>
              <a:t>FACULTY OF COMPUTER ENGINEERING</a:t>
            </a:r>
            <a:endParaRPr/>
          </a:p>
        </p:txBody>
      </p:sp>
      <p:grpSp>
        <p:nvGrpSpPr>
          <p:cNvPr id="281" name="Google Shape;281;p53"/>
          <p:cNvGrpSpPr/>
          <p:nvPr/>
        </p:nvGrpSpPr>
        <p:grpSpPr>
          <a:xfrm>
            <a:off x="4479985" y="241694"/>
            <a:ext cx="3232030" cy="768394"/>
            <a:chOff x="4280055" y="84406"/>
            <a:chExt cx="3631889" cy="863458"/>
          </a:xfrm>
        </p:grpSpPr>
        <p:sp>
          <p:nvSpPr>
            <p:cNvPr id="282" name="Google Shape;282;p53"/>
            <p:cNvSpPr/>
            <p:nvPr/>
          </p:nvSpPr>
          <p:spPr>
            <a:xfrm>
              <a:off x="4280055" y="155868"/>
              <a:ext cx="3631889" cy="717640"/>
            </a:xfrm>
            <a:prstGeom prst="roundRect">
              <a:avLst>
                <a:gd fmla="val 50000" name="adj"/>
              </a:avLst>
            </a:prstGeom>
            <a:gradFill>
              <a:gsLst>
                <a:gs pos="0">
                  <a:srgbClr val="38EF7D"/>
                </a:gs>
                <a:gs pos="100000">
                  <a:srgbClr val="752AF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3" name="Google Shape;283;p53"/>
            <p:cNvSpPr/>
            <p:nvPr/>
          </p:nvSpPr>
          <p:spPr>
            <a:xfrm>
              <a:off x="4345594" y="214327"/>
              <a:ext cx="3500812" cy="600721"/>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con&#10;&#10;Description automatically generated with medium confidence" id="284" name="Google Shape;284;p53"/>
            <p:cNvPicPr preferRelativeResize="0"/>
            <p:nvPr/>
          </p:nvPicPr>
          <p:blipFill rotWithShape="1">
            <a:blip r:embed="rId3">
              <a:alphaModFix/>
            </a:blip>
            <a:srcRect b="0" l="0" r="0" t="0"/>
            <a:stretch/>
          </p:blipFill>
          <p:spPr>
            <a:xfrm>
              <a:off x="6315084" y="84406"/>
              <a:ext cx="871486" cy="863458"/>
            </a:xfrm>
            <a:prstGeom prst="rect">
              <a:avLst/>
            </a:prstGeom>
            <a:noFill/>
            <a:ln>
              <a:noFill/>
            </a:ln>
          </p:spPr>
        </p:pic>
        <p:pic>
          <p:nvPicPr>
            <p:cNvPr descr="A picture containing clipart, vector graphics&#10;&#10;Description automatically generated" id="285" name="Google Shape;285;p53"/>
            <p:cNvPicPr preferRelativeResize="0"/>
            <p:nvPr/>
          </p:nvPicPr>
          <p:blipFill rotWithShape="1">
            <a:blip r:embed="rId4">
              <a:alphaModFix/>
            </a:blip>
            <a:srcRect b="0" l="0" r="0" t="0"/>
            <a:stretch/>
          </p:blipFill>
          <p:spPr>
            <a:xfrm>
              <a:off x="5005430" y="111027"/>
              <a:ext cx="979518" cy="810216"/>
            </a:xfrm>
            <a:prstGeom prst="rect">
              <a:avLst/>
            </a:prstGeom>
            <a:noFill/>
            <a:ln>
              <a:noFill/>
            </a:ln>
          </p:spPr>
        </p:pic>
      </p:grpSp>
      <p:grpSp>
        <p:nvGrpSpPr>
          <p:cNvPr id="286" name="Google Shape;286;p53"/>
          <p:cNvGrpSpPr/>
          <p:nvPr/>
        </p:nvGrpSpPr>
        <p:grpSpPr>
          <a:xfrm>
            <a:off x="11508226" y="6270255"/>
            <a:ext cx="546132" cy="546132"/>
            <a:chOff x="11082048" y="197383"/>
            <a:chExt cx="486579" cy="486579"/>
          </a:xfrm>
        </p:grpSpPr>
        <p:sp>
          <p:nvSpPr>
            <p:cNvPr id="287" name="Google Shape;287;p53"/>
            <p:cNvSpPr/>
            <p:nvPr/>
          </p:nvSpPr>
          <p:spPr>
            <a:xfrm>
              <a:off x="11082048" y="197383"/>
              <a:ext cx="486579" cy="486579"/>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8" name="Google Shape;288;p53"/>
            <p:cNvSpPr/>
            <p:nvPr/>
          </p:nvSpPr>
          <p:spPr>
            <a:xfrm>
              <a:off x="11215170" y="330505"/>
              <a:ext cx="220337" cy="220337"/>
            </a:xfrm>
            <a:prstGeom prst="ellipse">
              <a:avLst/>
            </a:prstGeom>
            <a:gradFill>
              <a:gsLst>
                <a:gs pos="0">
                  <a:srgbClr val="38EF7D">
                    <a:alpha val="65098"/>
                  </a:srgbClr>
                </a:gs>
                <a:gs pos="100000">
                  <a:srgbClr val="11998E">
                    <a:alpha val="65098"/>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289" name="Google Shape;289;p53"/>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0" name="Google Shape;290;p53"/>
          <p:cNvSpPr txBox="1"/>
          <p:nvPr>
            <p:ph idx="12" type="sldNum"/>
          </p:nvPr>
        </p:nvSpPr>
        <p:spPr>
          <a:xfrm>
            <a:off x="10409692" y="6356350"/>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sz="1200">
                <a:solidFill>
                  <a:schemeClr val="lt1"/>
                </a:solidFill>
                <a:latin typeface="Arial"/>
                <a:ea typeface="Arial"/>
                <a:cs typeface="Arial"/>
                <a:sym typeface="Arial"/>
              </a:defRPr>
            </a:lvl1pPr>
            <a:lvl2pPr indent="0" lvl="1" marL="0" algn="ctr">
              <a:spcBef>
                <a:spcPts val="0"/>
              </a:spcBef>
              <a:buNone/>
              <a:defRPr b="1" sz="1200">
                <a:solidFill>
                  <a:schemeClr val="lt1"/>
                </a:solidFill>
                <a:latin typeface="Arial"/>
                <a:ea typeface="Arial"/>
                <a:cs typeface="Arial"/>
                <a:sym typeface="Arial"/>
              </a:defRPr>
            </a:lvl2pPr>
            <a:lvl3pPr indent="0" lvl="2" marL="0" algn="ctr">
              <a:spcBef>
                <a:spcPts val="0"/>
              </a:spcBef>
              <a:buNone/>
              <a:defRPr b="1" sz="1200">
                <a:solidFill>
                  <a:schemeClr val="lt1"/>
                </a:solidFill>
                <a:latin typeface="Arial"/>
                <a:ea typeface="Arial"/>
                <a:cs typeface="Arial"/>
                <a:sym typeface="Arial"/>
              </a:defRPr>
            </a:lvl3pPr>
            <a:lvl4pPr indent="0" lvl="3" marL="0" algn="ctr">
              <a:spcBef>
                <a:spcPts val="0"/>
              </a:spcBef>
              <a:buNone/>
              <a:defRPr b="1" sz="1200">
                <a:solidFill>
                  <a:schemeClr val="lt1"/>
                </a:solidFill>
                <a:latin typeface="Arial"/>
                <a:ea typeface="Arial"/>
                <a:cs typeface="Arial"/>
                <a:sym typeface="Arial"/>
              </a:defRPr>
            </a:lvl4pPr>
            <a:lvl5pPr indent="0" lvl="4" marL="0" algn="ctr">
              <a:spcBef>
                <a:spcPts val="0"/>
              </a:spcBef>
              <a:buNone/>
              <a:defRPr b="1" sz="1200">
                <a:solidFill>
                  <a:schemeClr val="lt1"/>
                </a:solidFill>
                <a:latin typeface="Arial"/>
                <a:ea typeface="Arial"/>
                <a:cs typeface="Arial"/>
                <a:sym typeface="Arial"/>
              </a:defRPr>
            </a:lvl5pPr>
            <a:lvl6pPr indent="0" lvl="5" marL="0" algn="ctr">
              <a:spcBef>
                <a:spcPts val="0"/>
              </a:spcBef>
              <a:buNone/>
              <a:defRPr b="1" sz="1200">
                <a:solidFill>
                  <a:schemeClr val="lt1"/>
                </a:solidFill>
                <a:latin typeface="Arial"/>
                <a:ea typeface="Arial"/>
                <a:cs typeface="Arial"/>
                <a:sym typeface="Arial"/>
              </a:defRPr>
            </a:lvl6pPr>
            <a:lvl7pPr indent="0" lvl="6" marL="0" algn="ctr">
              <a:spcBef>
                <a:spcPts val="0"/>
              </a:spcBef>
              <a:buNone/>
              <a:defRPr b="1" sz="1200">
                <a:solidFill>
                  <a:schemeClr val="lt1"/>
                </a:solidFill>
                <a:latin typeface="Arial"/>
                <a:ea typeface="Arial"/>
                <a:cs typeface="Arial"/>
                <a:sym typeface="Arial"/>
              </a:defRPr>
            </a:lvl7pPr>
            <a:lvl8pPr indent="0" lvl="7" marL="0" algn="ctr">
              <a:spcBef>
                <a:spcPts val="0"/>
              </a:spcBef>
              <a:buNone/>
              <a:defRPr b="1" sz="1200">
                <a:solidFill>
                  <a:schemeClr val="lt1"/>
                </a:solidFill>
                <a:latin typeface="Arial"/>
                <a:ea typeface="Arial"/>
                <a:cs typeface="Arial"/>
                <a:sym typeface="Arial"/>
              </a:defRPr>
            </a:lvl8pPr>
            <a:lvl9pPr indent="0" lvl="8" marL="0" algn="ctr">
              <a:spcBef>
                <a:spcPts val="0"/>
              </a:spcBef>
              <a:buNone/>
              <a:defRPr b="1"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nvSpPr>
        <p:spPr>
          <a:xfrm>
            <a:off x="0" y="-1543110"/>
            <a:ext cx="121920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rgbClr val="C3C3C3"/>
                </a:solidFill>
                <a:latin typeface="Arial"/>
                <a:ea typeface="Arial"/>
                <a:cs typeface="Arial"/>
                <a:sym typeface="Arial"/>
              </a:rPr>
              <a:t>www.9slide.vn</a:t>
            </a:r>
            <a:endParaRPr b="0" i="0" sz="2000" u="none" cap="none" strike="noStrike">
              <a:solidFill>
                <a:srgbClr val="C3C3C3"/>
              </a:solidFill>
              <a:latin typeface="Arial"/>
              <a:ea typeface="Arial"/>
              <a:cs typeface="Arial"/>
              <a:sym typeface="Arial"/>
            </a:endParaRPr>
          </a:p>
        </p:txBody>
      </p:sp>
      <p:sp>
        <p:nvSpPr>
          <p:cNvPr id="11" name="Google Shape;11;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imes New Roman"/>
              <a:buNone/>
              <a:defRPr b="0" i="0" sz="4400" u="none" cap="none" strike="noStrik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 name="Google Shape;13;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6" name="Google Shape;16;p36"/>
          <p:cNvSpPr/>
          <p:nvPr/>
        </p:nvSpPr>
        <p:spPr>
          <a:xfrm>
            <a:off x="0" y="1418"/>
            <a:ext cx="12194479" cy="6863661"/>
          </a:xfrm>
          <a:custGeom>
            <a:rect b="b" l="l" r="r" t="t"/>
            <a:pathLst>
              <a:path extrusionOk="0" h="6863661" w="12194479">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6.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github.com/NguyeDinhHuy/Multi-Core_RISCV"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github.com/YosysHQ/picorv32" TargetMode="External"/><Relationship Id="rId4" Type="http://schemas.openxmlformats.org/officeDocument/2006/relationships/hyperlink" Target="https://riscv.org/technical/specification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
          <p:cNvSpPr/>
          <p:nvPr>
            <p:ph type="ctrTitle"/>
          </p:nvPr>
        </p:nvSpPr>
        <p:spPr>
          <a:xfrm>
            <a:off x="1435608" y="1362457"/>
            <a:ext cx="9232392" cy="2066544"/>
          </a:xfrm>
          <a:prstGeom prst="roundRect">
            <a:avLst>
              <a:gd fmla="val 3901" name="adj"/>
            </a:avLst>
          </a:prstGeom>
          <a:noFill/>
          <a:ln cap="flat" cmpd="sng" w="25400">
            <a:solidFill>
              <a:srgbClr val="10CC57"/>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11998E"/>
              </a:buClr>
              <a:buSzPts val="4320"/>
              <a:buFont typeface="Times New Roman"/>
              <a:buNone/>
            </a:pPr>
            <a:r>
              <a:rPr lang="en-US" sz="4320"/>
              <a:t>Nghiên cứu kiến trúc Đa lõi RISC-V: </a:t>
            </a:r>
            <a:br>
              <a:rPr lang="en-US" sz="4320"/>
            </a:br>
            <a:r>
              <a:rPr lang="en-US" sz="4320"/>
              <a:t>Thiết kế và mô phỏng bộ phân xử giao</a:t>
            </a:r>
            <a:br>
              <a:rPr lang="en-US" sz="4320"/>
            </a:br>
            <a:r>
              <a:rPr lang="en-US" sz="4320"/>
              <a:t>tiếp bộ nhớ (Bus Arbiter)</a:t>
            </a:r>
            <a:endParaRPr sz="4320"/>
          </a:p>
        </p:txBody>
      </p:sp>
      <p:sp>
        <p:nvSpPr>
          <p:cNvPr id="296" name="Google Shape;296;p1"/>
          <p:cNvSpPr txBox="1"/>
          <p:nvPr>
            <p:ph idx="1" type="body"/>
          </p:nvPr>
        </p:nvSpPr>
        <p:spPr>
          <a:xfrm>
            <a:off x="1524000" y="6005193"/>
            <a:ext cx="9144000" cy="51911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None/>
            </a:pPr>
            <a:r>
              <a:rPr lang="en-US"/>
              <a:t>Tp. Hồ Chí Minh, ngày 23 tháng 6 năm 2026</a:t>
            </a:r>
            <a:endParaRPr/>
          </a:p>
        </p:txBody>
      </p:sp>
      <p:sp>
        <p:nvSpPr>
          <p:cNvPr id="297" name="Google Shape;297;p1"/>
          <p:cNvSpPr/>
          <p:nvPr>
            <p:ph idx="2" type="body"/>
          </p:nvPr>
        </p:nvSpPr>
        <p:spPr>
          <a:xfrm>
            <a:off x="2120939" y="1104436"/>
            <a:ext cx="2365717" cy="381000"/>
          </a:xfrm>
          <a:prstGeom prst="roundRect">
            <a:avLst>
              <a:gd fmla="val 8146" name="adj"/>
            </a:avLst>
          </a:prstGeom>
          <a:gradFill>
            <a:gsLst>
              <a:gs pos="0">
                <a:srgbClr val="017058"/>
              </a:gs>
              <a:gs pos="100000">
                <a:srgbClr val="10CC57"/>
              </a:gs>
            </a:gsLst>
            <a:lin ang="2700000" scaled="0"/>
          </a:gra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1200"/>
              <a:buNone/>
            </a:pPr>
            <a:r>
              <a:rPr lang="en-US" sz="1200"/>
              <a:t>ĐỒ ÁN</a:t>
            </a:r>
            <a:endParaRPr sz="1200"/>
          </a:p>
        </p:txBody>
      </p:sp>
      <p:sp>
        <p:nvSpPr>
          <p:cNvPr id="298" name="Google Shape;298;p1"/>
          <p:cNvSpPr txBox="1"/>
          <p:nvPr/>
        </p:nvSpPr>
        <p:spPr>
          <a:xfrm>
            <a:off x="1524000" y="3681350"/>
            <a:ext cx="9144000" cy="157620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b="1" lang="en-US" sz="2400">
                <a:solidFill>
                  <a:schemeClr val="accent4"/>
                </a:solidFill>
                <a:latin typeface="Arial"/>
                <a:ea typeface="Arial"/>
                <a:cs typeface="Arial"/>
                <a:sym typeface="Arial"/>
              </a:rPr>
              <a:t>GVHD: </a:t>
            </a:r>
            <a:r>
              <a:rPr b="1" lang="en-US" sz="2400">
                <a:solidFill>
                  <a:schemeClr val="accent4"/>
                </a:solidFill>
                <a:latin typeface="Arial"/>
                <a:ea typeface="Arial"/>
                <a:cs typeface="Arial"/>
                <a:sym typeface="Arial"/>
              </a:rPr>
              <a:t>Ths. Tạ Trí Đức</a:t>
            </a:r>
            <a:endParaRPr b="1" sz="2400">
              <a:solidFill>
                <a:schemeClr val="accent4"/>
              </a:solidFill>
              <a:latin typeface="Arial"/>
              <a:ea typeface="Arial"/>
              <a:cs typeface="Arial"/>
              <a:sym typeface="Arial"/>
            </a:endParaRPr>
          </a:p>
          <a:p>
            <a:pPr indent="-342900" lvl="0" marL="342900" marR="0" rtl="0" algn="l">
              <a:lnSpc>
                <a:spcPct val="13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Tên Sinh viên 1: </a:t>
            </a:r>
            <a:r>
              <a:rPr b="1" lang="en-US" sz="2400">
                <a:solidFill>
                  <a:schemeClr val="dk1"/>
                </a:solidFill>
                <a:latin typeface="Arial"/>
                <a:ea typeface="Arial"/>
                <a:cs typeface="Arial"/>
                <a:sym typeface="Arial"/>
              </a:rPr>
              <a:t>Nguyễn Đình Huy</a:t>
            </a:r>
            <a:r>
              <a:rPr lang="en-US" sz="2400">
                <a:solidFill>
                  <a:schemeClr val="dk1"/>
                </a:solidFill>
                <a:latin typeface="Arial"/>
                <a:ea typeface="Arial"/>
                <a:cs typeface="Arial"/>
                <a:sym typeface="Arial"/>
              </a:rPr>
              <a:t>		MSSV: 23520624</a:t>
            </a:r>
            <a:endParaRPr sz="2400">
              <a:solidFill>
                <a:schemeClr val="dk1"/>
              </a:solidFill>
              <a:latin typeface="Arial"/>
              <a:ea typeface="Arial"/>
              <a:cs typeface="Arial"/>
              <a:sym typeface="Arial"/>
            </a:endParaRPr>
          </a:p>
          <a:p>
            <a:pPr indent="-342900" lvl="0" marL="342900" marR="0" rtl="0" algn="l">
              <a:lnSpc>
                <a:spcPct val="130000"/>
              </a:lnSpc>
              <a:spcBef>
                <a:spcPts val="600"/>
              </a:spcBef>
              <a:spcAft>
                <a:spcPts val="0"/>
              </a:spcAft>
              <a:buClr>
                <a:schemeClr val="dk1"/>
              </a:buClr>
              <a:buSzPts val="2400"/>
              <a:buFont typeface="Arial"/>
              <a:buChar char="•"/>
            </a:pPr>
            <a:r>
              <a:rPr lang="en-US" sz="2400">
                <a:solidFill>
                  <a:schemeClr val="dk1"/>
                </a:solidFill>
                <a:latin typeface="Arial"/>
                <a:ea typeface="Arial"/>
                <a:cs typeface="Arial"/>
                <a:sym typeface="Arial"/>
              </a:rPr>
              <a:t>Tên Sinh viên 2: </a:t>
            </a:r>
            <a:r>
              <a:rPr b="1" lang="en-US" sz="2400">
                <a:solidFill>
                  <a:schemeClr val="dk1"/>
                </a:solidFill>
                <a:latin typeface="Arial"/>
                <a:ea typeface="Arial"/>
                <a:cs typeface="Arial"/>
                <a:sym typeface="Arial"/>
              </a:rPr>
              <a:t>Nguyễn Gia Huy</a:t>
            </a:r>
            <a:r>
              <a:rPr lang="en-US" sz="2400">
                <a:solidFill>
                  <a:schemeClr val="dk1"/>
                </a:solidFill>
                <a:latin typeface="Arial"/>
                <a:ea typeface="Arial"/>
                <a:cs typeface="Arial"/>
                <a:sym typeface="Arial"/>
              </a:rPr>
              <a:t>			MSSV: 23520629</a:t>
            </a:r>
            <a:endParaRPr sz="240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Nội dung báo cáo</a:t>
            </a:r>
            <a:endParaRPr/>
          </a:p>
        </p:txBody>
      </p:sp>
      <p:sp>
        <p:nvSpPr>
          <p:cNvPr id="304" name="Google Shape;304;p2"/>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pSp>
        <p:nvGrpSpPr>
          <p:cNvPr id="305" name="Google Shape;305;p2"/>
          <p:cNvGrpSpPr/>
          <p:nvPr/>
        </p:nvGrpSpPr>
        <p:grpSpPr>
          <a:xfrm>
            <a:off x="1033164" y="2094865"/>
            <a:ext cx="4600381" cy="948373"/>
            <a:chOff x="1033164" y="2094865"/>
            <a:chExt cx="4232519" cy="948373"/>
          </a:xfrm>
        </p:grpSpPr>
        <p:sp>
          <p:nvSpPr>
            <p:cNvPr id="306" name="Google Shape;306;p2"/>
            <p:cNvSpPr/>
            <p:nvPr/>
          </p:nvSpPr>
          <p:spPr>
            <a:xfrm>
              <a:off x="1033164" y="2094865"/>
              <a:ext cx="4232519" cy="948373"/>
            </a:xfrm>
            <a:prstGeom prst="roundRect">
              <a:avLst>
                <a:gd fmla="val 6767" name="adj"/>
              </a:avLst>
            </a:prstGeom>
            <a:solidFill>
              <a:schemeClr val="lt1"/>
            </a:solidFill>
            <a:ln cap="flat" cmpd="sng" w="19050">
              <a:solidFill>
                <a:srgbClr val="0170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200">
                <a:solidFill>
                  <a:srgbClr val="000000"/>
                </a:solidFill>
                <a:latin typeface="Arial"/>
                <a:ea typeface="Arial"/>
                <a:cs typeface="Arial"/>
                <a:sym typeface="Arial"/>
              </a:endParaRPr>
            </a:p>
          </p:txBody>
        </p:sp>
        <p:sp>
          <p:nvSpPr>
            <p:cNvPr id="307" name="Google Shape;307;p2"/>
            <p:cNvSpPr/>
            <p:nvPr/>
          </p:nvSpPr>
          <p:spPr>
            <a:xfrm>
              <a:off x="1193006" y="2265441"/>
              <a:ext cx="607219" cy="607219"/>
            </a:xfrm>
            <a:prstGeom prst="ellipse">
              <a:avLst/>
            </a:prstGeom>
            <a:solidFill>
              <a:srgbClr val="10CC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lt1"/>
                  </a:solidFill>
                  <a:latin typeface="Times New Roman"/>
                  <a:ea typeface="Times New Roman"/>
                  <a:cs typeface="Times New Roman"/>
                  <a:sym typeface="Times New Roman"/>
                </a:rPr>
                <a:t>1</a:t>
              </a:r>
              <a:endParaRPr/>
            </a:p>
          </p:txBody>
        </p:sp>
        <p:sp>
          <p:nvSpPr>
            <p:cNvPr id="308" name="Google Shape;308;p2"/>
            <p:cNvSpPr txBox="1"/>
            <p:nvPr/>
          </p:nvSpPr>
          <p:spPr>
            <a:xfrm>
              <a:off x="1862400" y="2338218"/>
              <a:ext cx="2678070" cy="46166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Tổng quan đề tài</a:t>
              </a:r>
              <a:endParaRPr sz="2400">
                <a:solidFill>
                  <a:schemeClr val="dk1"/>
                </a:solidFill>
                <a:latin typeface="Arial"/>
                <a:ea typeface="Arial"/>
                <a:cs typeface="Arial"/>
                <a:sym typeface="Arial"/>
              </a:endParaRPr>
            </a:p>
          </p:txBody>
        </p:sp>
      </p:grpSp>
      <p:grpSp>
        <p:nvGrpSpPr>
          <p:cNvPr id="309" name="Google Shape;309;p2"/>
          <p:cNvGrpSpPr/>
          <p:nvPr/>
        </p:nvGrpSpPr>
        <p:grpSpPr>
          <a:xfrm>
            <a:off x="1033164" y="3255196"/>
            <a:ext cx="4600381" cy="948373"/>
            <a:chOff x="1033164" y="3239499"/>
            <a:chExt cx="4600381" cy="948373"/>
          </a:xfrm>
        </p:grpSpPr>
        <p:sp>
          <p:nvSpPr>
            <p:cNvPr id="310" name="Google Shape;310;p2"/>
            <p:cNvSpPr/>
            <p:nvPr/>
          </p:nvSpPr>
          <p:spPr>
            <a:xfrm>
              <a:off x="1033164" y="3239499"/>
              <a:ext cx="4600381" cy="948373"/>
            </a:xfrm>
            <a:prstGeom prst="roundRect">
              <a:avLst>
                <a:gd fmla="val 6767" name="adj"/>
              </a:avLst>
            </a:prstGeom>
            <a:solidFill>
              <a:srgbClr val="017058"/>
            </a:solidFill>
            <a:ln cap="flat" cmpd="sng" w="19050">
              <a:solidFill>
                <a:srgbClr val="0170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200">
                <a:solidFill>
                  <a:schemeClr val="lt1"/>
                </a:solidFill>
                <a:latin typeface="Arial"/>
                <a:ea typeface="Arial"/>
                <a:cs typeface="Arial"/>
                <a:sym typeface="Arial"/>
              </a:endParaRPr>
            </a:p>
          </p:txBody>
        </p:sp>
        <p:sp>
          <p:nvSpPr>
            <p:cNvPr id="311" name="Google Shape;311;p2"/>
            <p:cNvSpPr/>
            <p:nvPr/>
          </p:nvSpPr>
          <p:spPr>
            <a:xfrm>
              <a:off x="1193005" y="3410075"/>
              <a:ext cx="607219" cy="607219"/>
            </a:xfrm>
            <a:prstGeom prst="ellipse">
              <a:avLst/>
            </a:prstGeom>
            <a:solidFill>
              <a:srgbClr val="10CC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lt1"/>
                  </a:solidFill>
                  <a:latin typeface="Times New Roman"/>
                  <a:ea typeface="Times New Roman"/>
                  <a:cs typeface="Times New Roman"/>
                  <a:sym typeface="Times New Roman"/>
                </a:rPr>
                <a:t>2</a:t>
              </a:r>
              <a:endParaRPr/>
            </a:p>
          </p:txBody>
        </p:sp>
        <p:sp>
          <p:nvSpPr>
            <p:cNvPr id="312" name="Google Shape;312;p2"/>
            <p:cNvSpPr txBox="1"/>
            <p:nvPr/>
          </p:nvSpPr>
          <p:spPr>
            <a:xfrm>
              <a:off x="1862399" y="3482851"/>
              <a:ext cx="3319201" cy="46166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Arial"/>
                  <a:ea typeface="Arial"/>
                  <a:cs typeface="Arial"/>
                  <a:sym typeface="Arial"/>
                </a:rPr>
                <a:t>Giải pháp đề xuất</a:t>
              </a:r>
              <a:endParaRPr sz="2400">
                <a:solidFill>
                  <a:schemeClr val="lt1"/>
                </a:solidFill>
                <a:latin typeface="Arial"/>
                <a:ea typeface="Arial"/>
                <a:cs typeface="Arial"/>
                <a:sym typeface="Arial"/>
              </a:endParaRPr>
            </a:p>
          </p:txBody>
        </p:sp>
      </p:grpSp>
      <p:grpSp>
        <p:nvGrpSpPr>
          <p:cNvPr id="313" name="Google Shape;313;p2"/>
          <p:cNvGrpSpPr/>
          <p:nvPr/>
        </p:nvGrpSpPr>
        <p:grpSpPr>
          <a:xfrm>
            <a:off x="1033164" y="4415527"/>
            <a:ext cx="4600381" cy="948373"/>
            <a:chOff x="1033164" y="4431224"/>
            <a:chExt cx="4600381" cy="948373"/>
          </a:xfrm>
        </p:grpSpPr>
        <p:sp>
          <p:nvSpPr>
            <p:cNvPr id="314" name="Google Shape;314;p2"/>
            <p:cNvSpPr/>
            <p:nvPr/>
          </p:nvSpPr>
          <p:spPr>
            <a:xfrm>
              <a:off x="1033164" y="4431224"/>
              <a:ext cx="4600381" cy="948373"/>
            </a:xfrm>
            <a:prstGeom prst="roundRect">
              <a:avLst>
                <a:gd fmla="val 6767" name="adj"/>
              </a:avLst>
            </a:prstGeom>
            <a:solidFill>
              <a:schemeClr val="lt1"/>
            </a:solidFill>
            <a:ln cap="flat" cmpd="sng" w="19050">
              <a:solidFill>
                <a:srgbClr val="0170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200">
                <a:solidFill>
                  <a:srgbClr val="000000"/>
                </a:solidFill>
                <a:latin typeface="Arial"/>
                <a:ea typeface="Arial"/>
                <a:cs typeface="Arial"/>
                <a:sym typeface="Arial"/>
              </a:endParaRPr>
            </a:p>
          </p:txBody>
        </p:sp>
        <p:sp>
          <p:nvSpPr>
            <p:cNvPr id="315" name="Google Shape;315;p2"/>
            <p:cNvSpPr/>
            <p:nvPr/>
          </p:nvSpPr>
          <p:spPr>
            <a:xfrm>
              <a:off x="1193006" y="4601800"/>
              <a:ext cx="607219" cy="607219"/>
            </a:xfrm>
            <a:prstGeom prst="ellipse">
              <a:avLst/>
            </a:prstGeom>
            <a:solidFill>
              <a:srgbClr val="10CC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lt1"/>
                  </a:solidFill>
                  <a:latin typeface="Times New Roman"/>
                  <a:ea typeface="Times New Roman"/>
                  <a:cs typeface="Times New Roman"/>
                  <a:sym typeface="Times New Roman"/>
                </a:rPr>
                <a:t>3</a:t>
              </a:r>
              <a:endParaRPr b="1" sz="2800">
                <a:solidFill>
                  <a:schemeClr val="lt1"/>
                </a:solidFill>
                <a:latin typeface="Times New Roman"/>
                <a:ea typeface="Times New Roman"/>
                <a:cs typeface="Times New Roman"/>
                <a:sym typeface="Times New Roman"/>
              </a:endParaRPr>
            </a:p>
          </p:txBody>
        </p:sp>
        <p:sp>
          <p:nvSpPr>
            <p:cNvPr id="316" name="Google Shape;316;p2"/>
            <p:cNvSpPr txBox="1"/>
            <p:nvPr/>
          </p:nvSpPr>
          <p:spPr>
            <a:xfrm>
              <a:off x="1862400" y="4489911"/>
              <a:ext cx="3403283" cy="83099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Kết quả giải pháp đề xuất</a:t>
              </a:r>
              <a:endParaRPr sz="2400">
                <a:solidFill>
                  <a:schemeClr val="dk1"/>
                </a:solidFill>
                <a:latin typeface="Arial"/>
                <a:ea typeface="Arial"/>
                <a:cs typeface="Arial"/>
                <a:sym typeface="Arial"/>
              </a:endParaRPr>
            </a:p>
          </p:txBody>
        </p:sp>
      </p:grpSp>
      <p:grpSp>
        <p:nvGrpSpPr>
          <p:cNvPr id="317" name="Google Shape;317;p2"/>
          <p:cNvGrpSpPr/>
          <p:nvPr/>
        </p:nvGrpSpPr>
        <p:grpSpPr>
          <a:xfrm>
            <a:off x="1033164" y="5575858"/>
            <a:ext cx="4600381" cy="948373"/>
            <a:chOff x="1033164" y="5575858"/>
            <a:chExt cx="4600381" cy="948373"/>
          </a:xfrm>
        </p:grpSpPr>
        <p:sp>
          <p:nvSpPr>
            <p:cNvPr id="318" name="Google Shape;318;p2"/>
            <p:cNvSpPr/>
            <p:nvPr/>
          </p:nvSpPr>
          <p:spPr>
            <a:xfrm>
              <a:off x="1033164" y="5575858"/>
              <a:ext cx="4600381" cy="948373"/>
            </a:xfrm>
            <a:prstGeom prst="roundRect">
              <a:avLst>
                <a:gd fmla="val 6767" name="adj"/>
              </a:avLst>
            </a:prstGeom>
            <a:solidFill>
              <a:srgbClr val="017058"/>
            </a:solidFill>
            <a:ln cap="flat" cmpd="sng" w="19050">
              <a:solidFill>
                <a:srgbClr val="0170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200">
                <a:solidFill>
                  <a:schemeClr val="lt1"/>
                </a:solidFill>
                <a:latin typeface="Arial"/>
                <a:ea typeface="Arial"/>
                <a:cs typeface="Arial"/>
                <a:sym typeface="Arial"/>
              </a:endParaRPr>
            </a:p>
          </p:txBody>
        </p:sp>
        <p:sp>
          <p:nvSpPr>
            <p:cNvPr id="319" name="Google Shape;319;p2"/>
            <p:cNvSpPr/>
            <p:nvPr/>
          </p:nvSpPr>
          <p:spPr>
            <a:xfrm>
              <a:off x="1193005" y="5746434"/>
              <a:ext cx="607219" cy="607219"/>
            </a:xfrm>
            <a:prstGeom prst="ellipse">
              <a:avLst/>
            </a:prstGeom>
            <a:solidFill>
              <a:srgbClr val="10CC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lt1"/>
                  </a:solidFill>
                  <a:latin typeface="Times New Roman"/>
                  <a:ea typeface="Times New Roman"/>
                  <a:cs typeface="Times New Roman"/>
                  <a:sym typeface="Times New Roman"/>
                </a:rPr>
                <a:t>4</a:t>
              </a:r>
              <a:endParaRPr b="1" sz="2800">
                <a:solidFill>
                  <a:schemeClr val="lt1"/>
                </a:solidFill>
                <a:latin typeface="Times New Roman"/>
                <a:ea typeface="Times New Roman"/>
                <a:cs typeface="Times New Roman"/>
                <a:sym typeface="Times New Roman"/>
              </a:endParaRPr>
            </a:p>
          </p:txBody>
        </p:sp>
        <p:sp>
          <p:nvSpPr>
            <p:cNvPr id="320" name="Google Shape;320;p2"/>
            <p:cNvSpPr txBox="1"/>
            <p:nvPr/>
          </p:nvSpPr>
          <p:spPr>
            <a:xfrm>
              <a:off x="1862399" y="5634544"/>
              <a:ext cx="3771146" cy="83099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Arial"/>
                  <a:ea typeface="Arial"/>
                  <a:cs typeface="Arial"/>
                  <a:sym typeface="Arial"/>
                </a:rPr>
                <a:t>Kết luận và hướng phát triển</a:t>
              </a:r>
              <a:endParaRPr sz="2400">
                <a:solidFill>
                  <a:schemeClr val="lt1"/>
                </a:solidFill>
                <a:latin typeface="Arial"/>
                <a:ea typeface="Arial"/>
                <a:cs typeface="Arial"/>
                <a:sym typeface="Arial"/>
              </a:endParaRPr>
            </a:p>
          </p:txBody>
        </p:sp>
      </p:grpSp>
      <p:grpSp>
        <p:nvGrpSpPr>
          <p:cNvPr id="321" name="Google Shape;321;p2"/>
          <p:cNvGrpSpPr/>
          <p:nvPr/>
        </p:nvGrpSpPr>
        <p:grpSpPr>
          <a:xfrm>
            <a:off x="6526924" y="2094865"/>
            <a:ext cx="4600381" cy="948373"/>
            <a:chOff x="1033164" y="3239499"/>
            <a:chExt cx="4600381" cy="948373"/>
          </a:xfrm>
        </p:grpSpPr>
        <p:sp>
          <p:nvSpPr>
            <p:cNvPr id="322" name="Google Shape;322;p2"/>
            <p:cNvSpPr/>
            <p:nvPr/>
          </p:nvSpPr>
          <p:spPr>
            <a:xfrm>
              <a:off x="1033164" y="3239499"/>
              <a:ext cx="4600381" cy="948373"/>
            </a:xfrm>
            <a:prstGeom prst="roundRect">
              <a:avLst>
                <a:gd fmla="val 6767" name="adj"/>
              </a:avLst>
            </a:prstGeom>
            <a:solidFill>
              <a:srgbClr val="017058"/>
            </a:solidFill>
            <a:ln cap="flat" cmpd="sng" w="19050">
              <a:solidFill>
                <a:srgbClr val="0170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200">
                <a:solidFill>
                  <a:schemeClr val="lt1"/>
                </a:solidFill>
                <a:latin typeface="Arial"/>
                <a:ea typeface="Arial"/>
                <a:cs typeface="Arial"/>
                <a:sym typeface="Arial"/>
              </a:endParaRPr>
            </a:p>
          </p:txBody>
        </p:sp>
        <p:sp>
          <p:nvSpPr>
            <p:cNvPr id="323" name="Google Shape;323;p2"/>
            <p:cNvSpPr/>
            <p:nvPr/>
          </p:nvSpPr>
          <p:spPr>
            <a:xfrm>
              <a:off x="1193005" y="3410075"/>
              <a:ext cx="607219" cy="607219"/>
            </a:xfrm>
            <a:prstGeom prst="ellipse">
              <a:avLst/>
            </a:prstGeom>
            <a:solidFill>
              <a:srgbClr val="10CC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lt1"/>
                  </a:solidFill>
                  <a:latin typeface="Times New Roman"/>
                  <a:ea typeface="Times New Roman"/>
                  <a:cs typeface="Times New Roman"/>
                  <a:sym typeface="Times New Roman"/>
                </a:rPr>
                <a:t>5</a:t>
              </a:r>
              <a:endParaRPr b="1" sz="2800">
                <a:solidFill>
                  <a:schemeClr val="lt1"/>
                </a:solidFill>
                <a:latin typeface="Times New Roman"/>
                <a:ea typeface="Times New Roman"/>
                <a:cs typeface="Times New Roman"/>
                <a:sym typeface="Times New Roman"/>
              </a:endParaRPr>
            </a:p>
          </p:txBody>
        </p:sp>
        <p:sp>
          <p:nvSpPr>
            <p:cNvPr id="324" name="Google Shape;324;p2"/>
            <p:cNvSpPr txBox="1"/>
            <p:nvPr/>
          </p:nvSpPr>
          <p:spPr>
            <a:xfrm>
              <a:off x="1862399" y="3482851"/>
              <a:ext cx="3319201" cy="46166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Arial"/>
                  <a:ea typeface="Arial"/>
                  <a:cs typeface="Arial"/>
                  <a:sym typeface="Arial"/>
                </a:rPr>
                <a:t>Phụ lục</a:t>
              </a:r>
              <a:endParaRPr sz="2400">
                <a:solidFill>
                  <a:schemeClr val="lt1"/>
                </a:solidFill>
                <a:latin typeface="Arial"/>
                <a:ea typeface="Arial"/>
                <a:cs typeface="Arial"/>
                <a:sym typeface="Arial"/>
              </a:endParaRPr>
            </a:p>
          </p:txBody>
        </p:sp>
      </p:grpSp>
      <p:grpSp>
        <p:nvGrpSpPr>
          <p:cNvPr id="325" name="Google Shape;325;p2"/>
          <p:cNvGrpSpPr/>
          <p:nvPr/>
        </p:nvGrpSpPr>
        <p:grpSpPr>
          <a:xfrm>
            <a:off x="6526924" y="3306800"/>
            <a:ext cx="4600381" cy="948373"/>
            <a:chOff x="1033164" y="2094865"/>
            <a:chExt cx="4232519" cy="948373"/>
          </a:xfrm>
        </p:grpSpPr>
        <p:sp>
          <p:nvSpPr>
            <p:cNvPr id="326" name="Google Shape;326;p2"/>
            <p:cNvSpPr/>
            <p:nvPr/>
          </p:nvSpPr>
          <p:spPr>
            <a:xfrm>
              <a:off x="1033164" y="2094865"/>
              <a:ext cx="4232519" cy="948373"/>
            </a:xfrm>
            <a:prstGeom prst="roundRect">
              <a:avLst>
                <a:gd fmla="val 6767" name="adj"/>
              </a:avLst>
            </a:prstGeom>
            <a:solidFill>
              <a:schemeClr val="lt1"/>
            </a:solidFill>
            <a:ln cap="flat" cmpd="sng" w="19050">
              <a:solidFill>
                <a:srgbClr val="0170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200">
                <a:solidFill>
                  <a:srgbClr val="000000"/>
                </a:solidFill>
                <a:latin typeface="Arial"/>
                <a:ea typeface="Arial"/>
                <a:cs typeface="Arial"/>
                <a:sym typeface="Arial"/>
              </a:endParaRPr>
            </a:p>
          </p:txBody>
        </p:sp>
        <p:sp>
          <p:nvSpPr>
            <p:cNvPr id="327" name="Google Shape;327;p2"/>
            <p:cNvSpPr/>
            <p:nvPr/>
          </p:nvSpPr>
          <p:spPr>
            <a:xfrm>
              <a:off x="1193006" y="2265441"/>
              <a:ext cx="607219" cy="607219"/>
            </a:xfrm>
            <a:prstGeom prst="ellipse">
              <a:avLst/>
            </a:prstGeom>
            <a:solidFill>
              <a:srgbClr val="10CC5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800">
                  <a:solidFill>
                    <a:schemeClr val="lt1"/>
                  </a:solidFill>
                  <a:latin typeface="Times New Roman"/>
                  <a:ea typeface="Times New Roman"/>
                  <a:cs typeface="Times New Roman"/>
                  <a:sym typeface="Times New Roman"/>
                </a:rPr>
                <a:t>6</a:t>
              </a:r>
              <a:endParaRPr b="1" sz="2800">
                <a:solidFill>
                  <a:schemeClr val="lt1"/>
                </a:solidFill>
                <a:latin typeface="Times New Roman"/>
                <a:ea typeface="Times New Roman"/>
                <a:cs typeface="Times New Roman"/>
                <a:sym typeface="Times New Roman"/>
              </a:endParaRPr>
            </a:p>
          </p:txBody>
        </p:sp>
        <p:sp>
          <p:nvSpPr>
            <p:cNvPr id="328" name="Google Shape;328;p2"/>
            <p:cNvSpPr txBox="1"/>
            <p:nvPr/>
          </p:nvSpPr>
          <p:spPr>
            <a:xfrm>
              <a:off x="1862400" y="2338218"/>
              <a:ext cx="2678070" cy="46166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Tài liệu tham khảo</a:t>
              </a:r>
              <a:endParaRPr sz="2400">
                <a:solidFill>
                  <a:schemeClr val="dk1"/>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
          <p:cNvSpPr txBox="1"/>
          <p:nvPr>
            <p:ph idx="11" type="ftr"/>
          </p:nvPr>
        </p:nvSpPr>
        <p:spPr>
          <a:xfrm>
            <a:off x="723265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334" name="Google Shape;334;p3"/>
          <p:cNvSpPr txBox="1"/>
          <p:nvPr>
            <p:ph idx="12" type="sldNum"/>
          </p:nvPr>
        </p:nvSpPr>
        <p:spPr>
          <a:xfrm>
            <a:off x="10409692" y="332284"/>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35" name="Google Shape;335;p3"/>
          <p:cNvSpPr txBox="1"/>
          <p:nvPr>
            <p:ph type="title"/>
          </p:nvPr>
        </p:nvSpPr>
        <p:spPr>
          <a:xfrm>
            <a:off x="1653362" y="2425382"/>
            <a:ext cx="9177548" cy="150595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Times New Roman"/>
              <a:buNone/>
            </a:pPr>
            <a:r>
              <a:rPr lang="en-US"/>
              <a:t>TỔNG QUAN</a:t>
            </a:r>
            <a:br>
              <a:rPr lang="en-US"/>
            </a:br>
            <a:r>
              <a:rPr lang="en-US"/>
              <a:t>ĐỀ TÀI NGHIÊN CỨU</a:t>
            </a:r>
            <a:endParaRPr/>
          </a:p>
        </p:txBody>
      </p:sp>
      <p:sp>
        <p:nvSpPr>
          <p:cNvPr id="336" name="Google Shape;336;p3"/>
          <p:cNvSpPr txBox="1"/>
          <p:nvPr>
            <p:ph idx="2" type="body"/>
          </p:nvPr>
        </p:nvSpPr>
        <p:spPr>
          <a:xfrm>
            <a:off x="1653362" y="561276"/>
            <a:ext cx="2052637" cy="178593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11500"/>
              <a:buNone/>
            </a:pPr>
            <a:r>
              <a:rPr lang="en-US"/>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1. Tổng quan đề tài nghiên cứu</a:t>
            </a:r>
            <a:endParaRPr/>
          </a:p>
        </p:txBody>
      </p:sp>
      <p:sp>
        <p:nvSpPr>
          <p:cNvPr id="342" name="Google Shape;342;p4"/>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130000"/>
              </a:lnSpc>
              <a:spcBef>
                <a:spcPts val="0"/>
              </a:spcBef>
              <a:spcAft>
                <a:spcPts val="0"/>
              </a:spcAft>
              <a:buClr>
                <a:schemeClr val="dk1"/>
              </a:buClr>
              <a:buSzPct val="100000"/>
              <a:buFont typeface="Noto Sans Symbols"/>
              <a:buChar char="❑"/>
            </a:pPr>
            <a:r>
              <a:rPr b="1" lang="en-US"/>
              <a:t> Bối cảnh "Power Wall":</a:t>
            </a:r>
            <a:r>
              <a:rPr lang="en-US"/>
              <a:t> Thiết kế vi xử lý đơn nhân đã chạm giới hạn vật lý. Việc cố tăng xung nhịp (clock rate) dẫn đến rào cản Bức tường nhiệt (Power Wall), buộc phải chuyển dịch sang kiến trúc Đa lõi (Multicore).</a:t>
            </a:r>
            <a:endParaRPr/>
          </a:p>
          <a:p>
            <a:pPr indent="-228600" lvl="0" marL="228600" rtl="0" algn="l">
              <a:lnSpc>
                <a:spcPct val="130000"/>
              </a:lnSpc>
              <a:spcBef>
                <a:spcPts val="600"/>
              </a:spcBef>
              <a:spcAft>
                <a:spcPts val="0"/>
              </a:spcAft>
              <a:buClr>
                <a:schemeClr val="dk1"/>
              </a:buClr>
              <a:buSzPct val="100000"/>
              <a:buFont typeface="Noto Sans Symbols"/>
              <a:buChar char="❑"/>
            </a:pPr>
            <a:r>
              <a:rPr b="1" lang="en-US"/>
              <a:t> Phân loại luồng lệnh (Flynn's Taxonomy):</a:t>
            </a:r>
            <a:r>
              <a:rPr lang="en-US"/>
              <a:t> Hệ thống Đa lõi thuộc nhóm kiến trúc </a:t>
            </a:r>
            <a:r>
              <a:rPr b="1" lang="en-US"/>
              <a:t>MIMD</a:t>
            </a:r>
            <a:r>
              <a:rPr lang="en-US"/>
              <a:t> (Multiple Instruction, Multiple Data), cho phép các nhân xử lý luồng lệnh và tập dữ liệu hoàn toàn độc lập.</a:t>
            </a:r>
            <a:endParaRPr/>
          </a:p>
          <a:p>
            <a:pPr indent="-228600" lvl="0" marL="228600" rtl="0" algn="l">
              <a:lnSpc>
                <a:spcPct val="130000"/>
              </a:lnSpc>
              <a:spcBef>
                <a:spcPts val="600"/>
              </a:spcBef>
              <a:spcAft>
                <a:spcPts val="0"/>
              </a:spcAft>
              <a:buClr>
                <a:schemeClr val="dk1"/>
              </a:buClr>
              <a:buSzPct val="100000"/>
              <a:buFont typeface="Noto Sans Symbols"/>
              <a:buChar char="❑"/>
            </a:pPr>
            <a:r>
              <a:rPr b="1" lang="en-US"/>
              <a:t>Định hướng thiết kế:</a:t>
            </a:r>
            <a:r>
              <a:rPr lang="en-US"/>
              <a:t> Đồ án tập trung vào kiến trúc </a:t>
            </a:r>
            <a:r>
              <a:rPr b="1" lang="en-US"/>
              <a:t>Đồng nhất (Homogeneous Multicore)</a:t>
            </a:r>
            <a:r>
              <a:rPr lang="en-US"/>
              <a:t>, sử dụng 2 nhân xử lý có cùng vi kiến trúc chuẩn RISC-V (RV32I) để tối ưu chi phí thiết kế và tài nguyên phần cứng.</a:t>
            </a:r>
            <a:endParaRPr/>
          </a:p>
          <a:p>
            <a:pPr indent="-77470" lvl="0" marL="228600" rtl="0" algn="l">
              <a:lnSpc>
                <a:spcPct val="130000"/>
              </a:lnSpc>
              <a:spcBef>
                <a:spcPts val="600"/>
              </a:spcBef>
              <a:spcAft>
                <a:spcPts val="0"/>
              </a:spcAft>
              <a:buClr>
                <a:schemeClr val="dk1"/>
              </a:buClr>
              <a:buSzPct val="100000"/>
              <a:buNone/>
            </a:pPr>
            <a:r>
              <a:t/>
            </a:r>
            <a:endParaRPr/>
          </a:p>
        </p:txBody>
      </p:sp>
      <p:sp>
        <p:nvSpPr>
          <p:cNvPr id="343" name="Google Shape;343;p4"/>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344" name="Google Shape;344;p4"/>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1. Tổng quan đề tài nghiên cứu</a:t>
            </a:r>
            <a:endParaRPr/>
          </a:p>
        </p:txBody>
      </p:sp>
      <p:sp>
        <p:nvSpPr>
          <p:cNvPr id="350" name="Google Shape;350;p5"/>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130000"/>
              </a:lnSpc>
              <a:spcBef>
                <a:spcPts val="0"/>
              </a:spcBef>
              <a:spcAft>
                <a:spcPts val="0"/>
              </a:spcAft>
              <a:buClr>
                <a:schemeClr val="dk1"/>
              </a:buClr>
              <a:buSzPct val="100000"/>
              <a:buChar char="•"/>
            </a:pPr>
            <a:r>
              <a:rPr b="1" lang="en-US">
                <a:latin typeface="Times New Roman"/>
                <a:ea typeface="Times New Roman"/>
                <a:cs typeface="Times New Roman"/>
                <a:sym typeface="Times New Roman"/>
              </a:rPr>
              <a:t> </a:t>
            </a:r>
            <a:r>
              <a:rPr b="1" lang="en-US"/>
              <a:t>Giới hạn của Shared Bus:</a:t>
            </a:r>
            <a:r>
              <a:rPr lang="en-US"/>
              <a:t> Cơ chế liên kết trục đường chung (Shared Bus) giúp tiết kiệm diện tích nhưng rất dễ trở thành nút thắt cổ chai (Bottleneck) khi mở rộng số lượng lõi.</a:t>
            </a:r>
            <a:endParaRPr/>
          </a:p>
          <a:p>
            <a:pPr indent="-228600" lvl="0" marL="228600" rtl="0" algn="l">
              <a:lnSpc>
                <a:spcPct val="130000"/>
              </a:lnSpc>
              <a:spcBef>
                <a:spcPts val="600"/>
              </a:spcBef>
              <a:spcAft>
                <a:spcPts val="0"/>
              </a:spcAft>
              <a:buClr>
                <a:schemeClr val="dk1"/>
              </a:buClr>
              <a:buSzPct val="100000"/>
              <a:buChar char="•"/>
            </a:pPr>
            <a:r>
              <a:rPr b="1" lang="en-US"/>
              <a:t>Hiện tượng xung đột (Bus Contention):</a:t>
            </a:r>
            <a:r>
              <a:rPr lang="en-US"/>
              <a:t> Xảy ra khi Core 0 và Core 1 đồng thời phát tín hiệu đọc/ghi vào cùng một phân vùng Single-Port RAM, gây nguy cơ sai lệch trạng thái hoặc mất mát dữ liệu.</a:t>
            </a:r>
            <a:endParaRPr/>
          </a:p>
          <a:p>
            <a:pPr indent="-228600" lvl="0" marL="228600" rtl="0" algn="l">
              <a:lnSpc>
                <a:spcPct val="130000"/>
              </a:lnSpc>
              <a:spcBef>
                <a:spcPts val="600"/>
              </a:spcBef>
              <a:spcAft>
                <a:spcPts val="0"/>
              </a:spcAft>
              <a:buClr>
                <a:schemeClr val="dk1"/>
              </a:buClr>
              <a:buSzPct val="100000"/>
              <a:buChar char="•"/>
            </a:pPr>
            <a:r>
              <a:rPr b="1" lang="en-US"/>
              <a:t>Bài toán "Bỏ đói" (Starvation):</a:t>
            </a:r>
            <a:r>
              <a:rPr lang="en-US"/>
              <a:t> Nếu không có cơ chế điều phối phần cứng, một "luồng tham lam" từ Core này có thể chiếm dụng toàn bộ băng thông đường truyền, khiến Core còn lại bị treo (Starvation).</a:t>
            </a:r>
            <a:endParaRPr/>
          </a:p>
          <a:p>
            <a:pPr indent="-77470" lvl="0" marL="228600" rtl="0" algn="l">
              <a:lnSpc>
                <a:spcPct val="130000"/>
              </a:lnSpc>
              <a:spcBef>
                <a:spcPts val="600"/>
              </a:spcBef>
              <a:spcAft>
                <a:spcPts val="0"/>
              </a:spcAft>
              <a:buClr>
                <a:schemeClr val="dk1"/>
              </a:buClr>
              <a:buSzPct val="100000"/>
              <a:buNone/>
            </a:pPr>
            <a:r>
              <a:t/>
            </a:r>
            <a:endParaRPr/>
          </a:p>
        </p:txBody>
      </p:sp>
      <p:sp>
        <p:nvSpPr>
          <p:cNvPr id="351" name="Google Shape;351;p5"/>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352" name="Google Shape;352;p5"/>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6"/>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1. Tổng quan đề tài nghiên cứu</a:t>
            </a:r>
            <a:endParaRPr/>
          </a:p>
        </p:txBody>
      </p:sp>
      <p:sp>
        <p:nvSpPr>
          <p:cNvPr id="358" name="Google Shape;358;p6"/>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30000"/>
              </a:lnSpc>
              <a:spcBef>
                <a:spcPts val="0"/>
              </a:spcBef>
              <a:spcAft>
                <a:spcPts val="0"/>
              </a:spcAft>
              <a:buClr>
                <a:schemeClr val="dk1"/>
              </a:buClr>
              <a:buSzPct val="100000"/>
              <a:buChar char="•"/>
            </a:pPr>
            <a:r>
              <a:rPr b="1" lang="en-US">
                <a:latin typeface="Google Sans"/>
                <a:ea typeface="Google Sans"/>
                <a:cs typeface="Google Sans"/>
                <a:sym typeface="Google Sans"/>
              </a:rPr>
              <a:t> </a:t>
            </a:r>
            <a:r>
              <a:rPr b="1" lang="en-US"/>
              <a:t>Tính cấp thiết:</a:t>
            </a:r>
            <a:r>
              <a:rPr lang="en-US"/>
              <a:t> Hệ thống yêu cầu một cơ chế phân xử đường truyền tự động (Hardware Arbiter) đảm bảo tính công bằng với độ trễ thấp nhất mà không cần phụ thuộc vào Hệ điều hành.</a:t>
            </a:r>
            <a:endParaRPr/>
          </a:p>
          <a:p>
            <a:pPr indent="-228600" lvl="0" marL="228600" rtl="0" algn="l">
              <a:lnSpc>
                <a:spcPct val="130000"/>
              </a:lnSpc>
              <a:spcBef>
                <a:spcPts val="600"/>
              </a:spcBef>
              <a:spcAft>
                <a:spcPts val="0"/>
              </a:spcAft>
              <a:buClr>
                <a:schemeClr val="dk1"/>
              </a:buClr>
              <a:buSzPct val="100000"/>
              <a:buChar char="•"/>
            </a:pPr>
            <a:r>
              <a:rPr b="1" lang="en-US"/>
              <a:t>Mục tiêu 1:</a:t>
            </a:r>
            <a:r>
              <a:rPr lang="en-US"/>
              <a:t> Hoàn thiện thiết kế hệ thống Đa lõi đối xứng sử dụng 2 nhân PicoRV32 (RV32I) ở mức thanh ghi-chuyển (RTL - Register-Transfer Level).</a:t>
            </a:r>
            <a:endParaRPr/>
          </a:p>
          <a:p>
            <a:pPr indent="-228600" lvl="0" marL="228600" rtl="0" algn="l">
              <a:lnSpc>
                <a:spcPct val="130000"/>
              </a:lnSpc>
              <a:spcBef>
                <a:spcPts val="600"/>
              </a:spcBef>
              <a:spcAft>
                <a:spcPts val="0"/>
              </a:spcAft>
              <a:buClr>
                <a:schemeClr val="dk1"/>
              </a:buClr>
              <a:buSzPct val="100000"/>
              <a:buChar char="•"/>
            </a:pPr>
            <a:r>
              <a:rPr b="1" lang="en-US"/>
              <a:t>Mục tiêu 2:</a:t>
            </a:r>
            <a:r>
              <a:rPr lang="en-US"/>
              <a:t> Xây dựng thành công module Bus Arbiter điều khiển luồng truy cập RAM độc lập, giải quyết triệt để tranh chấp ở cấp độ tín hiệu phần cứng.</a:t>
            </a:r>
            <a:endParaRPr/>
          </a:p>
        </p:txBody>
      </p:sp>
      <p:sp>
        <p:nvSpPr>
          <p:cNvPr id="359" name="Google Shape;359;p6"/>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360" name="Google Shape;360;p6"/>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7"/>
          <p:cNvSpPr txBox="1"/>
          <p:nvPr>
            <p:ph idx="11" type="ftr"/>
          </p:nvPr>
        </p:nvSpPr>
        <p:spPr>
          <a:xfrm>
            <a:off x="723265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366" name="Google Shape;366;p7"/>
          <p:cNvSpPr txBox="1"/>
          <p:nvPr>
            <p:ph idx="12" type="sldNum"/>
          </p:nvPr>
        </p:nvSpPr>
        <p:spPr>
          <a:xfrm>
            <a:off x="10409692" y="332284"/>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67" name="Google Shape;367;p7"/>
          <p:cNvSpPr txBox="1"/>
          <p:nvPr>
            <p:ph type="title"/>
          </p:nvPr>
        </p:nvSpPr>
        <p:spPr>
          <a:xfrm>
            <a:off x="1653362" y="2425382"/>
            <a:ext cx="9177548" cy="150595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Times New Roman"/>
              <a:buNone/>
            </a:pPr>
            <a:r>
              <a:rPr lang="en-US"/>
              <a:t>GIẢI PHÁP ĐỀ XUẤT</a:t>
            </a:r>
            <a:br>
              <a:rPr lang="en-US"/>
            </a:br>
            <a:r>
              <a:rPr lang="en-US"/>
              <a:t>CỦA ĐỀ TÀI</a:t>
            </a:r>
            <a:endParaRPr/>
          </a:p>
        </p:txBody>
      </p:sp>
      <p:sp>
        <p:nvSpPr>
          <p:cNvPr id="368" name="Google Shape;368;p7"/>
          <p:cNvSpPr txBox="1"/>
          <p:nvPr>
            <p:ph idx="2" type="body"/>
          </p:nvPr>
        </p:nvSpPr>
        <p:spPr>
          <a:xfrm>
            <a:off x="1653362" y="561276"/>
            <a:ext cx="2052637" cy="178593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11500"/>
              <a:buNone/>
            </a:pPr>
            <a:r>
              <a:rPr lang="en-US"/>
              <a:t>02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 đề xuất của đề tài</a:t>
            </a:r>
            <a:endParaRPr/>
          </a:p>
        </p:txBody>
      </p:sp>
      <p:sp>
        <p:nvSpPr>
          <p:cNvPr id="374" name="Google Shape;374;p8"/>
          <p:cNvSpPr txBox="1"/>
          <p:nvPr>
            <p:ph idx="1" type="body"/>
          </p:nvPr>
        </p:nvSpPr>
        <p:spPr>
          <a:xfrm>
            <a:off x="606000" y="2381683"/>
            <a:ext cx="10980000" cy="4156684"/>
          </a:xfrm>
          <a:prstGeom prst="rect">
            <a:avLst/>
          </a:prstGeom>
          <a:noFill/>
          <a:ln>
            <a:noFill/>
          </a:ln>
        </p:spPr>
        <p:txBody>
          <a:bodyPr anchorCtr="0" anchor="t" bIns="45700" lIns="91425" spcFirstLastPara="1" rIns="91425" wrap="square" tIns="45700">
            <a:normAutofit/>
          </a:bodyPr>
          <a:lstStyle/>
          <a:p>
            <a:pPr indent="-228600" lvl="0" marL="228600" rtl="0" algn="l">
              <a:lnSpc>
                <a:spcPct val="130000"/>
              </a:lnSpc>
              <a:spcBef>
                <a:spcPts val="0"/>
              </a:spcBef>
              <a:spcAft>
                <a:spcPts val="0"/>
              </a:spcAft>
              <a:buClr>
                <a:schemeClr val="dk1"/>
              </a:buClr>
              <a:buSzPts val="2400"/>
              <a:buFont typeface="Noto Sans Symbols"/>
              <a:buChar char="❑"/>
            </a:pPr>
            <a:r>
              <a:rPr b="1" lang="en-US" sz="2400"/>
              <a:t> Phân tích lý thuyết của giải pháp:</a:t>
            </a:r>
            <a:r>
              <a:rPr lang="en-US" sz="2400"/>
              <a:t> </a:t>
            </a:r>
            <a:endParaRPr/>
          </a:p>
          <a:p>
            <a:pPr indent="-228600" lvl="0" marL="228600" rtl="0" algn="l">
              <a:lnSpc>
                <a:spcPct val="130000"/>
              </a:lnSpc>
              <a:spcBef>
                <a:spcPts val="600"/>
              </a:spcBef>
              <a:spcAft>
                <a:spcPts val="0"/>
              </a:spcAft>
              <a:buClr>
                <a:schemeClr val="dk1"/>
              </a:buClr>
              <a:buSzPts val="2400"/>
              <a:buFont typeface="Noto Sans Symbols"/>
              <a:buChar char="❑"/>
            </a:pPr>
            <a:r>
              <a:rPr b="1" lang="en-US" sz="2400"/>
              <a:t> Cơ chế Handshake (Bắt tay):</a:t>
            </a:r>
            <a:r>
              <a:rPr lang="en-US" sz="2400"/>
              <a:t> Giao tiếp giữa Master (Core) và Slave (RAM) thông qua 2 tín hiệu cốt lõi là valid (yêu cầu) và ready (sẵn sàng). Giao dịch chỉ chốt tại sườn lên xung nhịp khi cả hai tín hiệu đều đạt mức 1. </a:t>
            </a:r>
            <a:endParaRPr/>
          </a:p>
          <a:p>
            <a:pPr indent="-228600" lvl="0" marL="228600" rtl="0" algn="l">
              <a:lnSpc>
                <a:spcPct val="130000"/>
              </a:lnSpc>
              <a:spcBef>
                <a:spcPts val="600"/>
              </a:spcBef>
              <a:spcAft>
                <a:spcPts val="0"/>
              </a:spcAft>
              <a:buClr>
                <a:schemeClr val="dk1"/>
              </a:buClr>
              <a:buSzPts val="2400"/>
              <a:buFont typeface="Noto Sans Symbols"/>
              <a:buChar char="❑"/>
            </a:pPr>
            <a:r>
              <a:rPr b="1" lang="en-US" sz="2400"/>
              <a:t> Cơ chế Stall (Dừng đợi):</a:t>
            </a:r>
            <a:r>
              <a:rPr lang="en-US" sz="2400"/>
              <a:t> Trạng thái phần cứng hợp lệ khi ready = 0. Mạch tổ hợp bên trong CPU bị đóng băng, thanh ghi Program Counter tịnh tiến bị khóa, bảo toàn tuyệt đối trạng thái dữ liệu (không sinh rác tín hiệu). </a:t>
            </a:r>
            <a:endParaRPr/>
          </a:p>
        </p:txBody>
      </p:sp>
      <p:sp>
        <p:nvSpPr>
          <p:cNvPr id="375" name="Google Shape;375;p8"/>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376" name="Google Shape;376;p8"/>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77" name="Google Shape;377;p8"/>
          <p:cNvSpPr txBox="1"/>
          <p:nvPr/>
        </p:nvSpPr>
        <p:spPr>
          <a:xfrm>
            <a:off x="745236" y="1833262"/>
            <a:ext cx="85725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017058"/>
                </a:solidFill>
                <a:latin typeface="Times New Roman"/>
                <a:ea typeface="Times New Roman"/>
                <a:cs typeface="Times New Roman"/>
                <a:sym typeface="Times New Roman"/>
              </a:rPr>
              <a:t>2.1 Phân tích giao thức Handshake</a:t>
            </a:r>
            <a:endParaRPr sz="28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9"/>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 đề xuất của đề tài</a:t>
            </a:r>
            <a:endParaRPr/>
          </a:p>
        </p:txBody>
      </p:sp>
      <p:sp>
        <p:nvSpPr>
          <p:cNvPr id="383" name="Google Shape;383;p9"/>
          <p:cNvSpPr txBox="1"/>
          <p:nvPr>
            <p:ph idx="1" type="body"/>
          </p:nvPr>
        </p:nvSpPr>
        <p:spPr>
          <a:xfrm>
            <a:off x="606000" y="2541864"/>
            <a:ext cx="5227872" cy="3722153"/>
          </a:xfrm>
          <a:prstGeom prst="rect">
            <a:avLst/>
          </a:prstGeom>
          <a:noFill/>
          <a:ln>
            <a:noFill/>
          </a:ln>
        </p:spPr>
        <p:txBody>
          <a:bodyPr anchorCtr="0" anchor="t" bIns="45700" lIns="91425" spcFirstLastPara="1" rIns="91425" wrap="square" tIns="45700">
            <a:noAutofit/>
          </a:bodyPr>
          <a:lstStyle/>
          <a:p>
            <a:pPr indent="-228600" lvl="0" marL="228600" rtl="0" algn="l">
              <a:lnSpc>
                <a:spcPct val="130000"/>
              </a:lnSpc>
              <a:spcBef>
                <a:spcPts val="0"/>
              </a:spcBef>
              <a:spcAft>
                <a:spcPts val="0"/>
              </a:spcAft>
              <a:buClr>
                <a:schemeClr val="dk1"/>
              </a:buClr>
              <a:buSzPts val="2000"/>
              <a:buChar char="•"/>
            </a:pPr>
            <a:r>
              <a:rPr b="1" lang="en-US" sz="2000"/>
              <a:t>Phân tích thiết kế của giải pháp:</a:t>
            </a:r>
            <a:r>
              <a:rPr lang="en-US" sz="2000"/>
              <a:t> </a:t>
            </a:r>
            <a:endParaRPr/>
          </a:p>
          <a:p>
            <a:pPr indent="-228600" lvl="0" marL="228600" rtl="0" algn="l">
              <a:lnSpc>
                <a:spcPct val="130000"/>
              </a:lnSpc>
              <a:spcBef>
                <a:spcPts val="600"/>
              </a:spcBef>
              <a:spcAft>
                <a:spcPts val="0"/>
              </a:spcAft>
              <a:buClr>
                <a:schemeClr val="dk1"/>
              </a:buClr>
              <a:buSzPts val="2000"/>
              <a:buChar char="•"/>
            </a:pPr>
            <a:r>
              <a:rPr b="1" lang="en-US" sz="2000"/>
              <a:t>Sơ đồ khối Top-Level:</a:t>
            </a:r>
            <a:r>
              <a:rPr lang="en-US" sz="2000"/>
              <a:t> Hệ thống DUAL_CORE bao gồm 2 thực thể độc lập ghép nối qua khối trung tâm Arbiter. </a:t>
            </a:r>
            <a:endParaRPr/>
          </a:p>
          <a:p>
            <a:pPr indent="-228600" lvl="0" marL="228600" rtl="0" algn="l">
              <a:lnSpc>
                <a:spcPct val="130000"/>
              </a:lnSpc>
              <a:spcBef>
                <a:spcPts val="600"/>
              </a:spcBef>
              <a:spcAft>
                <a:spcPts val="0"/>
              </a:spcAft>
              <a:buClr>
                <a:schemeClr val="dk1"/>
              </a:buClr>
              <a:buSzPts val="2000"/>
              <a:buChar char="•"/>
            </a:pPr>
            <a:r>
              <a:rPr b="1" lang="en-US" sz="2000"/>
              <a:t>Tổ chức bộ nhớ:</a:t>
            </a:r>
            <a:r>
              <a:rPr lang="en-US" sz="2000"/>
              <a:t> Khối SINGLE_PORT_RAM tích hợp cơ chế Byte-masking (wstrb) phục vụ ghi đè linh hoạt trên bus 32-bit.</a:t>
            </a:r>
            <a:endParaRPr/>
          </a:p>
        </p:txBody>
      </p:sp>
      <p:sp>
        <p:nvSpPr>
          <p:cNvPr id="384" name="Google Shape;384;p9"/>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385" name="Google Shape;385;p9"/>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86" name="Google Shape;386;p9"/>
          <p:cNvPicPr preferRelativeResize="0"/>
          <p:nvPr/>
        </p:nvPicPr>
        <p:blipFill rotWithShape="1">
          <a:blip r:embed="rId3">
            <a:alphaModFix/>
          </a:blip>
          <a:srcRect b="0" l="0" r="0" t="0"/>
          <a:stretch/>
        </p:blipFill>
        <p:spPr>
          <a:xfrm>
            <a:off x="6588498" y="1927430"/>
            <a:ext cx="4520245" cy="4029112"/>
          </a:xfrm>
          <a:prstGeom prst="rect">
            <a:avLst/>
          </a:prstGeom>
          <a:noFill/>
          <a:ln>
            <a:noFill/>
          </a:ln>
        </p:spPr>
      </p:pic>
      <p:sp>
        <p:nvSpPr>
          <p:cNvPr id="387" name="Google Shape;387;p9"/>
          <p:cNvSpPr txBox="1"/>
          <p:nvPr/>
        </p:nvSpPr>
        <p:spPr>
          <a:xfrm>
            <a:off x="8041816" y="5987018"/>
            <a:ext cx="661111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200">
                <a:solidFill>
                  <a:schemeClr val="dk1"/>
                </a:solidFill>
                <a:latin typeface="Arial"/>
                <a:ea typeface="Arial"/>
                <a:cs typeface="Arial"/>
                <a:sym typeface="Arial"/>
              </a:rPr>
              <a:t>Sơ đồ kết nối hệ thống </a:t>
            </a:r>
            <a:endParaRPr i="1" sz="1200">
              <a:solidFill>
                <a:schemeClr val="dk1"/>
              </a:solidFill>
              <a:latin typeface="Arial"/>
              <a:ea typeface="Arial"/>
              <a:cs typeface="Arial"/>
              <a:sym typeface="Arial"/>
            </a:endParaRPr>
          </a:p>
        </p:txBody>
      </p:sp>
      <p:sp>
        <p:nvSpPr>
          <p:cNvPr id="388" name="Google Shape;388;p9"/>
          <p:cNvSpPr txBox="1"/>
          <p:nvPr/>
        </p:nvSpPr>
        <p:spPr>
          <a:xfrm>
            <a:off x="690040" y="1834923"/>
            <a:ext cx="735177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7058"/>
              </a:buClr>
              <a:buSzPts val="2800"/>
              <a:buFont typeface="Times New Roman"/>
              <a:buNone/>
            </a:pPr>
            <a:r>
              <a:rPr b="1" i="0" lang="en-US" sz="2800" u="none" cap="none" strike="noStrike">
                <a:solidFill>
                  <a:srgbClr val="017058"/>
                </a:solidFill>
                <a:latin typeface="Times New Roman"/>
                <a:ea typeface="Times New Roman"/>
                <a:cs typeface="Times New Roman"/>
                <a:sym typeface="Times New Roman"/>
              </a:rPr>
              <a:t>2.2 Sơ đồ khối Top-Level</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10"/>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 đề xuất của đề tài</a:t>
            </a:r>
            <a:endParaRPr/>
          </a:p>
        </p:txBody>
      </p:sp>
      <p:sp>
        <p:nvSpPr>
          <p:cNvPr id="394" name="Google Shape;394;p10"/>
          <p:cNvSpPr txBox="1"/>
          <p:nvPr>
            <p:ph idx="1" type="body"/>
          </p:nvPr>
        </p:nvSpPr>
        <p:spPr>
          <a:xfrm>
            <a:off x="606000" y="2420661"/>
            <a:ext cx="11134896" cy="3722153"/>
          </a:xfrm>
          <a:prstGeom prst="rect">
            <a:avLst/>
          </a:prstGeom>
          <a:noFill/>
          <a:ln>
            <a:noFill/>
          </a:ln>
        </p:spPr>
        <p:txBody>
          <a:bodyPr anchorCtr="0" anchor="t" bIns="45700" lIns="91425" spcFirstLastPara="1" rIns="91425" wrap="square" tIns="45700">
            <a:noAutofit/>
          </a:bodyPr>
          <a:lstStyle/>
          <a:p>
            <a:pPr indent="-228600" lvl="0" marL="228600" rtl="0" algn="l">
              <a:lnSpc>
                <a:spcPct val="130000"/>
              </a:lnSpc>
              <a:spcBef>
                <a:spcPts val="0"/>
              </a:spcBef>
              <a:spcAft>
                <a:spcPts val="0"/>
              </a:spcAft>
              <a:buClr>
                <a:schemeClr val="dk1"/>
              </a:buClr>
              <a:buSzPts val="2000"/>
              <a:buChar char="•"/>
            </a:pPr>
            <a:r>
              <a:rPr b="1" lang="en-US" sz="2000">
                <a:latin typeface="Times New Roman"/>
                <a:ea typeface="Times New Roman"/>
                <a:cs typeface="Times New Roman"/>
                <a:sym typeface="Times New Roman"/>
              </a:rPr>
              <a:t>Nội dung cốt lõi:</a:t>
            </a:r>
            <a:r>
              <a:rPr lang="en-US" sz="2000">
                <a:latin typeface="Times New Roman"/>
                <a:ea typeface="Times New Roman"/>
                <a:cs typeface="Times New Roman"/>
                <a:sym typeface="Times New Roman"/>
              </a:rPr>
              <a:t> Để hai Core chạy độc lập mà không dẫm chân lên nhau trong cùng 1 thanh RAM, nhóm đã can thiệp vào tham số PROGADDR_RESET khi khởi tạo (Instantiate) lõi PicoRV32.</a:t>
            </a:r>
            <a:endParaRPr/>
          </a:p>
          <a:p>
            <a:pPr indent="-228600" lvl="0" marL="228600" rtl="0" algn="l">
              <a:lnSpc>
                <a:spcPct val="130000"/>
              </a:lnSpc>
              <a:spcBef>
                <a:spcPts val="600"/>
              </a:spcBef>
              <a:spcAft>
                <a:spcPts val="0"/>
              </a:spcAft>
              <a:buClr>
                <a:schemeClr val="dk1"/>
              </a:buClr>
              <a:buSzPts val="2000"/>
              <a:buChar char="•"/>
            </a:pPr>
            <a:r>
              <a:rPr b="1" lang="en-US" sz="2000">
                <a:latin typeface="Times New Roman"/>
                <a:ea typeface="Times New Roman"/>
                <a:cs typeface="Times New Roman"/>
                <a:sym typeface="Times New Roman"/>
              </a:rPr>
              <a:t>Theo dual_core.v:</a:t>
            </a:r>
            <a:endParaRPr sz="2000">
              <a:latin typeface="Times New Roman"/>
              <a:ea typeface="Times New Roman"/>
              <a:cs typeface="Times New Roman"/>
              <a:sym typeface="Times New Roman"/>
            </a:endParaRPr>
          </a:p>
          <a:p>
            <a:pPr indent="-228600" lvl="1" marL="685800" rtl="0" algn="l">
              <a:lnSpc>
                <a:spcPct val="130000"/>
              </a:lnSpc>
              <a:spcBef>
                <a:spcPts val="600"/>
              </a:spcBef>
              <a:spcAft>
                <a:spcPts val="0"/>
              </a:spcAft>
              <a:buClr>
                <a:schemeClr val="dk1"/>
              </a:buClr>
              <a:buSzPts val="1600"/>
              <a:buFont typeface="Courier New"/>
              <a:buChar char="o"/>
            </a:pPr>
            <a:r>
              <a:rPr b="1" lang="en-US" sz="1600">
                <a:latin typeface="Times New Roman"/>
                <a:ea typeface="Times New Roman"/>
                <a:cs typeface="Times New Roman"/>
                <a:sym typeface="Times New Roman"/>
              </a:rPr>
              <a:t> </a:t>
            </a:r>
            <a:r>
              <a:rPr b="1" lang="en-US" sz="2000">
                <a:latin typeface="Times New Roman"/>
                <a:ea typeface="Times New Roman"/>
                <a:cs typeface="Times New Roman"/>
                <a:sym typeface="Times New Roman"/>
              </a:rPr>
              <a:t>Core 0:</a:t>
            </a:r>
            <a:r>
              <a:rPr lang="en-US" sz="2000">
                <a:latin typeface="Times New Roman"/>
                <a:ea typeface="Times New Roman"/>
                <a:cs typeface="Times New Roman"/>
                <a:sym typeface="Times New Roman"/>
              </a:rPr>
              <a:t> Khởi động tại địa chỉ gốc PROGADDR_RESET(32'h0000_0000). Đảm nhiệm không gian bộ nhớ thấp.</a:t>
            </a:r>
            <a:endParaRPr/>
          </a:p>
          <a:p>
            <a:pPr indent="-228600" lvl="1" marL="685800" rtl="0" algn="l">
              <a:lnSpc>
                <a:spcPct val="130000"/>
              </a:lnSpc>
              <a:spcBef>
                <a:spcPts val="600"/>
              </a:spcBef>
              <a:spcAft>
                <a:spcPts val="0"/>
              </a:spcAft>
              <a:buClr>
                <a:schemeClr val="dk1"/>
              </a:buClr>
              <a:buSzPts val="2000"/>
              <a:buFont typeface="Courier New"/>
              <a:buChar char="o"/>
            </a:pPr>
            <a:r>
              <a:rPr b="1" lang="en-US" sz="2000">
                <a:latin typeface="Times New Roman"/>
                <a:ea typeface="Times New Roman"/>
                <a:cs typeface="Times New Roman"/>
                <a:sym typeface="Times New Roman"/>
              </a:rPr>
              <a:t>Core 1:</a:t>
            </a:r>
            <a:r>
              <a:rPr lang="en-US" sz="2000">
                <a:latin typeface="Times New Roman"/>
                <a:ea typeface="Times New Roman"/>
                <a:cs typeface="Times New Roman"/>
                <a:sym typeface="Times New Roman"/>
              </a:rPr>
              <a:t> Khởi động tại địa chỉ tịnh tiến PROGADDR_RESET(32'h0000_1000). Đảm nhiệm không gian bộ nhớ cao.</a:t>
            </a:r>
            <a:endParaRPr/>
          </a:p>
          <a:p>
            <a:pPr indent="-228600" lvl="0" marL="228600" rtl="0" algn="l">
              <a:lnSpc>
                <a:spcPct val="130000"/>
              </a:lnSpc>
              <a:spcBef>
                <a:spcPts val="600"/>
              </a:spcBef>
              <a:spcAft>
                <a:spcPts val="0"/>
              </a:spcAft>
              <a:buClr>
                <a:schemeClr val="dk1"/>
              </a:buClr>
              <a:buSzPts val="2000"/>
              <a:buChar char="•"/>
            </a:pPr>
            <a:r>
              <a:rPr b="1" lang="en-US" sz="2000">
                <a:latin typeface="Times New Roman"/>
                <a:ea typeface="Times New Roman"/>
                <a:cs typeface="Times New Roman"/>
                <a:sym typeface="Times New Roman"/>
              </a:rPr>
              <a:t>Đánh giá:</a:t>
            </a:r>
            <a:r>
              <a:rPr lang="en-US" sz="2000">
                <a:latin typeface="Times New Roman"/>
                <a:ea typeface="Times New Roman"/>
                <a:cs typeface="Times New Roman"/>
                <a:sym typeface="Times New Roman"/>
              </a:rPr>
              <a:t> Giải pháp này tạo ra hai phân vùng nạp lệnh (Instruction Fetch) hoàn toàn cách ly về mặt vật lý trên Single-Port RAM.</a:t>
            </a:r>
            <a:endParaRPr/>
          </a:p>
        </p:txBody>
      </p:sp>
      <p:sp>
        <p:nvSpPr>
          <p:cNvPr id="395" name="Google Shape;395;p10"/>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396" name="Google Shape;396;p10"/>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97" name="Google Shape;397;p10"/>
          <p:cNvSpPr txBox="1"/>
          <p:nvPr/>
        </p:nvSpPr>
        <p:spPr>
          <a:xfrm>
            <a:off x="715728" y="1758991"/>
            <a:ext cx="941582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7058"/>
              </a:buClr>
              <a:buSzPts val="2800"/>
              <a:buFont typeface="Times New Roman"/>
              <a:buNone/>
            </a:pPr>
            <a:r>
              <a:rPr b="1" i="0" lang="en-US" sz="2800" u="none" cap="none" strike="noStrike">
                <a:solidFill>
                  <a:srgbClr val="017058"/>
                </a:solidFill>
                <a:latin typeface="Times New Roman"/>
                <a:ea typeface="Times New Roman"/>
                <a:cs typeface="Times New Roman"/>
                <a:sym typeface="Times New Roman"/>
              </a:rPr>
              <a:t>2.</a:t>
            </a:r>
            <a:r>
              <a:rPr b="1" lang="en-US" sz="2800">
                <a:solidFill>
                  <a:srgbClr val="017058"/>
                </a:solidFill>
                <a:latin typeface="Times New Roman"/>
                <a:ea typeface="Times New Roman"/>
                <a:cs typeface="Times New Roman"/>
                <a:sym typeface="Times New Roman"/>
              </a:rPr>
              <a:t>3 Phân bổ không gian bộ nhớ (Memory Mapping)</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11"/>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 đề xuất của đề tài</a:t>
            </a:r>
            <a:endParaRPr/>
          </a:p>
        </p:txBody>
      </p:sp>
      <p:sp>
        <p:nvSpPr>
          <p:cNvPr id="403" name="Google Shape;403;p11"/>
          <p:cNvSpPr txBox="1"/>
          <p:nvPr>
            <p:ph idx="1" type="body"/>
          </p:nvPr>
        </p:nvSpPr>
        <p:spPr>
          <a:xfrm>
            <a:off x="606000" y="2378996"/>
            <a:ext cx="5227872" cy="3722153"/>
          </a:xfrm>
          <a:prstGeom prst="rect">
            <a:avLst/>
          </a:prstGeom>
          <a:noFill/>
          <a:ln>
            <a:noFill/>
          </a:ln>
        </p:spPr>
        <p:txBody>
          <a:bodyPr anchorCtr="0" anchor="t" bIns="45700" lIns="91425" spcFirstLastPara="1" rIns="91425" wrap="square" tIns="45700">
            <a:noAutofit/>
          </a:bodyPr>
          <a:lstStyle/>
          <a:p>
            <a:pPr indent="-228600" lvl="0" marL="228600" rtl="0" algn="l">
              <a:lnSpc>
                <a:spcPct val="130000"/>
              </a:lnSpc>
              <a:spcBef>
                <a:spcPts val="0"/>
              </a:spcBef>
              <a:spcAft>
                <a:spcPts val="0"/>
              </a:spcAft>
              <a:buClr>
                <a:schemeClr val="dk1"/>
              </a:buClr>
              <a:buSzPts val="1800"/>
              <a:buChar char="•"/>
            </a:pPr>
            <a:r>
              <a:rPr b="1" lang="en-US" sz="1800"/>
              <a:t>Phân tích thiết kế của giải pháp:</a:t>
            </a:r>
            <a:r>
              <a:rPr lang="en-US" sz="1800"/>
              <a:t> </a:t>
            </a:r>
            <a:endParaRPr/>
          </a:p>
          <a:p>
            <a:pPr indent="-228600" lvl="0" marL="228600" rtl="0" algn="l">
              <a:lnSpc>
                <a:spcPct val="130000"/>
              </a:lnSpc>
              <a:spcBef>
                <a:spcPts val="600"/>
              </a:spcBef>
              <a:spcAft>
                <a:spcPts val="0"/>
              </a:spcAft>
              <a:buClr>
                <a:schemeClr val="dk1"/>
              </a:buClr>
              <a:buSzPts val="1800"/>
              <a:buChar char="•"/>
            </a:pPr>
            <a:r>
              <a:rPr b="1" lang="en-US" sz="1800"/>
              <a:t>Bộ phân xử trung tâm (Arbiter):</a:t>
            </a:r>
            <a:r>
              <a:rPr lang="en-US" sz="1800"/>
              <a:t> Đóng vai trò như bộ định tuyến (Router) kiểm soát các đường tín hiệu addr, wdata, wstrb. </a:t>
            </a:r>
            <a:endParaRPr/>
          </a:p>
          <a:p>
            <a:pPr indent="-228600" lvl="0" marL="228600" rtl="0" algn="l">
              <a:lnSpc>
                <a:spcPct val="130000"/>
              </a:lnSpc>
              <a:spcBef>
                <a:spcPts val="600"/>
              </a:spcBef>
              <a:spcAft>
                <a:spcPts val="0"/>
              </a:spcAft>
              <a:buClr>
                <a:schemeClr val="dk1"/>
              </a:buClr>
              <a:buSzPts val="1800"/>
              <a:buChar char="•"/>
            </a:pPr>
            <a:r>
              <a:rPr b="1" lang="en-US" sz="1800"/>
              <a:t>Thuật toán Round-Robin:</a:t>
            </a:r>
            <a:r>
              <a:rPr lang="en-US" sz="1800"/>
              <a:t> Sử dụng cờ ưu tiên last_served để luân chuyển quyền chiếm Bus. </a:t>
            </a:r>
            <a:endParaRPr/>
          </a:p>
          <a:p>
            <a:pPr indent="-228600" lvl="0" marL="228600" rtl="0" algn="l">
              <a:lnSpc>
                <a:spcPct val="130000"/>
              </a:lnSpc>
              <a:spcBef>
                <a:spcPts val="600"/>
              </a:spcBef>
              <a:spcAft>
                <a:spcPts val="0"/>
              </a:spcAft>
              <a:buClr>
                <a:schemeClr val="dk1"/>
              </a:buClr>
              <a:buSzPts val="1800"/>
              <a:buChar char="•"/>
            </a:pPr>
            <a:r>
              <a:rPr lang="en-US" sz="1800"/>
              <a:t>Đảm bảo tính công bằng (Fairness), triệt tiêu hoàn toàn hiện tượng một lõi bị "chết đói" (Starvation).</a:t>
            </a:r>
            <a:endParaRPr/>
          </a:p>
        </p:txBody>
      </p:sp>
      <p:sp>
        <p:nvSpPr>
          <p:cNvPr id="404" name="Google Shape;404;p11"/>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405" name="Google Shape;405;p11"/>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06" name="Google Shape;406;p11"/>
          <p:cNvSpPr txBox="1"/>
          <p:nvPr/>
        </p:nvSpPr>
        <p:spPr>
          <a:xfrm>
            <a:off x="8041816" y="6043885"/>
            <a:ext cx="661111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200">
                <a:solidFill>
                  <a:schemeClr val="dk1"/>
                </a:solidFill>
                <a:latin typeface="Arial"/>
                <a:ea typeface="Arial"/>
                <a:cs typeface="Arial"/>
                <a:sym typeface="Arial"/>
              </a:rPr>
              <a:t>Thuật toán Round-Robin</a:t>
            </a:r>
            <a:endParaRPr i="1" sz="1200">
              <a:solidFill>
                <a:schemeClr val="dk1"/>
              </a:solidFill>
              <a:latin typeface="Arial"/>
              <a:ea typeface="Arial"/>
              <a:cs typeface="Arial"/>
              <a:sym typeface="Arial"/>
            </a:endParaRPr>
          </a:p>
        </p:txBody>
      </p:sp>
      <p:pic>
        <p:nvPicPr>
          <p:cNvPr id="407" name="Google Shape;407;p11"/>
          <p:cNvPicPr preferRelativeResize="0"/>
          <p:nvPr/>
        </p:nvPicPr>
        <p:blipFill rotWithShape="1">
          <a:blip r:embed="rId3">
            <a:alphaModFix/>
          </a:blip>
          <a:srcRect b="0" l="0" r="0" t="0"/>
          <a:stretch/>
        </p:blipFill>
        <p:spPr>
          <a:xfrm>
            <a:off x="6922008" y="1727661"/>
            <a:ext cx="4114800" cy="4298491"/>
          </a:xfrm>
          <a:prstGeom prst="rect">
            <a:avLst/>
          </a:prstGeom>
          <a:noFill/>
          <a:ln>
            <a:noFill/>
          </a:ln>
        </p:spPr>
      </p:pic>
      <p:sp>
        <p:nvSpPr>
          <p:cNvPr id="408" name="Google Shape;408;p11"/>
          <p:cNvSpPr txBox="1"/>
          <p:nvPr/>
        </p:nvSpPr>
        <p:spPr>
          <a:xfrm>
            <a:off x="690040" y="1821154"/>
            <a:ext cx="735177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017058"/>
                </a:solidFill>
                <a:latin typeface="Times New Roman"/>
                <a:ea typeface="Times New Roman"/>
                <a:cs typeface="Times New Roman"/>
                <a:sym typeface="Times New Roman"/>
              </a:rPr>
              <a:t>2.4 Thuật toán phân xử Round-Robin</a:t>
            </a:r>
            <a:endParaRPr sz="28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12"/>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 đề xuất của đề tài</a:t>
            </a:r>
            <a:endParaRPr/>
          </a:p>
        </p:txBody>
      </p:sp>
      <p:sp>
        <p:nvSpPr>
          <p:cNvPr id="414" name="Google Shape;414;p12"/>
          <p:cNvSpPr txBox="1"/>
          <p:nvPr>
            <p:ph idx="1" type="body"/>
          </p:nvPr>
        </p:nvSpPr>
        <p:spPr>
          <a:xfrm>
            <a:off x="527474" y="2386613"/>
            <a:ext cx="5337600" cy="4023606"/>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0"/>
              </a:spcBef>
              <a:spcAft>
                <a:spcPts val="0"/>
              </a:spcAft>
              <a:buClr>
                <a:schemeClr val="dk1"/>
              </a:buClr>
              <a:buSzPts val="2000"/>
              <a:buNone/>
            </a:pPr>
            <a:r>
              <a:rPr b="1" lang="en-US" sz="2000"/>
              <a:t>Phân tích thiết kế của giải pháp:</a:t>
            </a:r>
            <a:r>
              <a:rPr lang="en-US" sz="2000"/>
              <a:t> </a:t>
            </a:r>
            <a:endParaRPr/>
          </a:p>
          <a:p>
            <a:pPr indent="-228600" lvl="0" marL="228600" rtl="0" algn="l">
              <a:lnSpc>
                <a:spcPct val="130000"/>
              </a:lnSpc>
              <a:spcBef>
                <a:spcPts val="600"/>
              </a:spcBef>
              <a:spcAft>
                <a:spcPts val="0"/>
              </a:spcAft>
              <a:buClr>
                <a:schemeClr val="dk1"/>
              </a:buClr>
              <a:buSzPts val="1500"/>
              <a:buChar char="•"/>
            </a:pPr>
            <a:r>
              <a:rPr b="1" lang="en-US" sz="1500"/>
              <a:t>Tiến trình phân rẽ nhánh:</a:t>
            </a:r>
            <a:r>
              <a:rPr lang="en-US" sz="1500"/>
              <a:t> Khi phát hiện tranh chấp (v0 = 1 và v1 = 1), Arbiter kiểm tra cờ ưu tiên để xác định Master thắng cuộc. </a:t>
            </a:r>
            <a:endParaRPr/>
          </a:p>
          <a:p>
            <a:pPr indent="-228600" lvl="0" marL="228600" rtl="0" algn="l">
              <a:lnSpc>
                <a:spcPct val="130000"/>
              </a:lnSpc>
              <a:spcBef>
                <a:spcPts val="600"/>
              </a:spcBef>
              <a:spcAft>
                <a:spcPts val="0"/>
              </a:spcAft>
              <a:buClr>
                <a:schemeClr val="dk1"/>
              </a:buClr>
              <a:buSzPts val="1500"/>
              <a:buChar char="•"/>
            </a:pPr>
            <a:r>
              <a:rPr b="1" lang="en-US" sz="1500"/>
              <a:t>Cơ chế ép hạ cờ:</a:t>
            </a:r>
            <a:r>
              <a:rPr lang="en-US" sz="1500"/>
              <a:t> Arbiter chủ động kéo tín hiệu ready = 0 trả về cho Core thua cuộc, kích hoạt chuỗi ngắt tín hiệu nội bộ (mem_xfer, mem_done, decoder_trigger).</a:t>
            </a:r>
            <a:endParaRPr sz="1500"/>
          </a:p>
          <a:p>
            <a:pPr indent="-228600" lvl="0" marL="228600" rtl="0" algn="l">
              <a:lnSpc>
                <a:spcPct val="130000"/>
              </a:lnSpc>
              <a:spcBef>
                <a:spcPts val="600"/>
              </a:spcBef>
              <a:spcAft>
                <a:spcPts val="0"/>
              </a:spcAft>
              <a:buClr>
                <a:schemeClr val="dk1"/>
              </a:buClr>
              <a:buSzPts val="1500"/>
              <a:buChar char="•"/>
            </a:pPr>
            <a:r>
              <a:rPr lang="en-US" sz="1500"/>
              <a:t>Thanh ghi bộ đếm chương trình reg_pc (Program Counter) của lõi đang đợi sẽ bị </a:t>
            </a:r>
            <a:r>
              <a:rPr b="1" lang="en-US" sz="1500"/>
              <a:t>khóa cứng giá trị</a:t>
            </a:r>
            <a:r>
              <a:rPr lang="en-US" sz="1500"/>
              <a:t>. Nó không tăng lên 2 hay 4 để qua lệnh tiếp theo mà cứ ghim đúng tại địa chỉ của lệnh đang muốn truy cập RAM</a:t>
            </a:r>
            <a:endParaRPr/>
          </a:p>
          <a:p>
            <a:pPr indent="-228600" lvl="0" marL="228600" rtl="0" algn="l">
              <a:lnSpc>
                <a:spcPct val="130000"/>
              </a:lnSpc>
              <a:spcBef>
                <a:spcPts val="600"/>
              </a:spcBef>
              <a:spcAft>
                <a:spcPts val="0"/>
              </a:spcAft>
              <a:buClr>
                <a:schemeClr val="dk1"/>
              </a:buClr>
              <a:buSzPts val="1500"/>
              <a:buChar char="•"/>
            </a:pPr>
            <a:r>
              <a:rPr b="1" lang="en-US" sz="1500"/>
              <a:t>Core </a:t>
            </a:r>
            <a:r>
              <a:rPr lang="en-US" sz="1500"/>
              <a:t>đang đợi sẽ liên tực phát tín hiệu để truy cập ram</a:t>
            </a:r>
            <a:endParaRPr sz="1500"/>
          </a:p>
          <a:p>
            <a:pPr indent="-133350" lvl="0" marL="228600" rtl="0" algn="l">
              <a:lnSpc>
                <a:spcPct val="130000"/>
              </a:lnSpc>
              <a:spcBef>
                <a:spcPts val="600"/>
              </a:spcBef>
              <a:spcAft>
                <a:spcPts val="0"/>
              </a:spcAft>
              <a:buClr>
                <a:schemeClr val="dk1"/>
              </a:buClr>
              <a:buSzPts val="1500"/>
              <a:buNone/>
            </a:pPr>
            <a:r>
              <a:t/>
            </a:r>
            <a:endParaRPr sz="1500"/>
          </a:p>
        </p:txBody>
      </p:sp>
      <p:sp>
        <p:nvSpPr>
          <p:cNvPr id="415" name="Google Shape;415;p12"/>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416" name="Google Shape;416;p12"/>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17" name="Google Shape;417;p12"/>
          <p:cNvSpPr txBox="1"/>
          <p:nvPr/>
        </p:nvSpPr>
        <p:spPr>
          <a:xfrm>
            <a:off x="6999400" y="5416832"/>
            <a:ext cx="661111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Sơ đồ máy phân xử quyền Bus và tiến trình Stall</a:t>
            </a:r>
            <a:endParaRPr i="1" sz="1200">
              <a:solidFill>
                <a:schemeClr val="dk1"/>
              </a:solidFill>
              <a:latin typeface="Arial"/>
              <a:ea typeface="Arial"/>
              <a:cs typeface="Arial"/>
              <a:sym typeface="Arial"/>
            </a:endParaRPr>
          </a:p>
        </p:txBody>
      </p:sp>
      <p:pic>
        <p:nvPicPr>
          <p:cNvPr id="418" name="Google Shape;418;p12"/>
          <p:cNvPicPr preferRelativeResize="0"/>
          <p:nvPr/>
        </p:nvPicPr>
        <p:blipFill rotWithShape="1">
          <a:blip r:embed="rId3">
            <a:alphaModFix/>
          </a:blip>
          <a:srcRect b="0" l="0" r="0" t="0"/>
          <a:stretch/>
        </p:blipFill>
        <p:spPr>
          <a:xfrm>
            <a:off x="5965515" y="2322576"/>
            <a:ext cx="5976813" cy="2999232"/>
          </a:xfrm>
          <a:prstGeom prst="rect">
            <a:avLst/>
          </a:prstGeom>
          <a:noFill/>
          <a:ln>
            <a:noFill/>
          </a:ln>
        </p:spPr>
      </p:pic>
      <p:sp>
        <p:nvSpPr>
          <p:cNvPr id="419" name="Google Shape;419;p12"/>
          <p:cNvSpPr txBox="1"/>
          <p:nvPr/>
        </p:nvSpPr>
        <p:spPr>
          <a:xfrm>
            <a:off x="717804" y="1863393"/>
            <a:ext cx="683056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017058"/>
                </a:solidFill>
                <a:latin typeface="Times New Roman"/>
                <a:ea typeface="Times New Roman"/>
                <a:cs typeface="Times New Roman"/>
                <a:sym typeface="Times New Roman"/>
              </a:rPr>
              <a:t>2.5 Lưu đồ trạng thái &amp; Stall</a:t>
            </a:r>
            <a:endParaRPr sz="28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13"/>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 đề xuất của đề tài</a:t>
            </a:r>
            <a:endParaRPr/>
          </a:p>
        </p:txBody>
      </p:sp>
      <p:sp>
        <p:nvSpPr>
          <p:cNvPr id="425" name="Google Shape;425;p13"/>
          <p:cNvSpPr txBox="1"/>
          <p:nvPr>
            <p:ph idx="1" type="body"/>
          </p:nvPr>
        </p:nvSpPr>
        <p:spPr>
          <a:xfrm>
            <a:off x="613788" y="2212303"/>
            <a:ext cx="11354352" cy="4023606"/>
          </a:xfrm>
          <a:prstGeom prst="rect">
            <a:avLst/>
          </a:prstGeom>
          <a:noFill/>
          <a:ln>
            <a:noFill/>
          </a:ln>
        </p:spPr>
        <p:txBody>
          <a:bodyPr anchorCtr="0" anchor="t" bIns="45700" lIns="91425" spcFirstLastPara="1" rIns="91425" wrap="square" tIns="45700">
            <a:noAutofit/>
          </a:bodyPr>
          <a:lstStyle/>
          <a:p>
            <a:pPr indent="-228600" lvl="0" marL="228600" rtl="0" algn="l">
              <a:lnSpc>
                <a:spcPct val="130000"/>
              </a:lnSpc>
              <a:spcBef>
                <a:spcPts val="0"/>
              </a:spcBef>
              <a:spcAft>
                <a:spcPts val="0"/>
              </a:spcAft>
              <a:buClr>
                <a:schemeClr val="dk1"/>
              </a:buClr>
              <a:buSzPts val="2000"/>
              <a:buChar char="•"/>
            </a:pPr>
            <a:r>
              <a:rPr b="1" lang="en-US" sz="2000"/>
              <a:t>Lưu trữ Trạng thái bằng 1-bit (Sequential Logic):</a:t>
            </a:r>
            <a:r>
              <a:rPr lang="en-US" sz="2000"/>
              <a:t>  Thay vì sử dụng Máy trạng thái (FSM) nhiều bit cồng kềnh, Arbiter chỉ dùng duy nhất </a:t>
            </a:r>
            <a:r>
              <a:rPr b="1" lang="en-US" sz="2000"/>
              <a:t>1 Flip-Flop</a:t>
            </a:r>
            <a:r>
              <a:rPr lang="en-US" sz="2000"/>
              <a:t> (last_served) cập nhật tại sườn lên xung clock để lưu vết Core vừa được phục vụ.</a:t>
            </a:r>
            <a:endParaRPr/>
          </a:p>
          <a:p>
            <a:pPr indent="-228600" lvl="0" marL="228600" rtl="0" algn="l">
              <a:lnSpc>
                <a:spcPct val="130000"/>
              </a:lnSpc>
              <a:spcBef>
                <a:spcPts val="600"/>
              </a:spcBef>
              <a:spcAft>
                <a:spcPts val="0"/>
              </a:spcAft>
              <a:buClr>
                <a:schemeClr val="dk1"/>
              </a:buClr>
              <a:buSzPts val="2000"/>
              <a:buFont typeface="Noto Sans Symbols"/>
              <a:buChar char="⮚"/>
            </a:pPr>
            <a:r>
              <a:rPr i="1" lang="en-US" sz="2000"/>
              <a:t>Trích code:</a:t>
            </a:r>
            <a:r>
              <a:rPr lang="en-US" sz="2000"/>
              <a:t> if (s_ready) last_served &lt;= g0 ? 0 : 1;</a:t>
            </a:r>
            <a:endParaRPr/>
          </a:p>
          <a:p>
            <a:pPr indent="-228600" lvl="0" marL="228600" rtl="0" algn="l">
              <a:lnSpc>
                <a:spcPct val="130000"/>
              </a:lnSpc>
              <a:spcBef>
                <a:spcPts val="600"/>
              </a:spcBef>
              <a:spcAft>
                <a:spcPts val="0"/>
              </a:spcAft>
              <a:buClr>
                <a:schemeClr val="dk1"/>
              </a:buClr>
              <a:buSzPts val="2000"/>
              <a:buChar char="•"/>
            </a:pPr>
            <a:r>
              <a:rPr b="1" lang="en-US" sz="2000"/>
              <a:t>Định tuyến Tổ hợp (Combinational Routing):</a:t>
            </a:r>
            <a:r>
              <a:rPr lang="en-US" sz="2000"/>
              <a:t> * Các trạng thái phân nhánh (như đã phân tích ở Slide 10) được triển khai thẳng thành các phương trình logic AND/OR, cho ra kết quả cấp quyền g0, g1 ngay lập tức mà không mất thêm chu kỳ xung nhịp.</a:t>
            </a:r>
            <a:endParaRPr/>
          </a:p>
          <a:p>
            <a:pPr indent="-228600" lvl="0" marL="228600" rtl="0" algn="l">
              <a:lnSpc>
                <a:spcPct val="130000"/>
              </a:lnSpc>
              <a:spcBef>
                <a:spcPts val="600"/>
              </a:spcBef>
              <a:spcAft>
                <a:spcPts val="0"/>
              </a:spcAft>
              <a:buClr>
                <a:schemeClr val="dk1"/>
              </a:buClr>
              <a:buSzPts val="2000"/>
              <a:buFont typeface="Noto Sans Symbols"/>
              <a:buChar char="⮚"/>
            </a:pPr>
            <a:r>
              <a:rPr i="1" lang="en-US" sz="2000"/>
              <a:t>Trích code:</a:t>
            </a:r>
            <a:r>
              <a:rPr lang="en-US" sz="2000"/>
              <a:t> wire g0 = m0_valid &amp;&amp; (!m1_valid || last_served);</a:t>
            </a:r>
            <a:endParaRPr/>
          </a:p>
        </p:txBody>
      </p:sp>
      <p:sp>
        <p:nvSpPr>
          <p:cNvPr id="426" name="Google Shape;426;p13"/>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427" name="Google Shape;427;p13"/>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28" name="Google Shape;428;p13"/>
          <p:cNvSpPr txBox="1"/>
          <p:nvPr/>
        </p:nvSpPr>
        <p:spPr>
          <a:xfrm>
            <a:off x="736092" y="1778570"/>
            <a:ext cx="661111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017058"/>
                </a:solidFill>
                <a:latin typeface="Times New Roman"/>
                <a:ea typeface="Times New Roman"/>
                <a:cs typeface="Times New Roman"/>
                <a:sym typeface="Times New Roman"/>
              </a:rPr>
              <a:t>2.6 </a:t>
            </a:r>
            <a:r>
              <a:rPr b="1" lang="en-US" sz="2800">
                <a:solidFill>
                  <a:srgbClr val="017058"/>
                </a:solidFill>
                <a:latin typeface="Times New Roman"/>
                <a:ea typeface="Times New Roman"/>
                <a:cs typeface="Times New Roman"/>
                <a:sym typeface="Times New Roman"/>
              </a:rPr>
              <a:t>Tối ưu hóa mạch phân xử</a:t>
            </a:r>
            <a:endParaRPr sz="28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14"/>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 đề xuất của đề tài</a:t>
            </a:r>
            <a:endParaRPr/>
          </a:p>
        </p:txBody>
      </p:sp>
      <p:sp>
        <p:nvSpPr>
          <p:cNvPr id="434" name="Google Shape;434;p14"/>
          <p:cNvSpPr txBox="1"/>
          <p:nvPr>
            <p:ph idx="1" type="body"/>
          </p:nvPr>
        </p:nvSpPr>
        <p:spPr>
          <a:xfrm>
            <a:off x="606000" y="2239735"/>
            <a:ext cx="11354352" cy="4023606"/>
          </a:xfrm>
          <a:prstGeom prst="rect">
            <a:avLst/>
          </a:prstGeom>
          <a:solidFill>
            <a:schemeClr val="lt1"/>
          </a:solidFill>
          <a:ln>
            <a:noFill/>
          </a:ln>
        </p:spPr>
        <p:txBody>
          <a:bodyPr anchorCtr="0" anchor="t" bIns="45700" lIns="91425" spcFirstLastPara="1" rIns="91425" wrap="square" tIns="45700">
            <a:noAutofit/>
          </a:bodyPr>
          <a:lstStyle/>
          <a:p>
            <a:pPr indent="0" lvl="0" marL="0" rtl="0" algn="l">
              <a:lnSpc>
                <a:spcPct val="130000"/>
              </a:lnSpc>
              <a:spcBef>
                <a:spcPts val="0"/>
              </a:spcBef>
              <a:spcAft>
                <a:spcPts val="0"/>
              </a:spcAft>
              <a:buClr>
                <a:schemeClr val="dk1"/>
              </a:buClr>
              <a:buSzPts val="2000"/>
              <a:buNone/>
            </a:pPr>
            <a:r>
              <a:rPr lang="en-US" sz="2000">
                <a:solidFill>
                  <a:srgbClr val="080809"/>
                </a:solidFill>
                <a:highlight>
                  <a:schemeClr val="lt1"/>
                </a:highlight>
              </a:rPr>
              <a:t>Giả sử Core 0 và Core 1 cùng lúc yêu cầu truy cập vào RAM, core1 chưa được cấp quyền nên phải đợi.</a:t>
            </a:r>
            <a:endParaRPr sz="2000">
              <a:solidFill>
                <a:srgbClr val="080809"/>
              </a:solidFill>
              <a:highlight>
                <a:schemeClr val="lt1"/>
              </a:highlight>
            </a:endParaRPr>
          </a:p>
          <a:p>
            <a:pPr indent="0" lvl="0" marL="0" rtl="0" algn="l">
              <a:lnSpc>
                <a:spcPct val="130000"/>
              </a:lnSpc>
              <a:spcBef>
                <a:spcPts val="0"/>
              </a:spcBef>
              <a:spcAft>
                <a:spcPts val="0"/>
              </a:spcAft>
              <a:buClr>
                <a:schemeClr val="dk1"/>
              </a:buClr>
              <a:buSzPts val="2000"/>
              <a:buNone/>
            </a:pPr>
            <a:r>
              <a:rPr b="1" lang="en-US" sz="2000">
                <a:solidFill>
                  <a:srgbClr val="080809"/>
                </a:solidFill>
                <a:highlight>
                  <a:schemeClr val="lt1"/>
                </a:highlight>
              </a:rPr>
              <a:t>Sự kiện diễn ra trong Core 1 lúc này:</a:t>
            </a:r>
            <a:r>
              <a:rPr lang="en-US" sz="2000">
                <a:solidFill>
                  <a:srgbClr val="080809"/>
                </a:solidFill>
                <a:highlight>
                  <a:schemeClr val="lt1"/>
                </a:highlight>
              </a:rPr>
              <a:t> </a:t>
            </a:r>
            <a:endParaRPr>
              <a:highlight>
                <a:schemeClr val="lt1"/>
              </a:highlight>
            </a:endParaRPr>
          </a:p>
          <a:p>
            <a:pPr indent="-228600" lvl="0" marL="228600" rtl="0" algn="l">
              <a:lnSpc>
                <a:spcPct val="130000"/>
              </a:lnSpc>
              <a:spcBef>
                <a:spcPts val="600"/>
              </a:spcBef>
              <a:spcAft>
                <a:spcPts val="0"/>
              </a:spcAft>
              <a:buClr>
                <a:schemeClr val="dk1"/>
              </a:buClr>
              <a:buSzPts val="2000"/>
              <a:buChar char="•"/>
            </a:pPr>
            <a:r>
              <a:rPr lang="en-US" sz="2000"/>
              <a:t>Arbiter gán tín hiệu trả về cho Core 1: m1_ready = g1 &amp;&amp; s_ready = 0 &amp;&amp; 1 = 0</a:t>
            </a:r>
            <a:endParaRPr/>
          </a:p>
          <a:p>
            <a:pPr indent="-228600" lvl="0" marL="228600" rtl="0" algn="l">
              <a:lnSpc>
                <a:spcPct val="130000"/>
              </a:lnSpc>
              <a:spcBef>
                <a:spcPts val="600"/>
              </a:spcBef>
              <a:spcAft>
                <a:spcPts val="0"/>
              </a:spcAft>
              <a:buClr>
                <a:schemeClr val="dk1"/>
              </a:buClr>
              <a:buSzPts val="2000"/>
              <a:buChar char="•"/>
            </a:pPr>
            <a:r>
              <a:rPr lang="en-US" sz="2000"/>
              <a:t>Tín hiệu m1_ready = 0 đi vào chân mem_ready của Core </a:t>
            </a:r>
            <a:endParaRPr/>
          </a:p>
          <a:p>
            <a:pPr indent="-228600" lvl="0" marL="228600" rtl="0" algn="l">
              <a:lnSpc>
                <a:spcPct val="130000"/>
              </a:lnSpc>
              <a:spcBef>
                <a:spcPts val="600"/>
              </a:spcBef>
              <a:spcAft>
                <a:spcPts val="0"/>
              </a:spcAft>
              <a:buClr>
                <a:schemeClr val="dk1"/>
              </a:buClr>
              <a:buSzPts val="2000"/>
              <a:buChar char="•"/>
            </a:pPr>
            <a:r>
              <a:rPr b="1" lang="en-US" sz="2000"/>
              <a:t>mem_xfer sập về 0:</a:t>
            </a:r>
            <a:r>
              <a:rPr lang="en-US" sz="2000"/>
              <a:t> Vì mem_xfer = (mem_valid &amp;&amp; mem_ready) = (1 &amp;&amp; 0) = 0. </a:t>
            </a:r>
            <a:endParaRPr/>
          </a:p>
          <a:p>
            <a:pPr indent="-228600" lvl="0" marL="228600" rtl="0" algn="l">
              <a:lnSpc>
                <a:spcPct val="130000"/>
              </a:lnSpc>
              <a:spcBef>
                <a:spcPts val="600"/>
              </a:spcBef>
              <a:spcAft>
                <a:spcPts val="0"/>
              </a:spcAft>
              <a:buClr>
                <a:schemeClr val="dk1"/>
              </a:buClr>
              <a:buSzPts val="2000"/>
              <a:buChar char="•"/>
            </a:pPr>
            <a:r>
              <a:rPr b="1" lang="en-US" sz="2000"/>
              <a:t>mem_done sập về 0:</a:t>
            </a:r>
            <a:r>
              <a:rPr lang="en-US" sz="2000"/>
              <a:t> Do mem_xfer bằng 0, điều kiện tổ hợp để tính mem_done bị sai, mem_done ghim cứng ở mức 0. </a:t>
            </a:r>
            <a:endParaRPr/>
          </a:p>
          <a:p>
            <a:pPr indent="-228600" lvl="0" marL="228600" rtl="0" algn="l">
              <a:lnSpc>
                <a:spcPct val="130000"/>
              </a:lnSpc>
              <a:spcBef>
                <a:spcPts val="600"/>
              </a:spcBef>
              <a:spcAft>
                <a:spcPts val="0"/>
              </a:spcAft>
              <a:buClr>
                <a:schemeClr val="dk1"/>
              </a:buClr>
              <a:buSzPts val="2000"/>
              <a:buChar char="•"/>
            </a:pPr>
            <a:r>
              <a:rPr b="1" lang="en-US" sz="2000"/>
              <a:t>decoder_trigger ghim ở mức 0.</a:t>
            </a:r>
            <a:endParaRPr sz="2000"/>
          </a:p>
        </p:txBody>
      </p:sp>
      <p:sp>
        <p:nvSpPr>
          <p:cNvPr id="435" name="Google Shape;435;p14"/>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436" name="Google Shape;436;p14"/>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37" name="Google Shape;437;p14"/>
          <p:cNvSpPr txBox="1"/>
          <p:nvPr/>
        </p:nvSpPr>
        <p:spPr>
          <a:xfrm>
            <a:off x="699516" y="1758829"/>
            <a:ext cx="862316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7058"/>
              </a:buClr>
              <a:buSzPts val="2800"/>
              <a:buFont typeface="Times New Roman"/>
              <a:buNone/>
            </a:pPr>
            <a:r>
              <a:rPr b="1" i="0" lang="en-US" sz="2800" u="none" cap="none" strike="noStrike">
                <a:solidFill>
                  <a:srgbClr val="017058"/>
                </a:solidFill>
                <a:latin typeface="Times New Roman"/>
                <a:ea typeface="Times New Roman"/>
                <a:cs typeface="Times New Roman"/>
                <a:sym typeface="Times New Roman"/>
              </a:rPr>
              <a:t>2.</a:t>
            </a:r>
            <a:r>
              <a:rPr b="1" lang="en-US" sz="2800">
                <a:solidFill>
                  <a:srgbClr val="017058"/>
                </a:solidFill>
                <a:latin typeface="Times New Roman"/>
                <a:ea typeface="Times New Roman"/>
                <a:cs typeface="Times New Roman"/>
                <a:sym typeface="Times New Roman"/>
              </a:rPr>
              <a:t>7</a:t>
            </a:r>
            <a:r>
              <a:rPr b="1" i="0" lang="en-US" sz="2800" u="none" cap="none" strike="noStrike">
                <a:solidFill>
                  <a:srgbClr val="017058"/>
                </a:solidFill>
                <a:latin typeface="Times New Roman"/>
                <a:ea typeface="Times New Roman"/>
                <a:cs typeface="Times New Roman"/>
                <a:sym typeface="Times New Roman"/>
              </a:rPr>
              <a:t> </a:t>
            </a:r>
            <a:r>
              <a:rPr b="1" lang="en-US" sz="2800">
                <a:solidFill>
                  <a:srgbClr val="017058"/>
                </a:solidFill>
                <a:latin typeface="Times New Roman"/>
                <a:ea typeface="Times New Roman"/>
                <a:cs typeface="Times New Roman"/>
                <a:sym typeface="Times New Roman"/>
              </a:rPr>
              <a:t>Chuỗi sự kiện xảy ra bên trong core phải stall</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15"/>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 đề xuất của đề tài</a:t>
            </a:r>
            <a:endParaRPr/>
          </a:p>
        </p:txBody>
      </p:sp>
      <p:sp>
        <p:nvSpPr>
          <p:cNvPr id="443" name="Google Shape;443;p15"/>
          <p:cNvSpPr txBox="1"/>
          <p:nvPr>
            <p:ph idx="1" type="body"/>
          </p:nvPr>
        </p:nvSpPr>
        <p:spPr>
          <a:xfrm>
            <a:off x="606000" y="2239735"/>
            <a:ext cx="11354352" cy="4023606"/>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0"/>
              </a:spcBef>
              <a:spcAft>
                <a:spcPts val="0"/>
              </a:spcAft>
              <a:buClr>
                <a:schemeClr val="dk1"/>
              </a:buClr>
              <a:buSzPts val="2000"/>
              <a:buNone/>
            </a:pPr>
            <a:r>
              <a:rPr b="1" lang="en-US" sz="2000"/>
              <a:t>Đóng băng Máy trạng thái bộ nhớ:</a:t>
            </a:r>
            <a:endParaRPr sz="2000"/>
          </a:p>
          <a:p>
            <a:pPr indent="-228600" lvl="0" marL="228600" rtl="0" algn="l">
              <a:lnSpc>
                <a:spcPct val="130000"/>
              </a:lnSpc>
              <a:spcBef>
                <a:spcPts val="600"/>
              </a:spcBef>
              <a:spcAft>
                <a:spcPts val="0"/>
              </a:spcAft>
              <a:buClr>
                <a:schemeClr val="dk1"/>
              </a:buClr>
              <a:buSzPts val="2000"/>
              <a:buChar char="•"/>
            </a:pPr>
            <a:r>
              <a:rPr lang="en-US" sz="2000"/>
              <a:t>Khi có xung nhịp, mạch kiểm tra lệnh: if (mem_xfer). Do mem_xfer == 0, CPU bỏ qua nhánh này, nhảy vào trường hợp mặc định là </a:t>
            </a:r>
            <a:r>
              <a:rPr b="1" lang="en-US" sz="2000"/>
              <a:t>giữ nguyên trạng thái</a:t>
            </a:r>
            <a:r>
              <a:rPr lang="en-US" sz="2000"/>
              <a:t> (mem_state cũ)</a:t>
            </a:r>
            <a:endParaRPr sz="2000"/>
          </a:p>
          <a:p>
            <a:pPr indent="-228600" lvl="0" marL="228600" rtl="0" algn="l">
              <a:lnSpc>
                <a:spcPct val="130000"/>
              </a:lnSpc>
              <a:spcBef>
                <a:spcPts val="600"/>
              </a:spcBef>
              <a:spcAft>
                <a:spcPts val="0"/>
              </a:spcAft>
              <a:buClr>
                <a:schemeClr val="dk1"/>
              </a:buClr>
              <a:buSzPts val="2000"/>
              <a:buChar char="•"/>
            </a:pPr>
            <a:r>
              <a:rPr lang="en-US" sz="2000"/>
              <a:t>Vì mem_state ghim tại giá trị cũ, đường lệnh mem_valid tiếp tục bị ép giữ ở mức 1. CPU kiên trì phát lệnh "Đòi truy cập".</a:t>
            </a:r>
            <a:endParaRPr/>
          </a:p>
        </p:txBody>
      </p:sp>
      <p:sp>
        <p:nvSpPr>
          <p:cNvPr id="444" name="Google Shape;444;p15"/>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445" name="Google Shape;445;p15"/>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46" name="Google Shape;446;p15"/>
          <p:cNvSpPr txBox="1"/>
          <p:nvPr/>
        </p:nvSpPr>
        <p:spPr>
          <a:xfrm>
            <a:off x="699516" y="1758829"/>
            <a:ext cx="862316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7058"/>
              </a:buClr>
              <a:buSzPts val="2800"/>
              <a:buFont typeface="Times New Roman"/>
              <a:buNone/>
            </a:pPr>
            <a:r>
              <a:rPr b="1" i="0" lang="en-US" sz="2800" u="none" cap="none" strike="noStrike">
                <a:solidFill>
                  <a:srgbClr val="017058"/>
                </a:solidFill>
                <a:latin typeface="Times New Roman"/>
                <a:ea typeface="Times New Roman"/>
                <a:cs typeface="Times New Roman"/>
                <a:sym typeface="Times New Roman"/>
              </a:rPr>
              <a:t>2.</a:t>
            </a:r>
            <a:r>
              <a:rPr b="1" lang="en-US" sz="2800">
                <a:solidFill>
                  <a:srgbClr val="017058"/>
                </a:solidFill>
                <a:latin typeface="Times New Roman"/>
                <a:ea typeface="Times New Roman"/>
                <a:cs typeface="Times New Roman"/>
                <a:sym typeface="Times New Roman"/>
              </a:rPr>
              <a:t>7</a:t>
            </a:r>
            <a:r>
              <a:rPr b="1" i="0" lang="en-US" sz="2800" u="none" cap="none" strike="noStrike">
                <a:solidFill>
                  <a:srgbClr val="017058"/>
                </a:solidFill>
                <a:latin typeface="Times New Roman"/>
                <a:ea typeface="Times New Roman"/>
                <a:cs typeface="Times New Roman"/>
                <a:sym typeface="Times New Roman"/>
              </a:rPr>
              <a:t> </a:t>
            </a:r>
            <a:r>
              <a:rPr b="1" lang="en-US" sz="2800">
                <a:solidFill>
                  <a:srgbClr val="017058"/>
                </a:solidFill>
                <a:latin typeface="Times New Roman"/>
                <a:ea typeface="Times New Roman"/>
                <a:cs typeface="Times New Roman"/>
                <a:sym typeface="Times New Roman"/>
              </a:rPr>
              <a:t>Chuỗi sự kiện xảy ra bên trong core phải stall</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16"/>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 đề xuất của đề tài</a:t>
            </a:r>
            <a:endParaRPr/>
          </a:p>
        </p:txBody>
      </p:sp>
      <p:sp>
        <p:nvSpPr>
          <p:cNvPr id="452" name="Google Shape;452;p16"/>
          <p:cNvSpPr txBox="1"/>
          <p:nvPr>
            <p:ph idx="1" type="body"/>
          </p:nvPr>
        </p:nvSpPr>
        <p:spPr>
          <a:xfrm>
            <a:off x="606000" y="2239735"/>
            <a:ext cx="11354352" cy="4023606"/>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0"/>
              </a:spcBef>
              <a:spcAft>
                <a:spcPts val="0"/>
              </a:spcAft>
              <a:buClr>
                <a:schemeClr val="dk1"/>
              </a:buClr>
              <a:buSzPts val="2000"/>
              <a:buNone/>
            </a:pPr>
            <a:r>
              <a:rPr b="1" lang="en-US" sz="2000"/>
              <a:t>Khóa cứng Bộ đếm chương trình:</a:t>
            </a:r>
            <a:endParaRPr sz="2000"/>
          </a:p>
          <a:p>
            <a:pPr indent="-228600" lvl="0" marL="228600" rtl="0" algn="l">
              <a:lnSpc>
                <a:spcPct val="130000"/>
              </a:lnSpc>
              <a:spcBef>
                <a:spcPts val="600"/>
              </a:spcBef>
              <a:spcAft>
                <a:spcPts val="0"/>
              </a:spcAft>
              <a:buClr>
                <a:schemeClr val="dk1"/>
              </a:buClr>
              <a:buSzPts val="2000"/>
              <a:buChar char="•"/>
            </a:pPr>
            <a:r>
              <a:rPr lang="en-US" sz="2000"/>
              <a:t>Để tăng địa chỉ bộ đếm chương trình và chuyển sang lệnh tiếp theo, phần cứng yêu cầu điều kiện if (decoder_trigger) phải đúng. </a:t>
            </a:r>
            <a:endParaRPr/>
          </a:p>
          <a:p>
            <a:pPr indent="-228600" lvl="0" marL="228600" rtl="0" algn="l">
              <a:lnSpc>
                <a:spcPct val="130000"/>
              </a:lnSpc>
              <a:spcBef>
                <a:spcPts val="600"/>
              </a:spcBef>
              <a:spcAft>
                <a:spcPts val="0"/>
              </a:spcAft>
              <a:buClr>
                <a:schemeClr val="dk1"/>
              </a:buClr>
              <a:buSzPts val="2000"/>
              <a:buChar char="•"/>
            </a:pPr>
            <a:r>
              <a:rPr lang="en-US" sz="2000"/>
              <a:t>Vì decoder_trigger == 0, nhánh code sau đây hoàn toàn bị bỏ qua:</a:t>
            </a:r>
            <a:endParaRPr/>
          </a:p>
          <a:p>
            <a:pPr indent="0" lvl="0" marL="0" rtl="0" algn="ctr">
              <a:lnSpc>
                <a:spcPct val="130000"/>
              </a:lnSpc>
              <a:spcBef>
                <a:spcPts val="600"/>
              </a:spcBef>
              <a:spcAft>
                <a:spcPts val="0"/>
              </a:spcAft>
              <a:buClr>
                <a:srgbClr val="FF0000"/>
              </a:buClr>
              <a:buSzPts val="2000"/>
              <a:buNone/>
            </a:pPr>
            <a:r>
              <a:rPr lang="en-US" sz="2000">
                <a:solidFill>
                  <a:srgbClr val="FF0000"/>
                </a:solidFill>
              </a:rPr>
              <a:t>reg_next_pc &lt;= current_pc + (compressed_instr ? 2 : 4);</a:t>
            </a:r>
            <a:endParaRPr/>
          </a:p>
          <a:p>
            <a:pPr indent="-228600" lvl="0" marL="228600" rtl="0" algn="l">
              <a:lnSpc>
                <a:spcPct val="130000"/>
              </a:lnSpc>
              <a:spcBef>
                <a:spcPts val="600"/>
              </a:spcBef>
              <a:spcAft>
                <a:spcPts val="0"/>
              </a:spcAft>
              <a:buClr>
                <a:schemeClr val="dk1"/>
              </a:buClr>
              <a:buSzPts val="2000"/>
              <a:buChar char="•"/>
            </a:pPr>
            <a:r>
              <a:rPr lang="en-US" sz="2000"/>
              <a:t>Do không có bất kỳ lệnh gán nào khác tác động vào reg_next_pc. Chúng tự động giữ nguyên (Hold) giá trị địa chỉ của chu kỳ trước. </a:t>
            </a:r>
            <a:endParaRPr/>
          </a:p>
          <a:p>
            <a:pPr indent="-228600" lvl="0" marL="228600" rtl="0" algn="l">
              <a:lnSpc>
                <a:spcPct val="130000"/>
              </a:lnSpc>
              <a:spcBef>
                <a:spcPts val="600"/>
              </a:spcBef>
              <a:spcAft>
                <a:spcPts val="0"/>
              </a:spcAft>
              <a:buClr>
                <a:schemeClr val="dk1"/>
              </a:buClr>
              <a:buSzPts val="2000"/>
              <a:buChar char="•"/>
            </a:pPr>
            <a:r>
              <a:rPr lang="en-US" sz="2000"/>
              <a:t>Đồng thời, lệnh reg_pc &lt;= current_pc (với current_pc = reg_next_pc) liên tục nạp lại giá trị cũ đang bị đứng im đó.</a:t>
            </a:r>
            <a:endParaRPr/>
          </a:p>
        </p:txBody>
      </p:sp>
      <p:sp>
        <p:nvSpPr>
          <p:cNvPr id="453" name="Google Shape;453;p16"/>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Copyrights 2024 CE-UIT. All Rights Reserved.</a:t>
            </a:r>
            <a:endParaRPr/>
          </a:p>
        </p:txBody>
      </p:sp>
      <p:sp>
        <p:nvSpPr>
          <p:cNvPr id="454" name="Google Shape;454;p16"/>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55" name="Google Shape;455;p16"/>
          <p:cNvSpPr txBox="1"/>
          <p:nvPr/>
        </p:nvSpPr>
        <p:spPr>
          <a:xfrm>
            <a:off x="699516" y="1758829"/>
            <a:ext cx="862316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7058"/>
              </a:buClr>
              <a:buSzPts val="2800"/>
              <a:buFont typeface="Times New Roman"/>
              <a:buNone/>
            </a:pPr>
            <a:r>
              <a:rPr b="1" i="0" lang="en-US" sz="2800" u="none" cap="none" strike="noStrike">
                <a:solidFill>
                  <a:srgbClr val="017058"/>
                </a:solidFill>
                <a:latin typeface="Times New Roman"/>
                <a:ea typeface="Times New Roman"/>
                <a:cs typeface="Times New Roman"/>
                <a:sym typeface="Times New Roman"/>
              </a:rPr>
              <a:t>2.</a:t>
            </a:r>
            <a:r>
              <a:rPr b="1" lang="en-US" sz="2800">
                <a:solidFill>
                  <a:srgbClr val="017058"/>
                </a:solidFill>
                <a:latin typeface="Times New Roman"/>
                <a:ea typeface="Times New Roman"/>
                <a:cs typeface="Times New Roman"/>
                <a:sym typeface="Times New Roman"/>
              </a:rPr>
              <a:t>7</a:t>
            </a:r>
            <a:r>
              <a:rPr b="1" i="0" lang="en-US" sz="2800" u="none" cap="none" strike="noStrike">
                <a:solidFill>
                  <a:srgbClr val="017058"/>
                </a:solidFill>
                <a:latin typeface="Times New Roman"/>
                <a:ea typeface="Times New Roman"/>
                <a:cs typeface="Times New Roman"/>
                <a:sym typeface="Times New Roman"/>
              </a:rPr>
              <a:t> </a:t>
            </a:r>
            <a:r>
              <a:rPr b="1" lang="en-US" sz="2800">
                <a:solidFill>
                  <a:srgbClr val="017058"/>
                </a:solidFill>
                <a:latin typeface="Times New Roman"/>
                <a:ea typeface="Times New Roman"/>
                <a:cs typeface="Times New Roman"/>
                <a:sym typeface="Times New Roman"/>
              </a:rPr>
              <a:t>Chuỗi sự kiện xảy ra bên trong core phải stall</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17"/>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2. Giải pháp đề xuất của đề tài</a:t>
            </a:r>
            <a:endParaRPr/>
          </a:p>
        </p:txBody>
      </p:sp>
      <p:sp>
        <p:nvSpPr>
          <p:cNvPr id="461" name="Google Shape;461;p17"/>
          <p:cNvSpPr txBox="1"/>
          <p:nvPr>
            <p:ph idx="1" type="body"/>
          </p:nvPr>
        </p:nvSpPr>
        <p:spPr>
          <a:xfrm>
            <a:off x="606000" y="2239735"/>
            <a:ext cx="11354352" cy="4023606"/>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0"/>
              </a:spcBef>
              <a:spcAft>
                <a:spcPts val="0"/>
              </a:spcAft>
              <a:buClr>
                <a:schemeClr val="dk1"/>
              </a:buClr>
              <a:buSzPts val="2000"/>
              <a:buNone/>
            </a:pPr>
            <a:r>
              <a:rPr b="1" lang="en-US" sz="2000"/>
              <a:t>Đợi </a:t>
            </a:r>
            <a:r>
              <a:rPr b="1" lang="en-US" sz="2000"/>
              <a:t>thoát</a:t>
            </a:r>
            <a:r>
              <a:rPr b="1" lang="en-US" sz="2000"/>
              <a:t> Stall:</a:t>
            </a:r>
            <a:endParaRPr sz="2000"/>
          </a:p>
          <a:p>
            <a:pPr indent="-228600" lvl="0" marL="228600" rtl="0" algn="l">
              <a:lnSpc>
                <a:spcPct val="130000"/>
              </a:lnSpc>
              <a:spcBef>
                <a:spcPts val="600"/>
              </a:spcBef>
              <a:spcAft>
                <a:spcPts val="0"/>
              </a:spcAft>
              <a:buClr>
                <a:schemeClr val="dk1"/>
              </a:buClr>
              <a:buSzPts val="2000"/>
              <a:buChar char="•"/>
            </a:pPr>
            <a:r>
              <a:rPr lang="en-US" sz="2000"/>
              <a:t>Khi bộ Arbiter thấy s_ready = 1, nó tiến hành cập nhật thanh ghi gờ ưu tiên cho Core1 thực hiện ở lần sau </a:t>
            </a:r>
            <a:endParaRPr sz="2000"/>
          </a:p>
          <a:p>
            <a:pPr indent="-228600" lvl="0" marL="228600" rtl="0" algn="l">
              <a:lnSpc>
                <a:spcPct val="130000"/>
              </a:lnSpc>
              <a:spcBef>
                <a:spcPts val="600"/>
              </a:spcBef>
              <a:spcAft>
                <a:spcPts val="0"/>
              </a:spcAft>
              <a:buClr>
                <a:schemeClr val="dk1"/>
              </a:buClr>
              <a:buSzPts val="2000"/>
              <a:buChar char="•"/>
            </a:pPr>
            <a:r>
              <a:rPr lang="en-US" sz="2000"/>
              <a:t>Chân m1_ready (tức mem_ready của Core 1) lập tức bật từ 0 lên 1. </a:t>
            </a:r>
            <a:endParaRPr/>
          </a:p>
          <a:p>
            <a:pPr indent="-228600" lvl="0" marL="228600" rtl="0" algn="l">
              <a:lnSpc>
                <a:spcPct val="130000"/>
              </a:lnSpc>
              <a:spcBef>
                <a:spcPts val="600"/>
              </a:spcBef>
              <a:spcAft>
                <a:spcPts val="0"/>
              </a:spcAft>
              <a:buClr>
                <a:schemeClr val="dk1"/>
              </a:buClr>
              <a:buSzPts val="2000"/>
              <a:buChar char="•"/>
            </a:pPr>
            <a:r>
              <a:rPr lang="en-US" sz="2000"/>
              <a:t>Bên trong Core 1, mem_xfer lên 1, mem_done bật lên decoder_trigger bật lên 1. </a:t>
            </a:r>
            <a:endParaRPr/>
          </a:p>
          <a:p>
            <a:pPr indent="-228600" lvl="0" marL="228600" rtl="0" algn="l">
              <a:lnSpc>
                <a:spcPct val="130000"/>
              </a:lnSpc>
              <a:spcBef>
                <a:spcPts val="600"/>
              </a:spcBef>
              <a:spcAft>
                <a:spcPts val="0"/>
              </a:spcAft>
              <a:buClr>
                <a:schemeClr val="dk1"/>
              </a:buClr>
              <a:buSzPts val="2000"/>
              <a:buChar char="•"/>
            </a:pPr>
            <a:r>
              <a:rPr lang="en-US" sz="2000"/>
              <a:t>Điều kiện if (decoder_trigger) được thỏa mãn, reg_next_pc lập tức được cộng thêm địa chỉ mới, phá vỡ hoàn toàn trạng thái đóng băng, Core 1 tiếp tục chạy bình thường.</a:t>
            </a:r>
            <a:endParaRPr/>
          </a:p>
        </p:txBody>
      </p:sp>
      <p:sp>
        <p:nvSpPr>
          <p:cNvPr id="462" name="Google Shape;462;p17"/>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463" name="Google Shape;463;p17"/>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64" name="Google Shape;464;p17"/>
          <p:cNvSpPr txBox="1"/>
          <p:nvPr/>
        </p:nvSpPr>
        <p:spPr>
          <a:xfrm>
            <a:off x="699516" y="1758829"/>
            <a:ext cx="862316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7058"/>
              </a:buClr>
              <a:buSzPts val="2800"/>
              <a:buFont typeface="Times New Roman"/>
              <a:buNone/>
            </a:pPr>
            <a:r>
              <a:rPr b="1" i="0" lang="en-US" sz="2800" u="none" cap="none" strike="noStrike">
                <a:solidFill>
                  <a:srgbClr val="017058"/>
                </a:solidFill>
                <a:latin typeface="Times New Roman"/>
                <a:ea typeface="Times New Roman"/>
                <a:cs typeface="Times New Roman"/>
                <a:sym typeface="Times New Roman"/>
              </a:rPr>
              <a:t>2.</a:t>
            </a:r>
            <a:r>
              <a:rPr b="1" lang="en-US" sz="2800">
                <a:solidFill>
                  <a:srgbClr val="017058"/>
                </a:solidFill>
                <a:latin typeface="Times New Roman"/>
                <a:ea typeface="Times New Roman"/>
                <a:cs typeface="Times New Roman"/>
                <a:sym typeface="Times New Roman"/>
              </a:rPr>
              <a:t>7</a:t>
            </a:r>
            <a:r>
              <a:rPr b="1" i="0" lang="en-US" sz="2800" u="none" cap="none" strike="noStrike">
                <a:solidFill>
                  <a:srgbClr val="017058"/>
                </a:solidFill>
                <a:latin typeface="Times New Roman"/>
                <a:ea typeface="Times New Roman"/>
                <a:cs typeface="Times New Roman"/>
                <a:sym typeface="Times New Roman"/>
              </a:rPr>
              <a:t> </a:t>
            </a:r>
            <a:r>
              <a:rPr b="1" lang="en-US" sz="2800">
                <a:solidFill>
                  <a:srgbClr val="017058"/>
                </a:solidFill>
                <a:latin typeface="Times New Roman"/>
                <a:ea typeface="Times New Roman"/>
                <a:cs typeface="Times New Roman"/>
                <a:sym typeface="Times New Roman"/>
              </a:rPr>
              <a:t>Chuỗi sự kiện xảy ra bên trong core phải stall</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18"/>
          <p:cNvSpPr txBox="1"/>
          <p:nvPr>
            <p:ph idx="11" type="ftr"/>
          </p:nvPr>
        </p:nvSpPr>
        <p:spPr>
          <a:xfrm>
            <a:off x="723265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470" name="Google Shape;470;p18"/>
          <p:cNvSpPr txBox="1"/>
          <p:nvPr>
            <p:ph idx="12" type="sldNum"/>
          </p:nvPr>
        </p:nvSpPr>
        <p:spPr>
          <a:xfrm>
            <a:off x="10409692" y="332284"/>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71" name="Google Shape;471;p18"/>
          <p:cNvSpPr txBox="1"/>
          <p:nvPr>
            <p:ph type="title"/>
          </p:nvPr>
        </p:nvSpPr>
        <p:spPr>
          <a:xfrm>
            <a:off x="1653362" y="2425382"/>
            <a:ext cx="9177548" cy="150595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Times New Roman"/>
              <a:buNone/>
            </a:pPr>
            <a:r>
              <a:rPr lang="en-US"/>
              <a:t>KẾT QUẢ CỦA</a:t>
            </a:r>
            <a:br>
              <a:rPr lang="en-US"/>
            </a:br>
            <a:r>
              <a:rPr lang="en-US"/>
              <a:t>GIẢI PHÁP ĐỀ XUẤT</a:t>
            </a:r>
            <a:endParaRPr/>
          </a:p>
        </p:txBody>
      </p:sp>
      <p:sp>
        <p:nvSpPr>
          <p:cNvPr id="472" name="Google Shape;472;p18"/>
          <p:cNvSpPr txBox="1"/>
          <p:nvPr>
            <p:ph idx="2" type="body"/>
          </p:nvPr>
        </p:nvSpPr>
        <p:spPr>
          <a:xfrm>
            <a:off x="1653362" y="561276"/>
            <a:ext cx="2052637" cy="178593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11500"/>
              <a:buNone/>
            </a:pPr>
            <a:r>
              <a:rPr lang="en-US"/>
              <a:t>03</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19"/>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3. Kết quả</a:t>
            </a:r>
            <a:endParaRPr/>
          </a:p>
        </p:txBody>
      </p:sp>
      <p:sp>
        <p:nvSpPr>
          <p:cNvPr id="478" name="Google Shape;478;p19"/>
          <p:cNvSpPr txBox="1"/>
          <p:nvPr>
            <p:ph idx="1" type="body"/>
          </p:nvPr>
        </p:nvSpPr>
        <p:spPr>
          <a:xfrm>
            <a:off x="606000" y="2199666"/>
            <a:ext cx="10980000" cy="4156684"/>
          </a:xfrm>
          <a:prstGeom prst="rect">
            <a:avLst/>
          </a:prstGeom>
          <a:noFill/>
          <a:ln>
            <a:noFill/>
          </a:ln>
        </p:spPr>
        <p:txBody>
          <a:bodyPr anchorCtr="0" anchor="t" bIns="45700" lIns="91425" spcFirstLastPara="1" rIns="91425" wrap="square" tIns="45700">
            <a:normAutofit/>
          </a:bodyPr>
          <a:lstStyle/>
          <a:p>
            <a:pPr indent="-228600" lvl="0" marL="228600" rtl="0" algn="l">
              <a:lnSpc>
                <a:spcPct val="130000"/>
              </a:lnSpc>
              <a:spcBef>
                <a:spcPts val="0"/>
              </a:spcBef>
              <a:spcAft>
                <a:spcPts val="0"/>
              </a:spcAft>
              <a:buClr>
                <a:schemeClr val="dk1"/>
              </a:buClr>
              <a:buSzPts val="2400"/>
              <a:buChar char="•"/>
            </a:pPr>
            <a:r>
              <a:rPr b="1" lang="en-US" sz="2400"/>
              <a:t>Kết quả mô phỏng:</a:t>
            </a:r>
            <a:r>
              <a:rPr lang="en-US" sz="2400"/>
              <a:t> </a:t>
            </a:r>
            <a:endParaRPr/>
          </a:p>
          <a:p>
            <a:pPr indent="-228600" lvl="0" marL="228600" rtl="0" algn="l">
              <a:lnSpc>
                <a:spcPct val="130000"/>
              </a:lnSpc>
              <a:spcBef>
                <a:spcPts val="600"/>
              </a:spcBef>
              <a:spcAft>
                <a:spcPts val="0"/>
              </a:spcAft>
              <a:buClr>
                <a:schemeClr val="dk1"/>
              </a:buClr>
              <a:buSzPts val="2400"/>
              <a:buChar char="•"/>
            </a:pPr>
            <a:r>
              <a:rPr lang="en-US" sz="2400"/>
              <a:t>Xây dựng môi trường kiểm thử tự động (Automated Testbench) tb_arbiter.v trên ModelSim.</a:t>
            </a:r>
            <a:endParaRPr/>
          </a:p>
          <a:p>
            <a:pPr indent="-228600" lvl="0" marL="228600" rtl="0" algn="l">
              <a:lnSpc>
                <a:spcPct val="130000"/>
              </a:lnSpc>
              <a:spcBef>
                <a:spcPts val="600"/>
              </a:spcBef>
              <a:spcAft>
                <a:spcPts val="0"/>
              </a:spcAft>
              <a:buClr>
                <a:schemeClr val="dk1"/>
              </a:buClr>
              <a:buSzPts val="2400"/>
              <a:buChar char="•"/>
            </a:pPr>
            <a:r>
              <a:rPr lang="en-US" sz="2400"/>
              <a:t>Hệ thống nạp thành công mã máy dạng Hexadecimal (program.hex) vào Single-Port RAM tại chu kỳ reset ban đầu.</a:t>
            </a:r>
            <a:endParaRPr/>
          </a:p>
          <a:p>
            <a:pPr indent="-228600" lvl="0" marL="228600" rtl="0" algn="l">
              <a:lnSpc>
                <a:spcPct val="130000"/>
              </a:lnSpc>
              <a:spcBef>
                <a:spcPts val="600"/>
              </a:spcBef>
              <a:spcAft>
                <a:spcPts val="0"/>
              </a:spcAft>
              <a:buClr>
                <a:schemeClr val="dk1"/>
              </a:buClr>
              <a:buSzPts val="2400"/>
              <a:buChar char="•"/>
            </a:pPr>
            <a:r>
              <a:rPr lang="en-US" sz="2400"/>
              <a:t>Tích hợp hệ thống Log tự động giám sát các chân tín hiệu (Dùng $display trong Verilog).</a:t>
            </a:r>
            <a:endParaRPr/>
          </a:p>
        </p:txBody>
      </p:sp>
      <p:sp>
        <p:nvSpPr>
          <p:cNvPr id="479" name="Google Shape;479;p19"/>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480" name="Google Shape;480;p19"/>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81" name="Google Shape;481;p19"/>
          <p:cNvSpPr txBox="1"/>
          <p:nvPr/>
        </p:nvSpPr>
        <p:spPr>
          <a:xfrm>
            <a:off x="647438" y="1707989"/>
            <a:ext cx="717225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017058"/>
                </a:solidFill>
                <a:latin typeface="Times New Roman"/>
                <a:ea typeface="Times New Roman"/>
                <a:cs typeface="Times New Roman"/>
                <a:sym typeface="Times New Roman"/>
              </a:rPr>
              <a:t>3.1 Môi trường Testbench &amp; Khởi tạo </a:t>
            </a:r>
            <a:endParaRPr sz="11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20"/>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3. Kết quả</a:t>
            </a:r>
            <a:endParaRPr/>
          </a:p>
        </p:txBody>
      </p:sp>
      <p:sp>
        <p:nvSpPr>
          <p:cNvPr id="487" name="Google Shape;487;p20"/>
          <p:cNvSpPr txBox="1"/>
          <p:nvPr>
            <p:ph idx="1" type="body"/>
          </p:nvPr>
        </p:nvSpPr>
        <p:spPr>
          <a:xfrm>
            <a:off x="605999" y="5453488"/>
            <a:ext cx="10980000" cy="1805724"/>
          </a:xfrm>
          <a:prstGeom prst="rect">
            <a:avLst/>
          </a:prstGeom>
          <a:noFill/>
          <a:ln>
            <a:noFill/>
          </a:ln>
        </p:spPr>
        <p:txBody>
          <a:bodyPr anchorCtr="0" anchor="t" bIns="45700" lIns="91425" spcFirstLastPara="1" rIns="91425" wrap="square" tIns="45700">
            <a:normAutofit/>
          </a:bodyPr>
          <a:lstStyle/>
          <a:p>
            <a:pPr indent="-228600" lvl="0" marL="228600" rtl="0" algn="l">
              <a:lnSpc>
                <a:spcPct val="130000"/>
              </a:lnSpc>
              <a:spcBef>
                <a:spcPts val="0"/>
              </a:spcBef>
              <a:spcAft>
                <a:spcPts val="0"/>
              </a:spcAft>
              <a:buClr>
                <a:schemeClr val="dk1"/>
              </a:buClr>
              <a:buSzPts val="1600"/>
              <a:buChar char="•"/>
            </a:pPr>
            <a:r>
              <a:rPr b="1" lang="en-US" sz="1600"/>
              <a:t>Kết quả:</a:t>
            </a:r>
            <a:r>
              <a:rPr lang="en-US" sz="1600"/>
              <a:t> Log Console tự động ($display) có khả năng nhận diện chính xác Core nào đang đọc mã lệnh (instr = 1), Core nào đang ghi dữ liệu, và phát hiện xung đột (c0_valid &amp;&amp; !c0_ready &amp;&amp; arb_g1) với độ chính xác tính bằng pico-giây (ps).</a:t>
            </a:r>
            <a:endParaRPr/>
          </a:p>
        </p:txBody>
      </p:sp>
      <p:sp>
        <p:nvSpPr>
          <p:cNvPr id="488" name="Google Shape;488;p20"/>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489" name="Google Shape;489;p20"/>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490" name="Google Shape;490;p20"/>
          <p:cNvSpPr txBox="1"/>
          <p:nvPr/>
        </p:nvSpPr>
        <p:spPr>
          <a:xfrm>
            <a:off x="647438" y="1707989"/>
            <a:ext cx="717225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017058"/>
                </a:solidFill>
                <a:latin typeface="Times New Roman"/>
                <a:ea typeface="Times New Roman"/>
                <a:cs typeface="Times New Roman"/>
                <a:sym typeface="Times New Roman"/>
              </a:rPr>
              <a:t>3.1 Môi trường Testbench &amp; Khởi tạo </a:t>
            </a:r>
            <a:endParaRPr sz="1100">
              <a:solidFill>
                <a:schemeClr val="dk1"/>
              </a:solidFill>
              <a:latin typeface="Arial"/>
              <a:ea typeface="Arial"/>
              <a:cs typeface="Arial"/>
              <a:sym typeface="Arial"/>
            </a:endParaRPr>
          </a:p>
        </p:txBody>
      </p:sp>
      <p:pic>
        <p:nvPicPr>
          <p:cNvPr id="491" name="Google Shape;491;p20"/>
          <p:cNvPicPr preferRelativeResize="0"/>
          <p:nvPr/>
        </p:nvPicPr>
        <p:blipFill rotWithShape="1">
          <a:blip r:embed="rId3">
            <a:alphaModFix/>
          </a:blip>
          <a:srcRect b="0" l="0" r="0" t="0"/>
          <a:stretch/>
        </p:blipFill>
        <p:spPr>
          <a:xfrm>
            <a:off x="2509874" y="2346873"/>
            <a:ext cx="7172252" cy="287430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21"/>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000"/>
              <a:buFont typeface="Times New Roman"/>
              <a:buNone/>
            </a:pPr>
            <a:r>
              <a:rPr lang="en-US" sz="4000"/>
              <a:t>3. Kết quả</a:t>
            </a:r>
            <a:endParaRPr/>
          </a:p>
        </p:txBody>
      </p:sp>
      <p:sp>
        <p:nvSpPr>
          <p:cNvPr id="497" name="Google Shape;497;p21"/>
          <p:cNvSpPr txBox="1"/>
          <p:nvPr>
            <p:ph idx="1" type="body"/>
          </p:nvPr>
        </p:nvSpPr>
        <p:spPr>
          <a:xfrm>
            <a:off x="432816" y="2382228"/>
            <a:ext cx="3279648" cy="4156684"/>
          </a:xfrm>
          <a:prstGeom prst="rect">
            <a:avLst/>
          </a:prstGeom>
          <a:noFill/>
          <a:ln>
            <a:noFill/>
          </a:ln>
        </p:spPr>
        <p:txBody>
          <a:bodyPr anchorCtr="0" anchor="t" bIns="45700" lIns="91425" spcFirstLastPara="1" rIns="91425" wrap="square" tIns="45700">
            <a:normAutofit/>
          </a:bodyPr>
          <a:lstStyle/>
          <a:p>
            <a:pPr indent="-228600" lvl="0" marL="228600" rtl="0" algn="l">
              <a:lnSpc>
                <a:spcPct val="130000"/>
              </a:lnSpc>
              <a:spcBef>
                <a:spcPts val="0"/>
              </a:spcBef>
              <a:spcAft>
                <a:spcPts val="0"/>
              </a:spcAft>
              <a:buClr>
                <a:schemeClr val="dk1"/>
              </a:buClr>
              <a:buSzPts val="1800"/>
              <a:buChar char="•"/>
            </a:pPr>
            <a:r>
              <a:rPr b="1" lang="en-US" sz="1800"/>
              <a:t>Kết quả mô phỏng:</a:t>
            </a:r>
            <a:r>
              <a:rPr lang="en-US" sz="1800"/>
              <a:t> </a:t>
            </a:r>
            <a:endParaRPr/>
          </a:p>
          <a:p>
            <a:pPr indent="-228600" lvl="0" marL="228600" rtl="0" algn="l">
              <a:lnSpc>
                <a:spcPct val="130000"/>
              </a:lnSpc>
              <a:spcBef>
                <a:spcPts val="600"/>
              </a:spcBef>
              <a:spcAft>
                <a:spcPts val="0"/>
              </a:spcAft>
              <a:buClr>
                <a:schemeClr val="dk1"/>
              </a:buClr>
              <a:buSzPts val="1800"/>
              <a:buChar char="•"/>
            </a:pPr>
            <a:r>
              <a:rPr lang="en-US" sz="1800"/>
              <a:t>Kiểm chứng cơ chế tăng Program Counter (PC).</a:t>
            </a:r>
            <a:endParaRPr/>
          </a:p>
          <a:p>
            <a:pPr indent="-228600" lvl="0" marL="228600" rtl="0" algn="l">
              <a:lnSpc>
                <a:spcPct val="130000"/>
              </a:lnSpc>
              <a:spcBef>
                <a:spcPts val="600"/>
              </a:spcBef>
              <a:spcAft>
                <a:spcPts val="0"/>
              </a:spcAft>
              <a:buClr>
                <a:schemeClr val="dk1"/>
              </a:buClr>
              <a:buSzPts val="1800"/>
              <a:buChar char="•"/>
            </a:pPr>
            <a:r>
              <a:rPr lang="en-US" sz="1800"/>
              <a:t>Trên Waveform, tín hiệu c0_addr và c1_addr liên tục nhảy bước +4 byte.</a:t>
            </a:r>
            <a:endParaRPr/>
          </a:p>
          <a:p>
            <a:pPr indent="-228600" lvl="0" marL="228600" rtl="0" algn="l">
              <a:lnSpc>
                <a:spcPct val="130000"/>
              </a:lnSpc>
              <a:spcBef>
                <a:spcPts val="600"/>
              </a:spcBef>
              <a:spcAft>
                <a:spcPts val="0"/>
              </a:spcAft>
              <a:buClr>
                <a:schemeClr val="dk1"/>
              </a:buClr>
              <a:buSzPts val="1800"/>
              <a:buChar char="•"/>
            </a:pPr>
            <a:r>
              <a:rPr lang="en-US" sz="1800"/>
              <a:t>Luồng lệnh được hai Core kéo về độc lập và giải mã song song thành công.</a:t>
            </a:r>
            <a:endParaRPr/>
          </a:p>
        </p:txBody>
      </p:sp>
      <p:sp>
        <p:nvSpPr>
          <p:cNvPr id="498" name="Google Shape;498;p21"/>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499" name="Google Shape;499;p21"/>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500" name="Google Shape;500;p21"/>
          <p:cNvPicPr preferRelativeResize="0"/>
          <p:nvPr/>
        </p:nvPicPr>
        <p:blipFill rotWithShape="1">
          <a:blip r:embed="rId3">
            <a:alphaModFix/>
          </a:blip>
          <a:srcRect b="0" l="0" r="0" t="0"/>
          <a:stretch/>
        </p:blipFill>
        <p:spPr>
          <a:xfrm>
            <a:off x="3630168" y="2567136"/>
            <a:ext cx="8366760" cy="2842732"/>
          </a:xfrm>
          <a:prstGeom prst="rect">
            <a:avLst/>
          </a:prstGeom>
          <a:noFill/>
          <a:ln>
            <a:noFill/>
          </a:ln>
        </p:spPr>
      </p:pic>
      <p:sp>
        <p:nvSpPr>
          <p:cNvPr id="501" name="Google Shape;501;p21"/>
          <p:cNvSpPr txBox="1"/>
          <p:nvPr/>
        </p:nvSpPr>
        <p:spPr>
          <a:xfrm>
            <a:off x="715728" y="1710985"/>
            <a:ext cx="721212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7058"/>
              </a:buClr>
              <a:buSzPts val="2800"/>
              <a:buFont typeface="Times New Roman"/>
              <a:buNone/>
            </a:pPr>
            <a:r>
              <a:rPr b="1" i="0" lang="en-US" sz="2800" u="none" cap="none" strike="noStrike">
                <a:solidFill>
                  <a:srgbClr val="017058"/>
                </a:solidFill>
                <a:latin typeface="Times New Roman"/>
                <a:ea typeface="Times New Roman"/>
                <a:cs typeface="Times New Roman"/>
                <a:sym typeface="Times New Roman"/>
              </a:rPr>
              <a:t>3.</a:t>
            </a:r>
            <a:r>
              <a:rPr b="1" lang="en-US" sz="2800">
                <a:solidFill>
                  <a:srgbClr val="017058"/>
                </a:solidFill>
                <a:latin typeface="Times New Roman"/>
                <a:ea typeface="Times New Roman"/>
                <a:cs typeface="Times New Roman"/>
                <a:sym typeface="Times New Roman"/>
              </a:rPr>
              <a:t>2 Hoạt động nạp lệnh – Instruction Fetch </a:t>
            </a:r>
            <a:r>
              <a:rPr b="1" i="0" lang="en-US" sz="2800" u="none" cap="none" strike="noStrike">
                <a:solidFill>
                  <a:srgbClr val="017058"/>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22"/>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000"/>
              <a:buFont typeface="Times New Roman"/>
              <a:buNone/>
            </a:pPr>
            <a:r>
              <a:rPr lang="en-US" sz="4000"/>
              <a:t>3. Kết quả</a:t>
            </a:r>
            <a:endParaRPr/>
          </a:p>
        </p:txBody>
      </p:sp>
      <p:sp>
        <p:nvSpPr>
          <p:cNvPr id="507" name="Google Shape;507;p22"/>
          <p:cNvSpPr txBox="1"/>
          <p:nvPr>
            <p:ph idx="1" type="body"/>
          </p:nvPr>
        </p:nvSpPr>
        <p:spPr>
          <a:xfrm>
            <a:off x="606000" y="4921427"/>
            <a:ext cx="11272056" cy="1729168"/>
          </a:xfrm>
          <a:prstGeom prst="rect">
            <a:avLst/>
          </a:prstGeom>
          <a:noFill/>
          <a:ln>
            <a:noFill/>
          </a:ln>
        </p:spPr>
        <p:txBody>
          <a:bodyPr anchorCtr="0" anchor="t" bIns="45700" lIns="91425" spcFirstLastPara="1" rIns="91425" wrap="square" tIns="45700">
            <a:noAutofit/>
          </a:bodyPr>
          <a:lstStyle/>
          <a:p>
            <a:pPr indent="-228600" lvl="0" marL="228600" rtl="0" algn="l">
              <a:lnSpc>
                <a:spcPct val="130000"/>
              </a:lnSpc>
              <a:spcBef>
                <a:spcPts val="0"/>
              </a:spcBef>
              <a:spcAft>
                <a:spcPts val="0"/>
              </a:spcAft>
              <a:buClr>
                <a:schemeClr val="dk1"/>
              </a:buClr>
              <a:buSzPts val="1600"/>
              <a:buChar char="•"/>
            </a:pPr>
            <a:r>
              <a:rPr lang="en-US" sz="1600">
                <a:latin typeface="Times New Roman"/>
                <a:ea typeface="Times New Roman"/>
                <a:cs typeface="Times New Roman"/>
                <a:sym typeface="Times New Roman"/>
              </a:rPr>
              <a:t>Nhìn vào thanh c0_addr, giá trị khởi tạo đúng bằng 0x00000000.</a:t>
            </a:r>
            <a:endParaRPr/>
          </a:p>
          <a:p>
            <a:pPr indent="-228600" lvl="0" marL="228600" rtl="0" algn="l">
              <a:lnSpc>
                <a:spcPct val="130000"/>
              </a:lnSpc>
              <a:spcBef>
                <a:spcPts val="600"/>
              </a:spcBef>
              <a:spcAft>
                <a:spcPts val="0"/>
              </a:spcAft>
              <a:buClr>
                <a:schemeClr val="dk1"/>
              </a:buClr>
              <a:buSzPts val="1600"/>
              <a:buChar char="•"/>
            </a:pPr>
            <a:r>
              <a:rPr lang="en-US" sz="1600">
                <a:latin typeface="Times New Roman"/>
                <a:ea typeface="Times New Roman"/>
                <a:cs typeface="Times New Roman"/>
                <a:sym typeface="Times New Roman"/>
              </a:rPr>
              <a:t>Nhìn vào thanh c1_addr, giá trị khởi tạo đúng bằng 0x00001000.</a:t>
            </a:r>
            <a:endParaRPr/>
          </a:p>
          <a:p>
            <a:pPr indent="-228600" lvl="0" marL="228600" rtl="0" algn="l">
              <a:lnSpc>
                <a:spcPct val="130000"/>
              </a:lnSpc>
              <a:spcBef>
                <a:spcPts val="600"/>
              </a:spcBef>
              <a:spcAft>
                <a:spcPts val="0"/>
              </a:spcAft>
              <a:buClr>
                <a:schemeClr val="dk1"/>
              </a:buClr>
              <a:buSzPts val="1600"/>
              <a:buChar char="•"/>
            </a:pPr>
            <a:r>
              <a:rPr b="1" lang="en-US" sz="1600">
                <a:latin typeface="Times New Roman"/>
                <a:ea typeface="Times New Roman"/>
                <a:cs typeface="Times New Roman"/>
                <a:sym typeface="Times New Roman"/>
              </a:rPr>
              <a:t>Phân tích Bus:</a:t>
            </a:r>
            <a:r>
              <a:rPr lang="en-US" sz="1600">
                <a:latin typeface="Times New Roman"/>
                <a:ea typeface="Times New Roman"/>
                <a:cs typeface="Times New Roman"/>
                <a:sym typeface="Times New Roman"/>
              </a:rPr>
              <a:t> Mặc dù khởi động cùng lúc, nhưng thanh s_addr (địa chỉ RAM chung) liên tục nhảy luân phiên giữa dải 0x00... và 0x10.... Chứng minh Arbiter đã băm nhỏ thời gian (Time-multiplexing) thành công để cấp lệnh cho 2 Core.</a:t>
            </a:r>
            <a:endParaRPr/>
          </a:p>
        </p:txBody>
      </p:sp>
      <p:sp>
        <p:nvSpPr>
          <p:cNvPr id="508" name="Google Shape;508;p22"/>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509" name="Google Shape;509;p22"/>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10" name="Google Shape;510;p22"/>
          <p:cNvSpPr txBox="1"/>
          <p:nvPr/>
        </p:nvSpPr>
        <p:spPr>
          <a:xfrm>
            <a:off x="715728" y="1710985"/>
            <a:ext cx="721212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7058"/>
              </a:buClr>
              <a:buSzPts val="2800"/>
              <a:buFont typeface="Times New Roman"/>
              <a:buNone/>
            </a:pPr>
            <a:r>
              <a:rPr b="1" i="0" lang="en-US" sz="2800" u="none" cap="none" strike="noStrike">
                <a:solidFill>
                  <a:srgbClr val="017058"/>
                </a:solidFill>
                <a:latin typeface="Times New Roman"/>
                <a:ea typeface="Times New Roman"/>
                <a:cs typeface="Times New Roman"/>
                <a:sym typeface="Times New Roman"/>
              </a:rPr>
              <a:t>3.</a:t>
            </a:r>
            <a:r>
              <a:rPr b="1" lang="en-US" sz="2800">
                <a:solidFill>
                  <a:srgbClr val="017058"/>
                </a:solidFill>
                <a:latin typeface="Times New Roman"/>
                <a:ea typeface="Times New Roman"/>
                <a:cs typeface="Times New Roman"/>
                <a:sym typeface="Times New Roman"/>
              </a:rPr>
              <a:t>2 Hoạt động nạp lệnh – Instruction Fetch </a:t>
            </a:r>
            <a:r>
              <a:rPr b="1" i="0" lang="en-US" sz="2800" u="none" cap="none" strike="noStrike">
                <a:solidFill>
                  <a:srgbClr val="017058"/>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p:txBody>
      </p:sp>
      <p:pic>
        <p:nvPicPr>
          <p:cNvPr id="511" name="Google Shape;511;p22"/>
          <p:cNvPicPr preferRelativeResize="0"/>
          <p:nvPr/>
        </p:nvPicPr>
        <p:blipFill rotWithShape="1">
          <a:blip r:embed="rId3">
            <a:alphaModFix/>
          </a:blip>
          <a:srcRect b="0" l="0" r="0" t="0"/>
          <a:stretch/>
        </p:blipFill>
        <p:spPr>
          <a:xfrm>
            <a:off x="1125878" y="2271587"/>
            <a:ext cx="10330172" cy="25007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23"/>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000"/>
              <a:buFont typeface="Times New Roman"/>
              <a:buNone/>
            </a:pPr>
            <a:r>
              <a:rPr lang="en-US" sz="4000"/>
              <a:t>3. Kết quả</a:t>
            </a:r>
            <a:endParaRPr/>
          </a:p>
        </p:txBody>
      </p:sp>
      <p:sp>
        <p:nvSpPr>
          <p:cNvPr id="517" name="Google Shape;517;p23"/>
          <p:cNvSpPr txBox="1"/>
          <p:nvPr>
            <p:ph idx="1" type="body"/>
          </p:nvPr>
        </p:nvSpPr>
        <p:spPr>
          <a:xfrm>
            <a:off x="606000" y="2234205"/>
            <a:ext cx="3627564" cy="4156684"/>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30000"/>
              </a:lnSpc>
              <a:spcBef>
                <a:spcPts val="0"/>
              </a:spcBef>
              <a:spcAft>
                <a:spcPts val="0"/>
              </a:spcAft>
              <a:buClr>
                <a:schemeClr val="dk1"/>
              </a:buClr>
              <a:buSzPct val="100000"/>
              <a:buChar char="•"/>
            </a:pPr>
            <a:r>
              <a:rPr b="1" lang="en-US"/>
              <a:t>Kết quả mô phỏng:</a:t>
            </a:r>
            <a:r>
              <a:rPr lang="en-US"/>
              <a:t> </a:t>
            </a:r>
            <a:endParaRPr/>
          </a:p>
          <a:p>
            <a:pPr indent="-228600" lvl="0" marL="228600" rtl="0" algn="l">
              <a:lnSpc>
                <a:spcPct val="130000"/>
              </a:lnSpc>
              <a:spcBef>
                <a:spcPts val="600"/>
              </a:spcBef>
              <a:spcAft>
                <a:spcPts val="0"/>
              </a:spcAft>
              <a:buClr>
                <a:schemeClr val="dk1"/>
              </a:buClr>
              <a:buSzPct val="100000"/>
              <a:buChar char="•"/>
            </a:pPr>
            <a:r>
              <a:rPr lang="en-US"/>
              <a:t>Sự kiện: Cả 2 Core đồng thời xuất tín hiệu valid = 1.</a:t>
            </a:r>
            <a:endParaRPr/>
          </a:p>
          <a:p>
            <a:pPr indent="-228600" lvl="0" marL="228600" rtl="0" algn="l">
              <a:lnSpc>
                <a:spcPct val="130000"/>
              </a:lnSpc>
              <a:spcBef>
                <a:spcPts val="600"/>
              </a:spcBef>
              <a:spcAft>
                <a:spcPts val="0"/>
              </a:spcAft>
              <a:buClr>
                <a:schemeClr val="dk1"/>
              </a:buClr>
              <a:buSzPct val="100000"/>
              <a:buChar char="•"/>
            </a:pPr>
            <a:r>
              <a:rPr lang="en-US"/>
              <a:t>Arbiter phản hồi tức thời: Dựa vào cờ ưu tiên, Arbiter cấp quyền cho Core thắng (kéo ready lên 1) và chặn Core thua (kéo ready xuống 0).</a:t>
            </a:r>
            <a:endParaRPr/>
          </a:p>
        </p:txBody>
      </p:sp>
      <p:sp>
        <p:nvSpPr>
          <p:cNvPr id="518" name="Google Shape;518;p23"/>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519" name="Google Shape;519;p23"/>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20" name="Google Shape;520;p23"/>
          <p:cNvSpPr txBox="1"/>
          <p:nvPr/>
        </p:nvSpPr>
        <p:spPr>
          <a:xfrm>
            <a:off x="715728" y="1710985"/>
            <a:ext cx="721212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17058"/>
              </a:buClr>
              <a:buSzPts val="2800"/>
              <a:buFont typeface="Times New Roman"/>
              <a:buNone/>
            </a:pPr>
            <a:r>
              <a:rPr b="1" i="0" lang="en-US" sz="2800" u="none" cap="none" strike="noStrike">
                <a:solidFill>
                  <a:srgbClr val="017058"/>
                </a:solidFill>
                <a:latin typeface="Times New Roman"/>
                <a:ea typeface="Times New Roman"/>
                <a:cs typeface="Times New Roman"/>
                <a:sym typeface="Times New Roman"/>
              </a:rPr>
              <a:t>3.3 Xử lý tranh chấp &amp; Phân xử Arbiter</a:t>
            </a:r>
            <a:r>
              <a:rPr b="1" lang="en-US" sz="2800">
                <a:solidFill>
                  <a:srgbClr val="017058"/>
                </a:solidFill>
                <a:latin typeface="Times New Roman"/>
                <a:ea typeface="Times New Roman"/>
                <a:cs typeface="Times New Roman"/>
                <a:sym typeface="Times New Roman"/>
              </a:rPr>
              <a:t> </a:t>
            </a:r>
            <a:r>
              <a:rPr b="1" i="0" lang="en-US" sz="2800" u="none" cap="none" strike="noStrike">
                <a:solidFill>
                  <a:srgbClr val="017058"/>
                </a:solidFill>
                <a:latin typeface="Times New Roman"/>
                <a:ea typeface="Times New Roman"/>
                <a:cs typeface="Times New Roman"/>
                <a:sym typeface="Times New Roman"/>
              </a:rPr>
              <a:t> </a:t>
            </a:r>
            <a:endParaRPr b="0" i="0" sz="1100" u="none" cap="none" strike="noStrike">
              <a:solidFill>
                <a:srgbClr val="000000"/>
              </a:solidFill>
              <a:latin typeface="Arial"/>
              <a:ea typeface="Arial"/>
              <a:cs typeface="Arial"/>
              <a:sym typeface="Arial"/>
            </a:endParaRPr>
          </a:p>
        </p:txBody>
      </p:sp>
      <p:pic>
        <p:nvPicPr>
          <p:cNvPr id="521" name="Google Shape;521;p23"/>
          <p:cNvPicPr preferRelativeResize="0"/>
          <p:nvPr/>
        </p:nvPicPr>
        <p:blipFill rotWithShape="1">
          <a:blip r:embed="rId3">
            <a:alphaModFix/>
          </a:blip>
          <a:srcRect b="0" l="0" r="0" t="0"/>
          <a:stretch/>
        </p:blipFill>
        <p:spPr>
          <a:xfrm>
            <a:off x="4096512" y="2601648"/>
            <a:ext cx="7946136" cy="289389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24"/>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000"/>
              <a:buFont typeface="Times New Roman"/>
              <a:buNone/>
            </a:pPr>
            <a:r>
              <a:rPr lang="en-US" sz="4000"/>
              <a:t>3. Kết quả</a:t>
            </a:r>
            <a:endParaRPr/>
          </a:p>
        </p:txBody>
      </p:sp>
      <p:sp>
        <p:nvSpPr>
          <p:cNvPr id="527" name="Google Shape;527;p24"/>
          <p:cNvSpPr txBox="1"/>
          <p:nvPr>
            <p:ph idx="1" type="body"/>
          </p:nvPr>
        </p:nvSpPr>
        <p:spPr>
          <a:xfrm>
            <a:off x="735950" y="4879699"/>
            <a:ext cx="10850050" cy="1460318"/>
          </a:xfrm>
          <a:prstGeom prst="rect">
            <a:avLst/>
          </a:prstGeom>
          <a:noFill/>
          <a:ln>
            <a:noFill/>
          </a:ln>
        </p:spPr>
        <p:txBody>
          <a:bodyPr anchorCtr="0" anchor="t" bIns="45700" lIns="91425" spcFirstLastPara="1" rIns="91425" wrap="square" tIns="45700">
            <a:noAutofit/>
          </a:bodyPr>
          <a:lstStyle/>
          <a:p>
            <a:pPr indent="-228600" lvl="0" marL="228600" rtl="0" algn="l">
              <a:lnSpc>
                <a:spcPct val="130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Phân xử tức thời: Khi c0_valid = 1 và c1_valid = 1, Arbiter lập tức kích hoạt arb_g1 = 1.</a:t>
            </a:r>
            <a:endParaRPr/>
          </a:p>
          <a:p>
            <a:pPr indent="-228600" lvl="0" marL="228600" rtl="0" algn="l">
              <a:lnSpc>
                <a:spcPct val="130000"/>
              </a:lnSpc>
              <a:spcBef>
                <a:spcPts val="600"/>
              </a:spcBef>
              <a:spcAft>
                <a:spcPts val="0"/>
              </a:spcAft>
              <a:buClr>
                <a:schemeClr val="dk1"/>
              </a:buClr>
              <a:buSzPts val="1800"/>
              <a:buChar char="•"/>
            </a:pPr>
            <a:r>
              <a:rPr lang="en-US" sz="1800">
                <a:latin typeface="Times New Roman"/>
                <a:ea typeface="Times New Roman"/>
                <a:cs typeface="Times New Roman"/>
                <a:sym typeface="Times New Roman"/>
              </a:rPr>
              <a:t>Ép Stall phần cứng: Tín hiệu c0_ready bị dập xuống 0 ngay trong chu kỳ xung nhịp.</a:t>
            </a:r>
            <a:endParaRPr/>
          </a:p>
          <a:p>
            <a:pPr indent="-228600" lvl="0" marL="228600" rtl="0" algn="l">
              <a:lnSpc>
                <a:spcPct val="130000"/>
              </a:lnSpc>
              <a:spcBef>
                <a:spcPts val="600"/>
              </a:spcBef>
              <a:spcAft>
                <a:spcPts val="0"/>
              </a:spcAft>
              <a:buClr>
                <a:schemeClr val="dk1"/>
              </a:buClr>
              <a:buSzPts val="1800"/>
              <a:buChar char="•"/>
            </a:pPr>
            <a:r>
              <a:rPr b="1" lang="en-US" sz="1800">
                <a:latin typeface="Times New Roman"/>
                <a:ea typeface="Times New Roman"/>
                <a:cs typeface="Times New Roman"/>
                <a:sym typeface="Times New Roman"/>
              </a:rPr>
              <a:t>Trạng thái Hold:</a:t>
            </a:r>
            <a:r>
              <a:rPr lang="en-US" sz="1800">
                <a:latin typeface="Times New Roman"/>
                <a:ea typeface="Times New Roman"/>
                <a:cs typeface="Times New Roman"/>
                <a:sym typeface="Times New Roman"/>
              </a:rPr>
              <a:t> Quan sát Waveform, tín hiệu c0_addr đi ngang (đóng băng), không tịnh tiến giá trị cho đến khi được cấp quyền lại.</a:t>
            </a:r>
            <a:endParaRPr/>
          </a:p>
        </p:txBody>
      </p:sp>
      <p:sp>
        <p:nvSpPr>
          <p:cNvPr id="528" name="Google Shape;528;p24"/>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529" name="Google Shape;529;p24"/>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30" name="Google Shape;530;p24"/>
          <p:cNvSpPr txBox="1"/>
          <p:nvPr/>
        </p:nvSpPr>
        <p:spPr>
          <a:xfrm>
            <a:off x="715728" y="1710985"/>
            <a:ext cx="72121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017058"/>
                </a:solidFill>
                <a:latin typeface="Times New Roman"/>
                <a:ea typeface="Times New Roman"/>
                <a:cs typeface="Times New Roman"/>
                <a:sym typeface="Times New Roman"/>
              </a:rPr>
              <a:t>3.</a:t>
            </a:r>
            <a:r>
              <a:rPr b="1" lang="en-US" sz="2800">
                <a:solidFill>
                  <a:srgbClr val="017058"/>
                </a:solidFill>
                <a:latin typeface="Times New Roman"/>
                <a:ea typeface="Times New Roman"/>
                <a:cs typeface="Times New Roman"/>
                <a:sym typeface="Times New Roman"/>
              </a:rPr>
              <a:t>4</a:t>
            </a:r>
            <a:r>
              <a:rPr b="1" i="0" lang="en-US" sz="2800" u="none" cap="none" strike="noStrike">
                <a:solidFill>
                  <a:srgbClr val="017058"/>
                </a:solidFill>
                <a:latin typeface="Times New Roman"/>
                <a:ea typeface="Times New Roman"/>
                <a:cs typeface="Times New Roman"/>
                <a:sym typeface="Times New Roman"/>
              </a:rPr>
              <a:t> Trạng thái Stall</a:t>
            </a:r>
            <a:endParaRPr b="0" i="0" sz="1100" u="none" cap="none" strike="noStrike">
              <a:solidFill>
                <a:srgbClr val="000000"/>
              </a:solidFill>
              <a:latin typeface="Arial"/>
              <a:ea typeface="Arial"/>
              <a:cs typeface="Arial"/>
              <a:sym typeface="Arial"/>
            </a:endParaRPr>
          </a:p>
        </p:txBody>
      </p:sp>
      <p:pic>
        <p:nvPicPr>
          <p:cNvPr id="531" name="Google Shape;531;p24"/>
          <p:cNvPicPr preferRelativeResize="0"/>
          <p:nvPr/>
        </p:nvPicPr>
        <p:blipFill rotWithShape="1">
          <a:blip r:embed="rId3">
            <a:alphaModFix/>
          </a:blip>
          <a:srcRect b="0" l="0" r="0" t="0"/>
          <a:stretch/>
        </p:blipFill>
        <p:spPr>
          <a:xfrm>
            <a:off x="1125878" y="2271587"/>
            <a:ext cx="10330172" cy="25007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25"/>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000"/>
              <a:buFont typeface="Times New Roman"/>
              <a:buNone/>
            </a:pPr>
            <a:r>
              <a:rPr lang="en-US" sz="4000"/>
              <a:t>3. Kết quả</a:t>
            </a:r>
            <a:endParaRPr/>
          </a:p>
        </p:txBody>
      </p:sp>
      <p:sp>
        <p:nvSpPr>
          <p:cNvPr id="537" name="Google Shape;537;p25"/>
          <p:cNvSpPr txBox="1"/>
          <p:nvPr>
            <p:ph idx="1" type="body"/>
          </p:nvPr>
        </p:nvSpPr>
        <p:spPr>
          <a:xfrm>
            <a:off x="606000" y="5175033"/>
            <a:ext cx="10357656" cy="1215856"/>
          </a:xfrm>
          <a:prstGeom prst="rect">
            <a:avLst/>
          </a:prstGeom>
          <a:noFill/>
          <a:ln>
            <a:noFill/>
          </a:ln>
        </p:spPr>
        <p:txBody>
          <a:bodyPr anchorCtr="0" anchor="t" bIns="45700" lIns="91425" spcFirstLastPara="1" rIns="91425" wrap="square" tIns="45700">
            <a:noAutofit/>
          </a:bodyPr>
          <a:lstStyle/>
          <a:p>
            <a:pPr indent="-228600" lvl="0" marL="228600" rtl="0" algn="l">
              <a:lnSpc>
                <a:spcPct val="130000"/>
              </a:lnSpc>
              <a:spcBef>
                <a:spcPts val="0"/>
              </a:spcBef>
              <a:spcAft>
                <a:spcPts val="0"/>
              </a:spcAft>
              <a:buClr>
                <a:schemeClr val="dk1"/>
              </a:buClr>
              <a:buSzPts val="1600"/>
              <a:buChar char="•"/>
            </a:pPr>
            <a:r>
              <a:rPr lang="en-US" sz="1600">
                <a:latin typeface="Times New Roman"/>
                <a:ea typeface="Times New Roman"/>
                <a:cs typeface="Times New Roman"/>
                <a:sym typeface="Times New Roman"/>
              </a:rPr>
              <a:t>Các cờ ngoại lệ (trap_0, trap_1) duy trì mức 0 tuyệt đối → Không xảy ra lỗi tập lệnh trong suốt quá trình phân xử Bus.</a:t>
            </a:r>
            <a:endParaRPr/>
          </a:p>
          <a:p>
            <a:pPr indent="-228600" lvl="0" marL="228600" rtl="0" algn="l">
              <a:lnSpc>
                <a:spcPct val="130000"/>
              </a:lnSpc>
              <a:spcBef>
                <a:spcPts val="600"/>
              </a:spcBef>
              <a:spcAft>
                <a:spcPts val="0"/>
              </a:spcAft>
              <a:buClr>
                <a:schemeClr val="dk1"/>
              </a:buClr>
              <a:buSzPts val="1600"/>
              <a:buChar char="•"/>
            </a:pPr>
            <a:r>
              <a:rPr lang="en-US" sz="1600">
                <a:latin typeface="Times New Roman"/>
                <a:ea typeface="Times New Roman"/>
                <a:cs typeface="Times New Roman"/>
                <a:sym typeface="Times New Roman"/>
              </a:rPr>
              <a:t>Mã máy trả về cuối chương trình: 0x0000006f.</a:t>
            </a:r>
            <a:endParaRPr/>
          </a:p>
          <a:p>
            <a:pPr indent="-228600" lvl="0" marL="228600" rtl="0" algn="l">
              <a:lnSpc>
                <a:spcPct val="130000"/>
              </a:lnSpc>
              <a:spcBef>
                <a:spcPts val="600"/>
              </a:spcBef>
              <a:spcAft>
                <a:spcPts val="0"/>
              </a:spcAft>
              <a:buClr>
                <a:schemeClr val="dk1"/>
              </a:buClr>
              <a:buSzPts val="1600"/>
              <a:buChar char="•"/>
            </a:pPr>
            <a:r>
              <a:rPr lang="en-US" sz="1600">
                <a:latin typeface="Times New Roman"/>
                <a:ea typeface="Times New Roman"/>
                <a:cs typeface="Times New Roman"/>
                <a:sym typeface="Times New Roman"/>
              </a:rPr>
              <a:t>Giải mã RV32I: Lệnh JAL x0, 0 → CPU vào vòng lặp chờ an toàn, kết thúc tiến trình.]</a:t>
            </a:r>
            <a:endParaRPr sz="1600">
              <a:latin typeface="Times New Roman"/>
              <a:ea typeface="Times New Roman"/>
              <a:cs typeface="Times New Roman"/>
              <a:sym typeface="Times New Roman"/>
            </a:endParaRPr>
          </a:p>
        </p:txBody>
      </p:sp>
      <p:sp>
        <p:nvSpPr>
          <p:cNvPr id="538" name="Google Shape;538;p25"/>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539" name="Google Shape;539;p25"/>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40" name="Google Shape;540;p25"/>
          <p:cNvSpPr txBox="1"/>
          <p:nvPr/>
        </p:nvSpPr>
        <p:spPr>
          <a:xfrm>
            <a:off x="715728" y="1710985"/>
            <a:ext cx="721212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017058"/>
                </a:solidFill>
                <a:latin typeface="Times New Roman"/>
                <a:ea typeface="Times New Roman"/>
                <a:cs typeface="Times New Roman"/>
                <a:sym typeface="Times New Roman"/>
              </a:rPr>
              <a:t>3.5 </a:t>
            </a:r>
            <a:r>
              <a:rPr b="1" lang="en-US" sz="2800">
                <a:solidFill>
                  <a:srgbClr val="017058"/>
                </a:solidFill>
                <a:latin typeface="Times New Roman"/>
                <a:ea typeface="Times New Roman"/>
                <a:cs typeface="Times New Roman"/>
                <a:sym typeface="Times New Roman"/>
              </a:rPr>
              <a:t>Kết thúc mô phỏng</a:t>
            </a:r>
            <a:endParaRPr b="0" i="0" sz="1100" u="none" cap="none" strike="noStrike">
              <a:solidFill>
                <a:srgbClr val="000000"/>
              </a:solidFill>
              <a:latin typeface="Arial"/>
              <a:ea typeface="Arial"/>
              <a:cs typeface="Arial"/>
              <a:sym typeface="Arial"/>
            </a:endParaRPr>
          </a:p>
        </p:txBody>
      </p:sp>
      <p:pic>
        <p:nvPicPr>
          <p:cNvPr id="541" name="Google Shape;541;p25"/>
          <p:cNvPicPr preferRelativeResize="0"/>
          <p:nvPr/>
        </p:nvPicPr>
        <p:blipFill rotWithShape="1">
          <a:blip r:embed="rId3">
            <a:alphaModFix/>
          </a:blip>
          <a:srcRect b="0" l="0" r="0" t="0"/>
          <a:stretch/>
        </p:blipFill>
        <p:spPr>
          <a:xfrm>
            <a:off x="1958064" y="2325279"/>
            <a:ext cx="8275872" cy="275867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3f22e9c551e_0_12"/>
          <p:cNvSpPr txBox="1"/>
          <p:nvPr>
            <p:ph type="title"/>
          </p:nvPr>
        </p:nvSpPr>
        <p:spPr>
          <a:xfrm>
            <a:off x="606000" y="1036767"/>
            <a:ext cx="10980000" cy="890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000"/>
              <a:buFont typeface="Times New Roman"/>
              <a:buNone/>
            </a:pPr>
            <a:r>
              <a:rPr lang="en-US" sz="4000"/>
              <a:t>3. Kết quả</a:t>
            </a:r>
            <a:endParaRPr/>
          </a:p>
        </p:txBody>
      </p:sp>
      <p:sp>
        <p:nvSpPr>
          <p:cNvPr id="547" name="Google Shape;547;g3f22e9c551e_0_12"/>
          <p:cNvSpPr txBox="1"/>
          <p:nvPr>
            <p:ph idx="1" type="body"/>
          </p:nvPr>
        </p:nvSpPr>
        <p:spPr>
          <a:xfrm>
            <a:off x="606000" y="5175033"/>
            <a:ext cx="10357800" cy="121590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0"/>
              </a:spcAft>
              <a:buClr>
                <a:schemeClr val="dk1"/>
              </a:buClr>
              <a:buSzPts val="1100"/>
              <a:buFont typeface="Arial"/>
              <a:buNone/>
            </a:pPr>
            <a:r>
              <a:rPr b="1" lang="en-US" sz="1100"/>
              <a:t>Total Logic Elements (LEs):</a:t>
            </a:r>
            <a:r>
              <a:rPr lang="en-US" sz="1100"/>
              <a:t> 4,679 (Chỉ chiếm 14% tài nguyên chip).</a:t>
            </a:r>
            <a:endParaRPr sz="1100"/>
          </a:p>
          <a:p>
            <a:pPr indent="0" lvl="0" marL="0" rtl="0" algn="l">
              <a:spcBef>
                <a:spcPts val="600"/>
              </a:spcBef>
              <a:spcAft>
                <a:spcPts val="0"/>
              </a:spcAft>
              <a:buClr>
                <a:schemeClr val="dk1"/>
              </a:buClr>
              <a:buSzPts val="1100"/>
              <a:buFont typeface="Arial"/>
              <a:buNone/>
            </a:pPr>
            <a:r>
              <a:rPr b="1" lang="en-US" sz="1100"/>
              <a:t>Total Registers:</a:t>
            </a:r>
            <a:r>
              <a:rPr lang="en-US" sz="1100"/>
              <a:t> Hệ thống sử dụng 2,013 thanh ghi D-Flip Flop cho toàn bộ 2 lõi CPU và khối điều khiển.</a:t>
            </a:r>
            <a:endParaRPr sz="1100"/>
          </a:p>
          <a:p>
            <a:pPr indent="0" lvl="0" marL="0" rtl="0" algn="l">
              <a:spcBef>
                <a:spcPts val="600"/>
              </a:spcBef>
              <a:spcAft>
                <a:spcPts val="0"/>
              </a:spcAft>
              <a:buClr>
                <a:schemeClr val="dk1"/>
              </a:buClr>
              <a:buSzPts val="1100"/>
              <a:buFont typeface="Arial"/>
              <a:buNone/>
            </a:pPr>
            <a:r>
              <a:rPr b="1" lang="en-US" sz="1100"/>
              <a:t>Total Memory Bits:</a:t>
            </a:r>
            <a:r>
              <a:rPr lang="en-US" sz="1100"/>
              <a:t> 135,168 bits (Chiếm 28% bộ nhớ). Tool Quartus đã nhận diện và đưa thành công mảng RAM của hệ thống vào các khối Block RAM chuyên dụng của FPGA.</a:t>
            </a:r>
            <a:endParaRPr sz="1100"/>
          </a:p>
          <a:p>
            <a:pPr indent="0" lvl="0" marL="0" rtl="0" algn="l">
              <a:lnSpc>
                <a:spcPct val="130000"/>
              </a:lnSpc>
              <a:spcBef>
                <a:spcPts val="600"/>
              </a:spcBef>
              <a:spcAft>
                <a:spcPts val="0"/>
              </a:spcAft>
              <a:buNone/>
            </a:pPr>
            <a:r>
              <a:t/>
            </a:r>
            <a:endParaRPr sz="1600">
              <a:latin typeface="Times New Roman"/>
              <a:ea typeface="Times New Roman"/>
              <a:cs typeface="Times New Roman"/>
              <a:sym typeface="Times New Roman"/>
            </a:endParaRPr>
          </a:p>
        </p:txBody>
      </p:sp>
      <p:sp>
        <p:nvSpPr>
          <p:cNvPr id="548" name="Google Shape;548;g3f22e9c551e_0_12"/>
          <p:cNvSpPr txBox="1"/>
          <p:nvPr>
            <p:ph idx="11" type="ftr"/>
          </p:nvPr>
        </p:nvSpPr>
        <p:spPr>
          <a:xfrm>
            <a:off x="4233564"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549" name="Google Shape;549;g3f22e9c551e_0_12"/>
          <p:cNvSpPr txBox="1"/>
          <p:nvPr>
            <p:ph idx="12" type="sldNum"/>
          </p:nvPr>
        </p:nvSpPr>
        <p:spPr>
          <a:xfrm>
            <a:off x="10422944" y="6356350"/>
            <a:ext cx="27432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50" name="Google Shape;550;g3f22e9c551e_0_12"/>
          <p:cNvSpPr txBox="1"/>
          <p:nvPr/>
        </p:nvSpPr>
        <p:spPr>
          <a:xfrm>
            <a:off x="715728" y="1710985"/>
            <a:ext cx="72120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017058"/>
                </a:solidFill>
                <a:latin typeface="Times New Roman"/>
                <a:ea typeface="Times New Roman"/>
                <a:cs typeface="Times New Roman"/>
                <a:sym typeface="Times New Roman"/>
              </a:rPr>
              <a:t>3.5 </a:t>
            </a:r>
            <a:r>
              <a:rPr b="1" lang="en-US" sz="2800">
                <a:solidFill>
                  <a:srgbClr val="017058"/>
                </a:solidFill>
                <a:latin typeface="Times New Roman"/>
                <a:ea typeface="Times New Roman"/>
                <a:cs typeface="Times New Roman"/>
                <a:sym typeface="Times New Roman"/>
              </a:rPr>
              <a:t>Thông số </a:t>
            </a:r>
            <a:r>
              <a:rPr b="1" lang="en-US" sz="2800">
                <a:solidFill>
                  <a:srgbClr val="017058"/>
                </a:solidFill>
                <a:latin typeface="Times New Roman"/>
                <a:ea typeface="Times New Roman"/>
                <a:cs typeface="Times New Roman"/>
                <a:sym typeface="Times New Roman"/>
              </a:rPr>
              <a:t>sau tổng hợp mạch</a:t>
            </a:r>
            <a:endParaRPr b="0" i="0" sz="1100" u="none" cap="none" strike="noStrike">
              <a:solidFill>
                <a:srgbClr val="000000"/>
              </a:solidFill>
              <a:latin typeface="Arial"/>
              <a:ea typeface="Arial"/>
              <a:cs typeface="Arial"/>
              <a:sym typeface="Arial"/>
            </a:endParaRPr>
          </a:p>
        </p:txBody>
      </p:sp>
      <p:pic>
        <p:nvPicPr>
          <p:cNvPr id="551" name="Google Shape;551;g3f22e9c551e_0_12"/>
          <p:cNvPicPr preferRelativeResize="0"/>
          <p:nvPr/>
        </p:nvPicPr>
        <p:blipFill>
          <a:blip r:embed="rId3">
            <a:alphaModFix/>
          </a:blip>
          <a:stretch>
            <a:fillRect/>
          </a:stretch>
        </p:blipFill>
        <p:spPr>
          <a:xfrm>
            <a:off x="2036250" y="2265362"/>
            <a:ext cx="7616076" cy="28784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g3f22e9c551e_0_0"/>
          <p:cNvSpPr txBox="1"/>
          <p:nvPr>
            <p:ph type="title"/>
          </p:nvPr>
        </p:nvSpPr>
        <p:spPr>
          <a:xfrm>
            <a:off x="606000" y="1036767"/>
            <a:ext cx="10980000" cy="890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000"/>
              <a:buFont typeface="Times New Roman"/>
              <a:buNone/>
            </a:pPr>
            <a:r>
              <a:rPr lang="en-US" sz="4000"/>
              <a:t>3. Kết quả</a:t>
            </a:r>
            <a:endParaRPr/>
          </a:p>
        </p:txBody>
      </p:sp>
      <p:sp>
        <p:nvSpPr>
          <p:cNvPr id="557" name="Google Shape;557;g3f22e9c551e_0_0"/>
          <p:cNvSpPr txBox="1"/>
          <p:nvPr>
            <p:ph idx="1" type="body"/>
          </p:nvPr>
        </p:nvSpPr>
        <p:spPr>
          <a:xfrm>
            <a:off x="606000" y="5271058"/>
            <a:ext cx="10357800" cy="1215900"/>
          </a:xfrm>
          <a:prstGeom prst="rect">
            <a:avLst/>
          </a:prstGeom>
          <a:noFill/>
          <a:ln>
            <a:noFill/>
          </a:ln>
        </p:spPr>
        <p:txBody>
          <a:bodyPr anchorCtr="0" anchor="t" bIns="45700" lIns="91425" spcFirstLastPara="1" rIns="91425" wrap="square" tIns="45700">
            <a:noAutofit/>
          </a:bodyPr>
          <a:lstStyle/>
          <a:p>
            <a:pPr indent="0" lvl="0" marL="0" rtl="0" algn="l">
              <a:spcBef>
                <a:spcPts val="600"/>
              </a:spcBef>
              <a:spcAft>
                <a:spcPts val="0"/>
              </a:spcAft>
              <a:buClr>
                <a:schemeClr val="dk1"/>
              </a:buClr>
              <a:buSzPts val="1100"/>
              <a:buFont typeface="Arial"/>
              <a:buNone/>
            </a:pPr>
            <a:r>
              <a:rPr b="1" lang="en-US" sz="1100"/>
              <a:t>Xung nhịp tối đa (Fmax):</a:t>
            </a:r>
            <a:r>
              <a:rPr lang="en-US" sz="1100"/>
              <a:t> Đạt 84.79 MHz cho toàn bộ hệ thống lõi kép.</a:t>
            </a:r>
            <a:endParaRPr sz="1100"/>
          </a:p>
          <a:p>
            <a:pPr indent="0" lvl="0" marL="0" rtl="0" algn="l">
              <a:spcBef>
                <a:spcPts val="600"/>
              </a:spcBef>
              <a:spcAft>
                <a:spcPts val="0"/>
              </a:spcAft>
              <a:buClr>
                <a:schemeClr val="dk1"/>
              </a:buClr>
              <a:buSzPts val="1100"/>
              <a:buFont typeface="Arial"/>
              <a:buNone/>
            </a:pPr>
            <a:r>
              <a:rPr b="1" lang="en-US" sz="1100"/>
              <a:t>Đánh giá thực tiễn:</a:t>
            </a:r>
            <a:r>
              <a:rPr lang="en-US" sz="1100"/>
              <a:t> Tốc độ 84.79 MHz hoàn toàn đáp ứng cho các bài toán nhúng. Đặc biệt, xung nhịp này vượt xa mức 50 MHz của bộ dao động thạch anh (Oscillator) trên board mạch Cyclone II thực tế, đảm bảo hệ thống chạy ổn định tuyệt đối khi nạp xuống phần cứng.</a:t>
            </a:r>
            <a:endParaRPr sz="1100"/>
          </a:p>
          <a:p>
            <a:pPr indent="0" lvl="0" marL="0" rtl="0" algn="l">
              <a:lnSpc>
                <a:spcPct val="130000"/>
              </a:lnSpc>
              <a:spcBef>
                <a:spcPts val="600"/>
              </a:spcBef>
              <a:spcAft>
                <a:spcPts val="0"/>
              </a:spcAft>
              <a:buNone/>
            </a:pPr>
            <a:r>
              <a:t/>
            </a:r>
            <a:endParaRPr sz="1600">
              <a:latin typeface="Times New Roman"/>
              <a:ea typeface="Times New Roman"/>
              <a:cs typeface="Times New Roman"/>
              <a:sym typeface="Times New Roman"/>
            </a:endParaRPr>
          </a:p>
        </p:txBody>
      </p:sp>
      <p:sp>
        <p:nvSpPr>
          <p:cNvPr id="558" name="Google Shape;558;g3f22e9c551e_0_0"/>
          <p:cNvSpPr txBox="1"/>
          <p:nvPr>
            <p:ph idx="11" type="ftr"/>
          </p:nvPr>
        </p:nvSpPr>
        <p:spPr>
          <a:xfrm>
            <a:off x="4233564"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559" name="Google Shape;559;g3f22e9c551e_0_0"/>
          <p:cNvSpPr txBox="1"/>
          <p:nvPr>
            <p:ph idx="12" type="sldNum"/>
          </p:nvPr>
        </p:nvSpPr>
        <p:spPr>
          <a:xfrm>
            <a:off x="10422944" y="6356350"/>
            <a:ext cx="27432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60" name="Google Shape;560;g3f22e9c551e_0_0"/>
          <p:cNvSpPr txBox="1"/>
          <p:nvPr/>
        </p:nvSpPr>
        <p:spPr>
          <a:xfrm>
            <a:off x="715728" y="1710985"/>
            <a:ext cx="72120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017058"/>
                </a:solidFill>
                <a:latin typeface="Times New Roman"/>
                <a:ea typeface="Times New Roman"/>
                <a:cs typeface="Times New Roman"/>
                <a:sym typeface="Times New Roman"/>
              </a:rPr>
              <a:t>3.5 </a:t>
            </a:r>
            <a:r>
              <a:rPr b="1" lang="en-US" sz="2800">
                <a:solidFill>
                  <a:srgbClr val="017058"/>
                </a:solidFill>
                <a:latin typeface="Times New Roman"/>
                <a:ea typeface="Times New Roman"/>
                <a:cs typeface="Times New Roman"/>
                <a:sym typeface="Times New Roman"/>
              </a:rPr>
              <a:t>Thông số sau tổng hợp mạch</a:t>
            </a:r>
            <a:endParaRPr b="0" i="0" sz="1100" u="none" cap="none" strike="noStrike">
              <a:solidFill>
                <a:srgbClr val="000000"/>
              </a:solidFill>
              <a:latin typeface="Arial"/>
              <a:ea typeface="Arial"/>
              <a:cs typeface="Arial"/>
              <a:sym typeface="Arial"/>
            </a:endParaRPr>
          </a:p>
        </p:txBody>
      </p:sp>
      <p:pic>
        <p:nvPicPr>
          <p:cNvPr id="561" name="Google Shape;561;g3f22e9c551e_0_0"/>
          <p:cNvPicPr preferRelativeResize="0"/>
          <p:nvPr/>
        </p:nvPicPr>
        <p:blipFill>
          <a:blip r:embed="rId3">
            <a:alphaModFix/>
          </a:blip>
          <a:stretch>
            <a:fillRect/>
          </a:stretch>
        </p:blipFill>
        <p:spPr>
          <a:xfrm>
            <a:off x="1540275" y="2234175"/>
            <a:ext cx="8323599" cy="29937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26"/>
          <p:cNvSpPr txBox="1"/>
          <p:nvPr>
            <p:ph idx="11" type="ftr"/>
          </p:nvPr>
        </p:nvSpPr>
        <p:spPr>
          <a:xfrm>
            <a:off x="723265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567" name="Google Shape;567;p26"/>
          <p:cNvSpPr txBox="1"/>
          <p:nvPr>
            <p:ph idx="12" type="sldNum"/>
          </p:nvPr>
        </p:nvSpPr>
        <p:spPr>
          <a:xfrm>
            <a:off x="10409692" y="332284"/>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68" name="Google Shape;568;p26"/>
          <p:cNvSpPr txBox="1"/>
          <p:nvPr>
            <p:ph type="title"/>
          </p:nvPr>
        </p:nvSpPr>
        <p:spPr>
          <a:xfrm>
            <a:off x="1653362" y="2425382"/>
            <a:ext cx="9177548" cy="150595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Times New Roman"/>
              <a:buNone/>
            </a:pPr>
            <a:r>
              <a:rPr lang="en-US"/>
              <a:t>KẾT LUẬN VÀ HƯỚNG</a:t>
            </a:r>
            <a:br>
              <a:rPr lang="en-US"/>
            </a:br>
            <a:r>
              <a:rPr lang="en-US"/>
              <a:t>PHÁT TRIỂN CỦA ĐỀ TÀI</a:t>
            </a:r>
            <a:endParaRPr/>
          </a:p>
        </p:txBody>
      </p:sp>
      <p:sp>
        <p:nvSpPr>
          <p:cNvPr id="569" name="Google Shape;569;p26"/>
          <p:cNvSpPr txBox="1"/>
          <p:nvPr>
            <p:ph idx="2" type="body"/>
          </p:nvPr>
        </p:nvSpPr>
        <p:spPr>
          <a:xfrm>
            <a:off x="1653362" y="561276"/>
            <a:ext cx="2052637" cy="178593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11500"/>
              <a:buNone/>
            </a:pPr>
            <a:r>
              <a:rPr lang="en-US"/>
              <a:t>04</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27"/>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4. Kết luận và hướng phát triển của đề tài</a:t>
            </a:r>
            <a:endParaRPr/>
          </a:p>
        </p:txBody>
      </p:sp>
      <p:sp>
        <p:nvSpPr>
          <p:cNvPr id="575" name="Google Shape;575;p27"/>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 Hoàn thiện thiết kế hệ thống Đa lõi đối xứng mức RTL (Register-Transfer Level) tích hợp 2 nhân PicoRV32 (RV32I).</a:t>
            </a:r>
            <a:endParaRPr/>
          </a:p>
          <a:p>
            <a:pPr indent="-228600" lvl="0" marL="228600" rtl="0" algn="l">
              <a:lnSpc>
                <a:spcPct val="150000"/>
              </a:lnSpc>
              <a:spcBef>
                <a:spcPts val="6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 Xây dựng thành công vi kiến trúc Arbiter phân xử giao tiếp Shared RAM với độ trễ tối ưu hóa tuyệt đối (Zero-Latency) thông qua định tuyến mạch tổ hợp.</a:t>
            </a:r>
            <a:endParaRPr/>
          </a:p>
          <a:p>
            <a:pPr indent="-228600" lvl="0" marL="228600" rtl="0" algn="l">
              <a:lnSpc>
                <a:spcPct val="150000"/>
              </a:lnSpc>
              <a:spcBef>
                <a:spcPts val="6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 Giải quyết triệt để xung đột phần cứng bằng thuật toán Round-Robin, đảm bảo tính công bằng (Fairness) thuần túy ở mức tín hiệu mà không cần hệ điều hành can thiệp.</a:t>
            </a:r>
            <a:endParaRPr/>
          </a:p>
          <a:p>
            <a:pPr indent="-228600" lvl="0" marL="228600" rtl="0" algn="l">
              <a:lnSpc>
                <a:spcPct val="150000"/>
              </a:lnSpc>
              <a:spcBef>
                <a:spcPts val="600"/>
              </a:spcBef>
              <a:spcAft>
                <a:spcPts val="0"/>
              </a:spcAft>
              <a:buClr>
                <a:schemeClr val="dk1"/>
              </a:buClr>
              <a:buSzPts val="2000"/>
              <a:buFont typeface="Noto Sans Symbols"/>
              <a:buChar char="❑"/>
            </a:pPr>
            <a:r>
              <a:rPr lang="en-US" sz="2000">
                <a:latin typeface="Times New Roman"/>
                <a:ea typeface="Times New Roman"/>
                <a:cs typeface="Times New Roman"/>
                <a:sym typeface="Times New Roman"/>
              </a:rPr>
              <a:t> Xử lý an toàn trạng thái đóng băng phần cứng (Stall), bảo toàn dữ liệu bằng kỹ thuật Masking Logic.</a:t>
            </a:r>
            <a:endParaRPr/>
          </a:p>
        </p:txBody>
      </p:sp>
      <p:sp>
        <p:nvSpPr>
          <p:cNvPr id="576" name="Google Shape;576;p27"/>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577" name="Google Shape;577;p27"/>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28"/>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4. Kết luận và hướng phát triển của đề tài</a:t>
            </a:r>
            <a:endParaRPr/>
          </a:p>
        </p:txBody>
      </p:sp>
      <p:sp>
        <p:nvSpPr>
          <p:cNvPr id="583" name="Google Shape;583;p28"/>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000"/>
              <a:buFont typeface="Noto Sans Symbols"/>
              <a:buChar char="❑"/>
            </a:pPr>
            <a:r>
              <a:rPr b="1" lang="en-US" sz="2000"/>
              <a:t> Nâng cấp Vi kiến trúc Đa lõi:</a:t>
            </a:r>
            <a:r>
              <a:rPr lang="en-US" sz="2000"/>
              <a:t> Phát triển hệ thống từ Shared RAM đơn giản lên kiến trúc có bộ nhớ đệm (L1 Cache) cục bộ cho từng nhân. Thiết kế thêm module điều khiển đồng bộ bộ nhớ (Hardware Cache Coherence) áp dụng giao thức MESI ở mức RTL để tối ưu băng thông.</a:t>
            </a:r>
            <a:endParaRPr/>
          </a:p>
          <a:p>
            <a:pPr indent="-228600" lvl="0" marL="228600" rtl="0" algn="l">
              <a:lnSpc>
                <a:spcPct val="150000"/>
              </a:lnSpc>
              <a:spcBef>
                <a:spcPts val="600"/>
              </a:spcBef>
              <a:spcAft>
                <a:spcPts val="0"/>
              </a:spcAft>
              <a:buClr>
                <a:schemeClr val="dk1"/>
              </a:buClr>
              <a:buSzPts val="2000"/>
              <a:buFont typeface="Noto Sans Symbols"/>
              <a:buChar char="❑"/>
            </a:pPr>
            <a:r>
              <a:rPr b="1" lang="en-US" sz="2000"/>
              <a:t> Tổng hợp mạch (Logic Synthesis):</a:t>
            </a:r>
            <a:r>
              <a:rPr lang="en-US" sz="2000"/>
              <a:t> Tiến hành tổng hợp mã Verilog nhắm đến các thư viện linh kiện chuẩn (Standard Cell Libraries) thực tế trong công nghiệp sản xuất vi mạch để đánh giá chính xác các tham số PPA (Power, Performance, Area).</a:t>
            </a:r>
            <a:endParaRPr/>
          </a:p>
          <a:p>
            <a:pPr indent="-228600" lvl="0" marL="228600" rtl="0" algn="l">
              <a:lnSpc>
                <a:spcPct val="150000"/>
              </a:lnSpc>
              <a:spcBef>
                <a:spcPts val="600"/>
              </a:spcBef>
              <a:spcAft>
                <a:spcPts val="0"/>
              </a:spcAft>
              <a:buClr>
                <a:schemeClr val="dk1"/>
              </a:buClr>
              <a:buSzPts val="2000"/>
              <a:buFont typeface="Noto Sans Symbols"/>
              <a:buChar char="❑"/>
            </a:pPr>
            <a:r>
              <a:rPr b="1" lang="en-US" sz="2000"/>
              <a:t> Thực nghiệm phần cứng:</a:t>
            </a:r>
            <a:r>
              <a:rPr lang="en-US" sz="2000"/>
              <a:t> Ánh xạ (Mapping) và thẩm định thiết kế trên board mạch FPGA với các bài test tải trọng cao.</a:t>
            </a:r>
            <a:endParaRPr/>
          </a:p>
        </p:txBody>
      </p:sp>
      <p:sp>
        <p:nvSpPr>
          <p:cNvPr id="584" name="Google Shape;584;p28"/>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585" name="Google Shape;585;p28"/>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29"/>
          <p:cNvSpPr txBox="1"/>
          <p:nvPr>
            <p:ph idx="11" type="ftr"/>
          </p:nvPr>
        </p:nvSpPr>
        <p:spPr>
          <a:xfrm>
            <a:off x="723265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591" name="Google Shape;591;p29"/>
          <p:cNvSpPr txBox="1"/>
          <p:nvPr>
            <p:ph idx="12" type="sldNum"/>
          </p:nvPr>
        </p:nvSpPr>
        <p:spPr>
          <a:xfrm>
            <a:off x="10409692" y="332284"/>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92" name="Google Shape;592;p29"/>
          <p:cNvSpPr txBox="1"/>
          <p:nvPr>
            <p:ph type="title"/>
          </p:nvPr>
        </p:nvSpPr>
        <p:spPr>
          <a:xfrm>
            <a:off x="1653362" y="2425382"/>
            <a:ext cx="9177548" cy="15059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Times New Roman"/>
              <a:buNone/>
            </a:pPr>
            <a:r>
              <a:rPr lang="en-US"/>
              <a:t>PHỤ LỤC</a:t>
            </a:r>
            <a:endParaRPr/>
          </a:p>
        </p:txBody>
      </p:sp>
      <p:sp>
        <p:nvSpPr>
          <p:cNvPr id="593" name="Google Shape;593;p29"/>
          <p:cNvSpPr txBox="1"/>
          <p:nvPr>
            <p:ph idx="2" type="body"/>
          </p:nvPr>
        </p:nvSpPr>
        <p:spPr>
          <a:xfrm>
            <a:off x="1653362" y="561276"/>
            <a:ext cx="2052637" cy="178593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11500"/>
              <a:buNone/>
            </a:pPr>
            <a:r>
              <a:rPr lang="en-US"/>
              <a:t>05</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30"/>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Phụ lục </a:t>
            </a:r>
            <a:endParaRPr/>
          </a:p>
        </p:txBody>
      </p:sp>
      <p:sp>
        <p:nvSpPr>
          <p:cNvPr id="599" name="Google Shape;599;p30"/>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a:bodyPr>
          <a:lstStyle/>
          <a:p>
            <a:pPr indent="-228600" lvl="0" marL="228600" rtl="0" algn="l">
              <a:lnSpc>
                <a:spcPct val="130000"/>
              </a:lnSpc>
              <a:spcBef>
                <a:spcPts val="0"/>
              </a:spcBef>
              <a:spcAft>
                <a:spcPts val="0"/>
              </a:spcAft>
              <a:buClr>
                <a:schemeClr val="dk1"/>
              </a:buClr>
              <a:buSzPts val="2000"/>
              <a:buChar char="•"/>
            </a:pPr>
            <a:r>
              <a:rPr b="1" lang="en-US" sz="2000"/>
              <a:t>Can thiệp tham số cấp thấp (Parameter Override):</a:t>
            </a:r>
            <a:r>
              <a:rPr lang="en-US" sz="2000"/>
              <a:t> Nhóm không sửa mã nguồn gốc của thư viện PicoRV32, mà ghi đè tham số PROGADDR_RESET ngay lúc gọi module (Instantiate) trong file Top-level.</a:t>
            </a:r>
            <a:endParaRPr/>
          </a:p>
          <a:p>
            <a:pPr indent="-228600" lvl="0" marL="228600" rtl="0" algn="l">
              <a:lnSpc>
                <a:spcPct val="130000"/>
              </a:lnSpc>
              <a:spcBef>
                <a:spcPts val="600"/>
              </a:spcBef>
              <a:spcAft>
                <a:spcPts val="0"/>
              </a:spcAft>
              <a:buClr>
                <a:schemeClr val="dk1"/>
              </a:buClr>
              <a:buSzPts val="2000"/>
              <a:buChar char="•"/>
            </a:pPr>
            <a:r>
              <a:rPr b="1" lang="en-US" sz="2000"/>
              <a:t>Code Verilog (dual_core.v):</a:t>
            </a:r>
            <a:endParaRPr sz="2000"/>
          </a:p>
        </p:txBody>
      </p:sp>
      <p:sp>
        <p:nvSpPr>
          <p:cNvPr id="600" name="Google Shape;600;p30"/>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601" name="Google Shape;601;p30"/>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602" name="Google Shape;602;p30"/>
          <p:cNvPicPr preferRelativeResize="0"/>
          <p:nvPr/>
        </p:nvPicPr>
        <p:blipFill rotWithShape="1">
          <a:blip r:embed="rId3">
            <a:alphaModFix/>
          </a:blip>
          <a:srcRect b="0" l="3102" r="0" t="0"/>
          <a:stretch/>
        </p:blipFill>
        <p:spPr>
          <a:xfrm>
            <a:off x="2875280" y="3893205"/>
            <a:ext cx="5877932" cy="246314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31"/>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Phụ lục </a:t>
            </a:r>
            <a:endParaRPr/>
          </a:p>
        </p:txBody>
      </p:sp>
      <p:sp>
        <p:nvSpPr>
          <p:cNvPr id="608" name="Google Shape;608;p31"/>
          <p:cNvSpPr txBox="1"/>
          <p:nvPr>
            <p:ph idx="1" type="body"/>
          </p:nvPr>
        </p:nvSpPr>
        <p:spPr>
          <a:xfrm>
            <a:off x="514560" y="1927430"/>
            <a:ext cx="4362240" cy="4156684"/>
          </a:xfrm>
          <a:prstGeom prst="rect">
            <a:avLst/>
          </a:prstGeom>
          <a:noFill/>
          <a:ln>
            <a:noFill/>
          </a:ln>
        </p:spPr>
        <p:txBody>
          <a:bodyPr anchorCtr="0" anchor="t" bIns="45700" lIns="91425" spcFirstLastPara="1" rIns="91425" wrap="square" tIns="45700">
            <a:noAutofit/>
          </a:bodyPr>
          <a:lstStyle/>
          <a:p>
            <a:pPr indent="-228600" lvl="0" marL="228600" rtl="0" algn="l">
              <a:lnSpc>
                <a:spcPct val="130000"/>
              </a:lnSpc>
              <a:spcBef>
                <a:spcPts val="0"/>
              </a:spcBef>
              <a:spcAft>
                <a:spcPts val="0"/>
              </a:spcAft>
              <a:buClr>
                <a:schemeClr val="dk1"/>
              </a:buClr>
              <a:buSzPts val="1400"/>
              <a:buFont typeface="Noto Sans Symbols"/>
              <a:buChar char="❑"/>
            </a:pPr>
            <a:r>
              <a:rPr lang="en-US" sz="1400"/>
              <a:t>   </a:t>
            </a:r>
            <a:r>
              <a:rPr b="1" lang="en-US" sz="1400"/>
              <a:t>Phương trình phân xử (Zero-Latency):</a:t>
            </a:r>
            <a:endParaRPr sz="1400"/>
          </a:p>
          <a:p>
            <a:pPr indent="-228600" lvl="0" marL="228600" rtl="0" algn="l">
              <a:lnSpc>
                <a:spcPct val="130000"/>
              </a:lnSpc>
              <a:spcBef>
                <a:spcPts val="600"/>
              </a:spcBef>
              <a:spcAft>
                <a:spcPts val="0"/>
              </a:spcAft>
              <a:buClr>
                <a:schemeClr val="dk1"/>
              </a:buClr>
              <a:buSzPts val="1400"/>
              <a:buChar char="•"/>
            </a:pPr>
            <a:r>
              <a:rPr lang="en-US" sz="1400"/>
              <a:t>arb_g0 = m0_valid &amp;&amp; (!m1_valid || last_served)</a:t>
            </a:r>
            <a:endParaRPr/>
          </a:p>
          <a:p>
            <a:pPr indent="-228600" lvl="0" marL="228600" rtl="0" algn="l">
              <a:lnSpc>
                <a:spcPct val="130000"/>
              </a:lnSpc>
              <a:spcBef>
                <a:spcPts val="600"/>
              </a:spcBef>
              <a:spcAft>
                <a:spcPts val="0"/>
              </a:spcAft>
              <a:buClr>
                <a:schemeClr val="dk1"/>
              </a:buClr>
              <a:buSzPts val="1400"/>
              <a:buChar char="•"/>
            </a:pPr>
            <a:r>
              <a:rPr lang="en-US" sz="1400"/>
              <a:t>arb_g1 = m1_valid &amp;&amp; (!m0_valid || !last_served)</a:t>
            </a:r>
            <a:endParaRPr/>
          </a:p>
          <a:p>
            <a:pPr indent="-228600" lvl="0" marL="228600" rtl="0" algn="l">
              <a:lnSpc>
                <a:spcPct val="130000"/>
              </a:lnSpc>
              <a:spcBef>
                <a:spcPts val="600"/>
              </a:spcBef>
              <a:spcAft>
                <a:spcPts val="0"/>
              </a:spcAft>
              <a:buClr>
                <a:schemeClr val="dk1"/>
              </a:buClr>
              <a:buSzPts val="1400"/>
              <a:buChar char="•"/>
            </a:pPr>
            <a:r>
              <a:rPr b="1" lang="en-US" sz="1400"/>
              <a:t>Giải quyết tranh chấp:</a:t>
            </a:r>
            <a:r>
              <a:rPr lang="en-US" sz="1400"/>
              <a:t> Khi cả 2 Core cùng yêu cầu (valid = 1), tín hiệu cấp quyền sẽ bỏ qua nhánh trạng thái rảnh và phụ thuộc hoàn toàn vào cờ 1-bit last_served (trên Waveform là arb_last).</a:t>
            </a:r>
            <a:endParaRPr/>
          </a:p>
          <a:p>
            <a:pPr indent="-228600" lvl="0" marL="228600" rtl="0" algn="l">
              <a:lnSpc>
                <a:spcPct val="130000"/>
              </a:lnSpc>
              <a:spcBef>
                <a:spcPts val="600"/>
              </a:spcBef>
              <a:spcAft>
                <a:spcPts val="0"/>
              </a:spcAft>
              <a:buClr>
                <a:schemeClr val="dk1"/>
              </a:buClr>
              <a:buSzPts val="1400"/>
              <a:buChar char="•"/>
            </a:pPr>
            <a:r>
              <a:rPr b="1" lang="en-US" sz="1400"/>
              <a:t>Minh chứng thực tế:</a:t>
            </a:r>
            <a:r>
              <a:rPr lang="en-US" sz="1400"/>
              <a:t> Do cờ arb_last tự động đảo trạng thái (toggle) theo từng chu kỳ xung nhịp, quyền chiếm Bus (arb_g0, arb_g1) bị ép phải luân phiên xen kẽ. Đảm bảo băng thông RAM được chia đều.</a:t>
            </a:r>
            <a:endParaRPr/>
          </a:p>
        </p:txBody>
      </p:sp>
      <p:sp>
        <p:nvSpPr>
          <p:cNvPr id="609" name="Google Shape;609;p31"/>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610" name="Google Shape;610;p31"/>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611" name="Google Shape;611;p31"/>
          <p:cNvPicPr preferRelativeResize="0"/>
          <p:nvPr/>
        </p:nvPicPr>
        <p:blipFill rotWithShape="1">
          <a:blip r:embed="rId3">
            <a:alphaModFix/>
          </a:blip>
          <a:srcRect b="0" l="0" r="0" t="0"/>
          <a:stretch/>
        </p:blipFill>
        <p:spPr>
          <a:xfrm>
            <a:off x="4798845" y="2281800"/>
            <a:ext cx="6865111" cy="1240060"/>
          </a:xfrm>
          <a:prstGeom prst="rect">
            <a:avLst/>
          </a:prstGeom>
          <a:noFill/>
          <a:ln>
            <a:noFill/>
          </a:ln>
        </p:spPr>
      </p:pic>
      <p:pic>
        <p:nvPicPr>
          <p:cNvPr id="612" name="Google Shape;612;p31"/>
          <p:cNvPicPr preferRelativeResize="0"/>
          <p:nvPr/>
        </p:nvPicPr>
        <p:blipFill rotWithShape="1">
          <a:blip r:embed="rId4">
            <a:alphaModFix/>
          </a:blip>
          <a:srcRect b="0" l="0" r="0" t="0"/>
          <a:stretch/>
        </p:blipFill>
        <p:spPr>
          <a:xfrm>
            <a:off x="4876800" y="3500233"/>
            <a:ext cx="5882640" cy="101107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32"/>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Phụ lục </a:t>
            </a:r>
            <a:endParaRPr/>
          </a:p>
        </p:txBody>
      </p:sp>
      <p:graphicFrame>
        <p:nvGraphicFramePr>
          <p:cNvPr id="618" name="Google Shape;618;p32"/>
          <p:cNvGraphicFramePr/>
          <p:nvPr/>
        </p:nvGraphicFramePr>
        <p:xfrm>
          <a:off x="606425" y="1975945"/>
          <a:ext cx="3000000" cy="3000000"/>
        </p:xfrm>
        <a:graphic>
          <a:graphicData uri="http://schemas.openxmlformats.org/drawingml/2006/table">
            <a:tbl>
              <a:tblPr bandRow="1" firstRow="1">
                <a:noFill/>
                <a:tableStyleId>{F40BEFB7-4C62-4909-B6A0-25815D243FD2}</a:tableStyleId>
              </a:tblPr>
              <a:tblGrid>
                <a:gridCol w="2010650"/>
                <a:gridCol w="8968500"/>
              </a:tblGrid>
              <a:tr h="415775">
                <a:tc>
                  <a:txBody>
                    <a:bodyPr/>
                    <a:lstStyle/>
                    <a:p>
                      <a:pPr indent="0" lvl="0" marL="0" marR="0" rtl="0" algn="l">
                        <a:spcBef>
                          <a:spcPts val="0"/>
                        </a:spcBef>
                        <a:spcAft>
                          <a:spcPts val="0"/>
                        </a:spcAft>
                        <a:buClr>
                          <a:srgbClr val="212120"/>
                        </a:buClr>
                        <a:buSzPts val="1500"/>
                        <a:buFont typeface="Arial"/>
                        <a:buNone/>
                      </a:pPr>
                      <a:r>
                        <a:rPr b="1" lang="en-US" sz="1500" u="none" cap="none" strike="noStrike">
                          <a:solidFill>
                            <a:srgbClr val="212120"/>
                          </a:solidFill>
                          <a:latin typeface="Arial"/>
                          <a:ea typeface="Arial"/>
                          <a:cs typeface="Arial"/>
                          <a:sym typeface="Arial"/>
                        </a:rPr>
                        <a:t>Tên biến</a:t>
                      </a:r>
                      <a:endParaRPr sz="1500" u="none" cap="none" strike="noStrike">
                        <a:solidFill>
                          <a:srgbClr val="212120"/>
                        </a:solidFill>
                        <a:latin typeface="Arial"/>
                        <a:ea typeface="Arial"/>
                        <a:cs typeface="Arial"/>
                        <a:sym typeface="Arial"/>
                      </a:endParaRPr>
                    </a:p>
                  </a:txBody>
                  <a:tcPr marT="0" marB="0" marR="68575" marL="68575"/>
                </a:tc>
                <a:tc>
                  <a:txBody>
                    <a:bodyPr/>
                    <a:lstStyle/>
                    <a:p>
                      <a:pPr indent="0" lvl="0" marL="0" marR="0" rtl="0" algn="l">
                        <a:spcBef>
                          <a:spcPts val="0"/>
                        </a:spcBef>
                        <a:spcAft>
                          <a:spcPts val="0"/>
                        </a:spcAft>
                        <a:buClr>
                          <a:srgbClr val="212120"/>
                        </a:buClr>
                        <a:buSzPts val="1500"/>
                        <a:buFont typeface="Calibri"/>
                        <a:buNone/>
                      </a:pPr>
                      <a:r>
                        <a:rPr b="1" lang="en-US" sz="1500" u="none" cap="none" strike="noStrike">
                          <a:solidFill>
                            <a:srgbClr val="212120"/>
                          </a:solidFill>
                          <a:latin typeface="Calibri"/>
                          <a:ea typeface="Calibri"/>
                          <a:cs typeface="Calibri"/>
                          <a:sym typeface="Calibri"/>
                        </a:rPr>
                        <a:t>Chức năng</a:t>
                      </a:r>
                      <a:endParaRPr sz="1500" u="none" cap="none" strike="noStrike">
                        <a:solidFill>
                          <a:srgbClr val="212120"/>
                        </a:solidFill>
                        <a:latin typeface="Arial"/>
                        <a:ea typeface="Arial"/>
                        <a:cs typeface="Arial"/>
                        <a:sym typeface="Arial"/>
                      </a:endParaRPr>
                    </a:p>
                  </a:txBody>
                  <a:tcPr marT="0" marB="0" marR="68575" marL="68575"/>
                </a:tc>
              </a:tr>
              <a:tr h="370850">
                <a:tc>
                  <a:txBody>
                    <a:bodyPr/>
                    <a:lstStyle/>
                    <a:p>
                      <a:pPr indent="0" lvl="0" marL="0" marR="0" rtl="0" algn="l">
                        <a:spcBef>
                          <a:spcPts val="0"/>
                        </a:spcBef>
                        <a:spcAft>
                          <a:spcPts val="0"/>
                        </a:spcAft>
                        <a:buClr>
                          <a:srgbClr val="212120"/>
                        </a:buClr>
                        <a:buSzPts val="1500"/>
                        <a:buFont typeface="Calibri"/>
                        <a:buNone/>
                      </a:pPr>
                      <a:r>
                        <a:rPr lang="en-US" sz="1500" u="none" cap="none" strike="noStrike">
                          <a:solidFill>
                            <a:srgbClr val="212120"/>
                          </a:solidFill>
                          <a:latin typeface="Calibri"/>
                          <a:ea typeface="Calibri"/>
                          <a:cs typeface="Calibri"/>
                          <a:sym typeface="Calibri"/>
                        </a:rPr>
                        <a:t>mem_ready</a:t>
                      </a:r>
                      <a:endParaRPr sz="1500" u="none" cap="none" strike="noStrike">
                        <a:solidFill>
                          <a:srgbClr val="212120"/>
                        </a:solidFill>
                        <a:latin typeface="Arial"/>
                        <a:ea typeface="Arial"/>
                        <a:cs typeface="Arial"/>
                        <a:sym typeface="Arial"/>
                      </a:endParaRPr>
                    </a:p>
                  </a:txBody>
                  <a:tcPr marT="0" marB="0" marR="68575" marL="68575"/>
                </a:tc>
                <a:tc>
                  <a:txBody>
                    <a:bodyPr/>
                    <a:lstStyle/>
                    <a:p>
                      <a:pPr indent="0" lvl="0" marL="0" marR="0" rtl="0" algn="l">
                        <a:spcBef>
                          <a:spcPts val="0"/>
                        </a:spcBef>
                        <a:spcAft>
                          <a:spcPts val="0"/>
                        </a:spcAft>
                        <a:buClr>
                          <a:srgbClr val="212120"/>
                        </a:buClr>
                        <a:buSzPts val="1500"/>
                        <a:buFont typeface="Calibri"/>
                        <a:buNone/>
                      </a:pPr>
                      <a:r>
                        <a:rPr lang="en-US" sz="1500" u="none" cap="none" strike="noStrike">
                          <a:solidFill>
                            <a:srgbClr val="212120"/>
                          </a:solidFill>
                          <a:latin typeface="Calibri"/>
                          <a:ea typeface="Calibri"/>
                          <a:cs typeface="Calibri"/>
                          <a:sym typeface="Calibri"/>
                        </a:rPr>
                        <a:t>Nhận tín hiệu từ mX_ready của Arbiter gửi về. Khi biến này bằng 0, CPU biết mình phải dừng lại đợi.</a:t>
                      </a:r>
                      <a:endParaRPr sz="1500" u="none" cap="none" strike="noStrike">
                        <a:solidFill>
                          <a:srgbClr val="212120"/>
                        </a:solidFill>
                        <a:latin typeface="Arial"/>
                        <a:ea typeface="Arial"/>
                        <a:cs typeface="Arial"/>
                        <a:sym typeface="Arial"/>
                      </a:endParaRPr>
                    </a:p>
                  </a:txBody>
                  <a:tcPr marT="0" marB="0" marR="68575" marL="68575"/>
                </a:tc>
              </a:tr>
              <a:tr h="370850">
                <a:tc>
                  <a:txBody>
                    <a:bodyPr/>
                    <a:lstStyle/>
                    <a:p>
                      <a:pPr indent="0" lvl="0" marL="0" marR="0" rtl="0" algn="l">
                        <a:spcBef>
                          <a:spcPts val="0"/>
                        </a:spcBef>
                        <a:spcAft>
                          <a:spcPts val="0"/>
                        </a:spcAft>
                        <a:buClr>
                          <a:srgbClr val="212120"/>
                        </a:buClr>
                        <a:buSzPts val="1500"/>
                        <a:buFont typeface="Calibri"/>
                        <a:buNone/>
                      </a:pPr>
                      <a:r>
                        <a:rPr lang="en-US" sz="1500" u="none" cap="none" strike="noStrike">
                          <a:solidFill>
                            <a:srgbClr val="212120"/>
                          </a:solidFill>
                          <a:latin typeface="Calibri"/>
                          <a:ea typeface="Calibri"/>
                          <a:cs typeface="Calibri"/>
                          <a:sym typeface="Calibri"/>
                        </a:rPr>
                        <a:t>mem_xfer</a:t>
                      </a:r>
                      <a:endParaRPr sz="1500" u="none" cap="none" strike="noStrike">
                        <a:solidFill>
                          <a:srgbClr val="212120"/>
                        </a:solidFill>
                        <a:latin typeface="Arial"/>
                        <a:ea typeface="Arial"/>
                        <a:cs typeface="Arial"/>
                        <a:sym typeface="Arial"/>
                      </a:endParaRPr>
                    </a:p>
                  </a:txBody>
                  <a:tcPr marT="0" marB="0" marR="68575" marL="68575"/>
                </a:tc>
                <a:tc>
                  <a:txBody>
                    <a:bodyPr/>
                    <a:lstStyle/>
                    <a:p>
                      <a:pPr indent="0" lvl="0" marL="0" marR="0" rtl="0" algn="l">
                        <a:spcBef>
                          <a:spcPts val="0"/>
                        </a:spcBef>
                        <a:spcAft>
                          <a:spcPts val="0"/>
                        </a:spcAft>
                        <a:buClr>
                          <a:srgbClr val="212120"/>
                        </a:buClr>
                        <a:buSzPts val="1500"/>
                        <a:buFont typeface="Calibri"/>
                        <a:buNone/>
                      </a:pPr>
                      <a:r>
                        <a:rPr b="1" lang="en-US" sz="1500" u="none" cap="none" strike="noStrike">
                          <a:solidFill>
                            <a:srgbClr val="212120"/>
                          </a:solidFill>
                          <a:latin typeface="Calibri"/>
                          <a:ea typeface="Calibri"/>
                          <a:cs typeface="Calibri"/>
                          <a:sym typeface="Calibri"/>
                        </a:rPr>
                        <a:t>Memory Transfer</a:t>
                      </a:r>
                      <a:r>
                        <a:rPr lang="en-US" sz="1500" u="none" cap="none" strike="noStrike">
                          <a:solidFill>
                            <a:srgbClr val="212120"/>
                          </a:solidFill>
                          <a:latin typeface="Calibri"/>
                          <a:ea typeface="Calibri"/>
                          <a:cs typeface="Calibri"/>
                          <a:sym typeface="Calibri"/>
                        </a:rPr>
                        <a:t> - Kích hoạt chu kỳ chuyển dữ liệu. Tính bằng mem_valid &amp;&amp; mem_ready. Khi đang đợi, mem_ready = 0 khiến mem_xfer = 0, chặn đứng mọi sự luân chuyển dữ liệu.</a:t>
                      </a:r>
                      <a:endParaRPr sz="1500" u="none" cap="none" strike="noStrike">
                        <a:solidFill>
                          <a:srgbClr val="212120"/>
                        </a:solidFill>
                        <a:latin typeface="Arial"/>
                        <a:ea typeface="Arial"/>
                        <a:cs typeface="Arial"/>
                        <a:sym typeface="Arial"/>
                      </a:endParaRPr>
                    </a:p>
                  </a:txBody>
                  <a:tcPr marT="0" marB="0" marR="68575" marL="68575"/>
                </a:tc>
              </a:tr>
              <a:tr h="370850">
                <a:tc>
                  <a:txBody>
                    <a:bodyPr/>
                    <a:lstStyle/>
                    <a:p>
                      <a:pPr indent="0" lvl="0" marL="0" marR="0" rtl="0" algn="l">
                        <a:spcBef>
                          <a:spcPts val="0"/>
                        </a:spcBef>
                        <a:spcAft>
                          <a:spcPts val="0"/>
                        </a:spcAft>
                        <a:buClr>
                          <a:srgbClr val="212120"/>
                        </a:buClr>
                        <a:buSzPts val="1500"/>
                        <a:buFont typeface="Calibri"/>
                        <a:buNone/>
                      </a:pPr>
                      <a:r>
                        <a:rPr lang="en-US" sz="1500" u="none" cap="none" strike="noStrike">
                          <a:solidFill>
                            <a:srgbClr val="212120"/>
                          </a:solidFill>
                          <a:latin typeface="Calibri"/>
                          <a:ea typeface="Calibri"/>
                          <a:cs typeface="Calibri"/>
                          <a:sym typeface="Calibri"/>
                        </a:rPr>
                        <a:t>mem_done</a:t>
                      </a:r>
                      <a:endParaRPr sz="1500" u="none" cap="none" strike="noStrike">
                        <a:solidFill>
                          <a:srgbClr val="212120"/>
                        </a:solidFill>
                        <a:latin typeface="Arial"/>
                        <a:ea typeface="Arial"/>
                        <a:cs typeface="Arial"/>
                        <a:sym typeface="Arial"/>
                      </a:endParaRPr>
                    </a:p>
                  </a:txBody>
                  <a:tcPr marT="0" marB="0" marR="68575" marL="68575"/>
                </a:tc>
                <a:tc>
                  <a:txBody>
                    <a:bodyPr/>
                    <a:lstStyle/>
                    <a:p>
                      <a:pPr indent="0" lvl="0" marL="0" marR="0" rtl="0" algn="l">
                        <a:spcBef>
                          <a:spcPts val="0"/>
                        </a:spcBef>
                        <a:spcAft>
                          <a:spcPts val="0"/>
                        </a:spcAft>
                        <a:buClr>
                          <a:srgbClr val="212120"/>
                        </a:buClr>
                        <a:buSzPts val="1500"/>
                        <a:buFont typeface="Calibri"/>
                        <a:buNone/>
                      </a:pPr>
                      <a:r>
                        <a:rPr b="1" lang="en-US" sz="1500" u="none" cap="none" strike="noStrike">
                          <a:solidFill>
                            <a:srgbClr val="212120"/>
                          </a:solidFill>
                          <a:latin typeface="Calibri"/>
                          <a:ea typeface="Calibri"/>
                          <a:cs typeface="Calibri"/>
                          <a:sym typeface="Calibri"/>
                        </a:rPr>
                        <a:t>Memory Done</a:t>
                      </a:r>
                      <a:r>
                        <a:rPr lang="en-US" sz="1500" u="none" cap="none" strike="noStrike">
                          <a:solidFill>
                            <a:srgbClr val="212120"/>
                          </a:solidFill>
                          <a:latin typeface="Calibri"/>
                          <a:ea typeface="Calibri"/>
                          <a:cs typeface="Calibri"/>
                          <a:sym typeface="Calibri"/>
                        </a:rPr>
                        <a:t> - Báo cáo FSM trung tâm rằng việc đọc/ghi đã hoàn thành. Nếu mem_xfer = 0, mem_done lập tức bằng 0</a:t>
                      </a:r>
                      <a:endParaRPr sz="1500" u="none" cap="none" strike="noStrike">
                        <a:solidFill>
                          <a:srgbClr val="212120"/>
                        </a:solidFill>
                        <a:latin typeface="Arial"/>
                        <a:ea typeface="Arial"/>
                        <a:cs typeface="Arial"/>
                        <a:sym typeface="Arial"/>
                      </a:endParaRPr>
                    </a:p>
                  </a:txBody>
                  <a:tcPr marT="0" marB="0" marR="68575" marL="68575"/>
                </a:tc>
              </a:tr>
              <a:tr h="370850">
                <a:tc>
                  <a:txBody>
                    <a:bodyPr/>
                    <a:lstStyle/>
                    <a:p>
                      <a:pPr indent="0" lvl="0" marL="0" marR="0" rtl="0" algn="l">
                        <a:spcBef>
                          <a:spcPts val="0"/>
                        </a:spcBef>
                        <a:spcAft>
                          <a:spcPts val="0"/>
                        </a:spcAft>
                        <a:buClr>
                          <a:srgbClr val="212120"/>
                        </a:buClr>
                        <a:buSzPts val="1500"/>
                        <a:buFont typeface="Calibri"/>
                        <a:buNone/>
                      </a:pPr>
                      <a:r>
                        <a:rPr lang="en-US" sz="1500" u="none" cap="none" strike="noStrike">
                          <a:solidFill>
                            <a:srgbClr val="212120"/>
                          </a:solidFill>
                          <a:latin typeface="Calibri"/>
                          <a:ea typeface="Calibri"/>
                          <a:cs typeface="Calibri"/>
                          <a:sym typeface="Calibri"/>
                        </a:rPr>
                        <a:t>decoder_trigger</a:t>
                      </a:r>
                      <a:endParaRPr sz="1500" u="none" cap="none" strike="noStrike">
                        <a:solidFill>
                          <a:srgbClr val="212120"/>
                        </a:solidFill>
                        <a:latin typeface="Arial"/>
                        <a:ea typeface="Arial"/>
                        <a:cs typeface="Arial"/>
                        <a:sym typeface="Arial"/>
                      </a:endParaRPr>
                    </a:p>
                  </a:txBody>
                  <a:tcPr marT="0" marB="0" marR="68575" marL="68575"/>
                </a:tc>
                <a:tc>
                  <a:txBody>
                    <a:bodyPr/>
                    <a:lstStyle/>
                    <a:p>
                      <a:pPr indent="0" lvl="0" marL="0" marR="0" rtl="0" algn="l">
                        <a:spcBef>
                          <a:spcPts val="0"/>
                        </a:spcBef>
                        <a:spcAft>
                          <a:spcPts val="0"/>
                        </a:spcAft>
                        <a:buClr>
                          <a:srgbClr val="212120"/>
                        </a:buClr>
                        <a:buSzPts val="1500"/>
                        <a:buFont typeface="Calibri"/>
                        <a:buNone/>
                      </a:pPr>
                      <a:r>
                        <a:rPr lang="en-US" sz="1500" u="none" cap="none" strike="noStrike">
                          <a:solidFill>
                            <a:srgbClr val="212120"/>
                          </a:solidFill>
                          <a:latin typeface="Calibri"/>
                          <a:ea typeface="Calibri"/>
                          <a:cs typeface="Calibri"/>
                          <a:sym typeface="Calibri"/>
                        </a:rPr>
                        <a:t>Cờ kích hoạt bộ giải mã lệnh và tăng địa chỉ PC. Tính bằng mem_do_rinst &amp;&amp; mem_done. Khi Stall, mem_done = 0 ghim cờ này về 0</a:t>
                      </a:r>
                      <a:endParaRPr sz="1500" u="none" cap="none" strike="noStrike">
                        <a:solidFill>
                          <a:srgbClr val="212120"/>
                        </a:solidFill>
                        <a:latin typeface="Arial"/>
                        <a:ea typeface="Arial"/>
                        <a:cs typeface="Arial"/>
                        <a:sym typeface="Arial"/>
                      </a:endParaRPr>
                    </a:p>
                  </a:txBody>
                  <a:tcPr marT="0" marB="0" marR="68575" marL="68575"/>
                </a:tc>
              </a:tr>
              <a:tr h="370850">
                <a:tc>
                  <a:txBody>
                    <a:bodyPr/>
                    <a:lstStyle/>
                    <a:p>
                      <a:pPr indent="0" lvl="0" marL="0" marR="0" rtl="0" algn="l">
                        <a:spcBef>
                          <a:spcPts val="0"/>
                        </a:spcBef>
                        <a:spcAft>
                          <a:spcPts val="0"/>
                        </a:spcAft>
                        <a:buClr>
                          <a:srgbClr val="212120"/>
                        </a:buClr>
                        <a:buSzPts val="1500"/>
                        <a:buFont typeface="Calibri"/>
                        <a:buNone/>
                      </a:pPr>
                      <a:r>
                        <a:rPr lang="en-US" sz="1500" u="none" cap="none" strike="noStrike">
                          <a:solidFill>
                            <a:srgbClr val="212120"/>
                          </a:solidFill>
                          <a:latin typeface="Calibri"/>
                          <a:ea typeface="Calibri"/>
                          <a:cs typeface="Calibri"/>
                          <a:sym typeface="Calibri"/>
                        </a:rPr>
                        <a:t>reg_next_pc</a:t>
                      </a:r>
                      <a:endParaRPr sz="1500" u="none" cap="none" strike="noStrike">
                        <a:solidFill>
                          <a:srgbClr val="212120"/>
                        </a:solidFill>
                        <a:latin typeface="Arial"/>
                        <a:ea typeface="Arial"/>
                        <a:cs typeface="Arial"/>
                        <a:sym typeface="Arial"/>
                      </a:endParaRPr>
                    </a:p>
                  </a:txBody>
                  <a:tcPr marT="0" marB="0" marR="68575" marL="68575"/>
                </a:tc>
                <a:tc>
                  <a:txBody>
                    <a:bodyPr/>
                    <a:lstStyle/>
                    <a:p>
                      <a:pPr indent="0" lvl="0" marL="0" marR="0" rtl="0" algn="l">
                        <a:spcBef>
                          <a:spcPts val="0"/>
                        </a:spcBef>
                        <a:spcAft>
                          <a:spcPts val="0"/>
                        </a:spcAft>
                        <a:buClr>
                          <a:srgbClr val="212120"/>
                        </a:buClr>
                        <a:buSzPts val="1500"/>
                        <a:buFont typeface="Calibri"/>
                        <a:buNone/>
                      </a:pPr>
                      <a:r>
                        <a:rPr lang="en-US" sz="1500" u="none" cap="none" strike="noStrike">
                          <a:solidFill>
                            <a:srgbClr val="212120"/>
                          </a:solidFill>
                          <a:latin typeface="Calibri"/>
                          <a:ea typeface="Calibri"/>
                          <a:cs typeface="Calibri"/>
                          <a:sym typeface="Calibri"/>
                        </a:rPr>
                        <a:t> Thanh ghi lưu địa chỉ của lệnh tiếp theo. Nó chỉ được cộng thêm 2 hoặc 4 để chuyển sang lệnh mới khi decoder_trigger = 1</a:t>
                      </a:r>
                      <a:endParaRPr sz="1500" u="none" cap="none" strike="noStrike">
                        <a:solidFill>
                          <a:srgbClr val="212120"/>
                        </a:solidFill>
                        <a:latin typeface="Arial"/>
                        <a:ea typeface="Arial"/>
                        <a:cs typeface="Arial"/>
                        <a:sym typeface="Arial"/>
                      </a:endParaRPr>
                    </a:p>
                  </a:txBody>
                  <a:tcPr marT="0" marB="0" marR="68575" marL="68575"/>
                </a:tc>
              </a:tr>
              <a:tr h="370850">
                <a:tc>
                  <a:txBody>
                    <a:bodyPr/>
                    <a:lstStyle/>
                    <a:p>
                      <a:pPr indent="0" lvl="0" marL="0" marR="0" rtl="0" algn="l">
                        <a:spcBef>
                          <a:spcPts val="0"/>
                        </a:spcBef>
                        <a:spcAft>
                          <a:spcPts val="0"/>
                        </a:spcAft>
                        <a:buClr>
                          <a:srgbClr val="212120"/>
                        </a:buClr>
                        <a:buSzPts val="1500"/>
                        <a:buFont typeface="Calibri"/>
                        <a:buNone/>
                      </a:pPr>
                      <a:r>
                        <a:rPr lang="en-US" sz="1500" u="none" cap="none" strike="noStrike">
                          <a:solidFill>
                            <a:srgbClr val="212120"/>
                          </a:solidFill>
                          <a:latin typeface="Calibri"/>
                          <a:ea typeface="Calibri"/>
                          <a:cs typeface="Calibri"/>
                          <a:sym typeface="Calibri"/>
                        </a:rPr>
                        <a:t>reg_pc</a:t>
                      </a:r>
                      <a:endParaRPr sz="1500" u="none" cap="none" strike="noStrike">
                        <a:solidFill>
                          <a:srgbClr val="212120"/>
                        </a:solidFill>
                        <a:latin typeface="Arial"/>
                        <a:ea typeface="Arial"/>
                        <a:cs typeface="Arial"/>
                        <a:sym typeface="Arial"/>
                      </a:endParaRPr>
                    </a:p>
                  </a:txBody>
                  <a:tcPr marT="0" marB="0" marR="68575" marL="68575"/>
                </a:tc>
                <a:tc>
                  <a:txBody>
                    <a:bodyPr/>
                    <a:lstStyle/>
                    <a:p>
                      <a:pPr indent="0" lvl="0" marL="0" marR="0" rtl="0" algn="l">
                        <a:spcBef>
                          <a:spcPts val="0"/>
                        </a:spcBef>
                        <a:spcAft>
                          <a:spcPts val="0"/>
                        </a:spcAft>
                        <a:buClr>
                          <a:srgbClr val="212120"/>
                        </a:buClr>
                        <a:buSzPts val="1500"/>
                        <a:buFont typeface="Calibri"/>
                        <a:buNone/>
                      </a:pPr>
                      <a:r>
                        <a:rPr lang="en-US" sz="1500" u="none" cap="none" strike="noStrike">
                          <a:solidFill>
                            <a:srgbClr val="212120"/>
                          </a:solidFill>
                          <a:latin typeface="Calibri"/>
                          <a:ea typeface="Calibri"/>
                          <a:cs typeface="Calibri"/>
                          <a:sym typeface="Calibri"/>
                        </a:rPr>
                        <a:t>Thanh ghi Bộ đếm chương trình (Program Counter) thực tế. Trong chu kỳ nạp lệnh, nó liên tục copy giá trị từ reg_next_pc</a:t>
                      </a:r>
                      <a:endParaRPr sz="1500" u="none" cap="none" strike="noStrike">
                        <a:solidFill>
                          <a:srgbClr val="212120"/>
                        </a:solidFill>
                        <a:latin typeface="Arial"/>
                        <a:ea typeface="Arial"/>
                        <a:cs typeface="Arial"/>
                        <a:sym typeface="Arial"/>
                      </a:endParaRPr>
                    </a:p>
                  </a:txBody>
                  <a:tcPr marT="0" marB="0" marR="68575" marL="68575"/>
                </a:tc>
              </a:tr>
              <a:tr h="370850">
                <a:tc>
                  <a:txBody>
                    <a:bodyPr/>
                    <a:lstStyle/>
                    <a:p>
                      <a:pPr indent="0" lvl="0" marL="0" marR="0" rtl="0" algn="l">
                        <a:spcBef>
                          <a:spcPts val="0"/>
                        </a:spcBef>
                        <a:spcAft>
                          <a:spcPts val="0"/>
                        </a:spcAft>
                        <a:buClr>
                          <a:srgbClr val="212120"/>
                        </a:buClr>
                        <a:buSzPts val="1500"/>
                        <a:buFont typeface="Calibri"/>
                        <a:buNone/>
                      </a:pPr>
                      <a:r>
                        <a:rPr lang="en-US" sz="1500" u="none" cap="none" strike="noStrike">
                          <a:solidFill>
                            <a:srgbClr val="212120"/>
                          </a:solidFill>
                          <a:latin typeface="Calibri"/>
                          <a:ea typeface="Calibri"/>
                          <a:cs typeface="Calibri"/>
                          <a:sym typeface="Calibri"/>
                        </a:rPr>
                        <a:t>cpu_state</a:t>
                      </a:r>
                      <a:endParaRPr sz="1500" u="none" cap="none" strike="noStrike">
                        <a:solidFill>
                          <a:srgbClr val="212120"/>
                        </a:solidFill>
                        <a:latin typeface="Arial"/>
                        <a:ea typeface="Arial"/>
                        <a:cs typeface="Arial"/>
                        <a:sym typeface="Arial"/>
                      </a:endParaRPr>
                    </a:p>
                  </a:txBody>
                  <a:tcPr marT="0" marB="0" marR="68575" marL="68575"/>
                </a:tc>
                <a:tc>
                  <a:txBody>
                    <a:bodyPr/>
                    <a:lstStyle/>
                    <a:p>
                      <a:pPr indent="0" lvl="0" marL="0" marR="0" rtl="0" algn="l">
                        <a:spcBef>
                          <a:spcPts val="0"/>
                        </a:spcBef>
                        <a:spcAft>
                          <a:spcPts val="0"/>
                        </a:spcAft>
                        <a:buClr>
                          <a:srgbClr val="212120"/>
                        </a:buClr>
                        <a:buSzPts val="1500"/>
                        <a:buFont typeface="Calibri"/>
                        <a:buNone/>
                      </a:pPr>
                      <a:r>
                        <a:rPr lang="en-US" sz="1500" u="none" cap="none" strike="noStrike">
                          <a:solidFill>
                            <a:srgbClr val="212120"/>
                          </a:solidFill>
                          <a:latin typeface="Calibri"/>
                          <a:ea typeface="Calibri"/>
                          <a:cs typeface="Calibri"/>
                          <a:sym typeface="Calibri"/>
                        </a:rPr>
                        <a:t>Máy trạng thái chính của CPU (gồm các trạng thái Fetch, Exec, Ldmem, Stmem...).</a:t>
                      </a:r>
                      <a:endParaRPr sz="1500" u="none" cap="none" strike="noStrike">
                        <a:solidFill>
                          <a:srgbClr val="212120"/>
                        </a:solidFill>
                        <a:latin typeface="Arial"/>
                        <a:ea typeface="Arial"/>
                        <a:cs typeface="Arial"/>
                        <a:sym typeface="Arial"/>
                      </a:endParaRPr>
                    </a:p>
                  </a:txBody>
                  <a:tcPr marT="0" marB="0" marR="68575" marL="68575"/>
                </a:tc>
              </a:tr>
              <a:tr h="370850">
                <a:tc>
                  <a:txBody>
                    <a:bodyPr/>
                    <a:lstStyle/>
                    <a:p>
                      <a:pPr indent="0" lvl="0" marL="0" marR="0" rtl="0" algn="l">
                        <a:spcBef>
                          <a:spcPts val="0"/>
                        </a:spcBef>
                        <a:spcAft>
                          <a:spcPts val="0"/>
                        </a:spcAft>
                        <a:buClr>
                          <a:srgbClr val="212120"/>
                        </a:buClr>
                        <a:buSzPts val="1500"/>
                        <a:buFont typeface="Calibri"/>
                        <a:buNone/>
                      </a:pPr>
                      <a:r>
                        <a:rPr lang="en-US" sz="1500" u="none" cap="none" strike="noStrike">
                          <a:solidFill>
                            <a:srgbClr val="212120"/>
                          </a:solidFill>
                          <a:latin typeface="Calibri"/>
                          <a:ea typeface="Calibri"/>
                          <a:cs typeface="Calibri"/>
                          <a:sym typeface="Calibri"/>
                        </a:rPr>
                        <a:t>mem_state</a:t>
                      </a:r>
                      <a:endParaRPr sz="1500" u="none" cap="none" strike="noStrike">
                        <a:solidFill>
                          <a:srgbClr val="212120"/>
                        </a:solidFill>
                        <a:latin typeface="Arial"/>
                        <a:ea typeface="Arial"/>
                        <a:cs typeface="Arial"/>
                        <a:sym typeface="Arial"/>
                      </a:endParaRPr>
                    </a:p>
                  </a:txBody>
                  <a:tcPr marT="0" marB="0" marR="68575" marL="68575"/>
                </a:tc>
                <a:tc>
                  <a:txBody>
                    <a:bodyPr/>
                    <a:lstStyle/>
                    <a:p>
                      <a:pPr indent="0" lvl="0" marL="0" marR="0" rtl="0" algn="l">
                        <a:spcBef>
                          <a:spcPts val="0"/>
                        </a:spcBef>
                        <a:spcAft>
                          <a:spcPts val="0"/>
                        </a:spcAft>
                        <a:buClr>
                          <a:srgbClr val="212120"/>
                        </a:buClr>
                        <a:buSzPts val="1500"/>
                        <a:buFont typeface="Calibri"/>
                        <a:buNone/>
                      </a:pPr>
                      <a:r>
                        <a:rPr lang="en-US" sz="1500" u="none" cap="none" strike="noStrike">
                          <a:solidFill>
                            <a:srgbClr val="212120"/>
                          </a:solidFill>
                          <a:latin typeface="Calibri"/>
                          <a:ea typeface="Calibri"/>
                          <a:cs typeface="Calibri"/>
                          <a:sym typeface="Calibri"/>
                        </a:rPr>
                        <a:t>Máy trạng thái quản lý riêng tầng giao tiếp bộ nhớ (0: Idle, 1: Read, 2: Write).</a:t>
                      </a:r>
                      <a:endParaRPr sz="1500" u="none" cap="none" strike="noStrike">
                        <a:solidFill>
                          <a:srgbClr val="212120"/>
                        </a:solidFill>
                        <a:latin typeface="Arial"/>
                        <a:ea typeface="Arial"/>
                        <a:cs typeface="Arial"/>
                        <a:sym typeface="Arial"/>
                      </a:endParaRPr>
                    </a:p>
                  </a:txBody>
                  <a:tcPr marT="0" marB="0" marR="68575" marL="68575"/>
                </a:tc>
              </a:tr>
            </a:tbl>
          </a:graphicData>
        </a:graphic>
      </p:graphicFrame>
      <p:sp>
        <p:nvSpPr>
          <p:cNvPr id="619" name="Google Shape;619;p32"/>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620" name="Google Shape;620;p32"/>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33"/>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Phụ lục </a:t>
            </a:r>
            <a:endParaRPr/>
          </a:p>
        </p:txBody>
      </p:sp>
      <p:sp>
        <p:nvSpPr>
          <p:cNvPr id="626" name="Google Shape;626;p33"/>
          <p:cNvSpPr txBox="1"/>
          <p:nvPr>
            <p:ph idx="1" type="body"/>
          </p:nvPr>
        </p:nvSpPr>
        <p:spPr>
          <a:xfrm>
            <a:off x="514560" y="1927430"/>
            <a:ext cx="10980000" cy="4156684"/>
          </a:xfrm>
          <a:prstGeom prst="rect">
            <a:avLst/>
          </a:prstGeom>
          <a:noFill/>
          <a:ln>
            <a:noFill/>
          </a:ln>
        </p:spPr>
        <p:txBody>
          <a:bodyPr anchorCtr="0" anchor="t" bIns="45700" lIns="91425" spcFirstLastPara="1" rIns="91425" wrap="square" tIns="45700">
            <a:normAutofit/>
          </a:bodyPr>
          <a:lstStyle/>
          <a:p>
            <a:pPr indent="0" lvl="0" marL="0" rtl="0" algn="l">
              <a:lnSpc>
                <a:spcPct val="130000"/>
              </a:lnSpc>
              <a:spcBef>
                <a:spcPts val="0"/>
              </a:spcBef>
              <a:spcAft>
                <a:spcPts val="0"/>
              </a:spcAft>
              <a:buClr>
                <a:schemeClr val="dk1"/>
              </a:buClr>
              <a:buSzPts val="2000"/>
              <a:buNone/>
            </a:pPr>
            <a:r>
              <a:rPr b="1" lang="en-US" sz="2000"/>
              <a:t>Mã nguồn:</a:t>
            </a:r>
            <a:r>
              <a:rPr lang="en-US" sz="2000"/>
              <a:t> </a:t>
            </a:r>
            <a:r>
              <a:rPr lang="en-US" sz="2000" u="sng">
                <a:solidFill>
                  <a:schemeClr val="hlink"/>
                </a:solidFill>
                <a:hlinkClick r:id="rId3"/>
              </a:rPr>
              <a:t>NguyeDinhHuy/Multi-Core_RISCV</a:t>
            </a:r>
            <a:endParaRPr sz="2000"/>
          </a:p>
        </p:txBody>
      </p:sp>
      <p:sp>
        <p:nvSpPr>
          <p:cNvPr id="627" name="Google Shape;627;p33"/>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628" name="Google Shape;628;p33"/>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34"/>
          <p:cNvSpPr txBox="1"/>
          <p:nvPr>
            <p:ph idx="11" type="ftr"/>
          </p:nvPr>
        </p:nvSpPr>
        <p:spPr>
          <a:xfrm>
            <a:off x="723265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634" name="Google Shape;634;p34"/>
          <p:cNvSpPr txBox="1"/>
          <p:nvPr>
            <p:ph idx="12" type="sldNum"/>
          </p:nvPr>
        </p:nvSpPr>
        <p:spPr>
          <a:xfrm>
            <a:off x="10409692" y="332284"/>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635" name="Google Shape;635;p34"/>
          <p:cNvSpPr txBox="1"/>
          <p:nvPr>
            <p:ph type="title"/>
          </p:nvPr>
        </p:nvSpPr>
        <p:spPr>
          <a:xfrm>
            <a:off x="1653362" y="2425382"/>
            <a:ext cx="9177548" cy="15059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Times New Roman"/>
              <a:buNone/>
            </a:pPr>
            <a:r>
              <a:rPr lang="en-US"/>
              <a:t>Tài liệu tham khảo</a:t>
            </a:r>
            <a:endParaRPr/>
          </a:p>
        </p:txBody>
      </p:sp>
      <p:sp>
        <p:nvSpPr>
          <p:cNvPr id="636" name="Google Shape;636;p34"/>
          <p:cNvSpPr txBox="1"/>
          <p:nvPr>
            <p:ph idx="2" type="body"/>
          </p:nvPr>
        </p:nvSpPr>
        <p:spPr>
          <a:xfrm>
            <a:off x="1653362" y="561276"/>
            <a:ext cx="2052637" cy="178593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11500"/>
              <a:buNone/>
            </a:pPr>
            <a:r>
              <a:rPr lang="en-US"/>
              <a:t>06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35"/>
          <p:cNvSpPr txBox="1"/>
          <p:nvPr>
            <p:ph type="title"/>
          </p:nvPr>
        </p:nvSpPr>
        <p:spPr>
          <a:xfrm>
            <a:off x="606000" y="1036767"/>
            <a:ext cx="10980000" cy="8906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17058"/>
              </a:buClr>
              <a:buSzPts val="4400"/>
              <a:buFont typeface="Times New Roman"/>
              <a:buNone/>
            </a:pPr>
            <a:r>
              <a:rPr lang="en-US"/>
              <a:t>Tài liệu tham khảo</a:t>
            </a:r>
            <a:endParaRPr/>
          </a:p>
        </p:txBody>
      </p:sp>
      <p:sp>
        <p:nvSpPr>
          <p:cNvPr id="642" name="Google Shape;642;p35"/>
          <p:cNvSpPr txBox="1"/>
          <p:nvPr>
            <p:ph idx="1" type="body"/>
          </p:nvPr>
        </p:nvSpPr>
        <p:spPr>
          <a:xfrm>
            <a:off x="606000" y="2020279"/>
            <a:ext cx="10980000" cy="4156684"/>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30000"/>
              </a:lnSpc>
              <a:spcBef>
                <a:spcPts val="0"/>
              </a:spcBef>
              <a:spcAft>
                <a:spcPts val="0"/>
              </a:spcAft>
              <a:buClr>
                <a:schemeClr val="dk1"/>
              </a:buClr>
              <a:buSzPct val="100000"/>
              <a:buChar char="•"/>
            </a:pPr>
            <a:r>
              <a:rPr b="1" lang="en-US"/>
              <a:t>[1] Claire Xenia Wolf (YosysHQ)</a:t>
            </a:r>
            <a:r>
              <a:rPr lang="en-US"/>
              <a:t>. "PicoRV32 - A Size-Optimized RISC-V CPU", GitHub Repository.</a:t>
            </a:r>
            <a:endParaRPr/>
          </a:p>
          <a:p>
            <a:pPr indent="0" lvl="0" marL="0" rtl="0" algn="l">
              <a:lnSpc>
                <a:spcPct val="130000"/>
              </a:lnSpc>
              <a:spcBef>
                <a:spcPts val="600"/>
              </a:spcBef>
              <a:spcAft>
                <a:spcPts val="0"/>
              </a:spcAft>
              <a:buClr>
                <a:schemeClr val="dk1"/>
              </a:buClr>
              <a:buSzPct val="100000"/>
              <a:buNone/>
            </a:pPr>
            <a:r>
              <a:rPr i="1" lang="en-US"/>
              <a:t>   Link:</a:t>
            </a:r>
            <a:r>
              <a:rPr lang="en-US"/>
              <a:t> </a:t>
            </a:r>
            <a:r>
              <a:rPr lang="en-US" u="sng">
                <a:solidFill>
                  <a:schemeClr val="hlink"/>
                </a:solidFill>
                <a:hlinkClick r:id="rId3"/>
              </a:rPr>
              <a:t>https://github.com/YosysHQ/picorv32</a:t>
            </a:r>
            <a:endParaRPr/>
          </a:p>
          <a:p>
            <a:pPr indent="-228600" lvl="0" marL="228600" rtl="0" algn="l">
              <a:lnSpc>
                <a:spcPct val="130000"/>
              </a:lnSpc>
              <a:spcBef>
                <a:spcPts val="600"/>
              </a:spcBef>
              <a:spcAft>
                <a:spcPts val="0"/>
              </a:spcAft>
              <a:buClr>
                <a:schemeClr val="dk1"/>
              </a:buClr>
              <a:buSzPct val="100000"/>
              <a:buChar char="•"/>
            </a:pPr>
            <a:r>
              <a:rPr b="1" lang="en-US"/>
              <a:t>[2] David Harris &amp; Sarah Harris</a:t>
            </a:r>
            <a:r>
              <a:rPr lang="en-US"/>
              <a:t>. "Digital Design and Computer Architecture: RISC-V Edition", Morgan Kaufmann.</a:t>
            </a:r>
            <a:endParaRPr/>
          </a:p>
          <a:p>
            <a:pPr indent="-228600" lvl="0" marL="228600" rtl="0" algn="l">
              <a:lnSpc>
                <a:spcPct val="130000"/>
              </a:lnSpc>
              <a:spcBef>
                <a:spcPts val="600"/>
              </a:spcBef>
              <a:spcAft>
                <a:spcPts val="0"/>
              </a:spcAft>
              <a:buClr>
                <a:schemeClr val="dk1"/>
              </a:buClr>
              <a:buSzPct val="100000"/>
              <a:buChar char="•"/>
            </a:pPr>
            <a:r>
              <a:rPr b="1" lang="en-US"/>
              <a:t>[3] Waterman, A., &amp; Asanović, K</a:t>
            </a:r>
            <a:r>
              <a:rPr lang="en-US"/>
              <a:t>. "The RISC-V Instruction Set Manual, Volume I: User-Level ISA", RISC-V International.</a:t>
            </a:r>
            <a:endParaRPr/>
          </a:p>
          <a:p>
            <a:pPr indent="0" lvl="0" marL="0" rtl="0" algn="l">
              <a:lnSpc>
                <a:spcPct val="130000"/>
              </a:lnSpc>
              <a:spcBef>
                <a:spcPts val="600"/>
              </a:spcBef>
              <a:spcAft>
                <a:spcPts val="0"/>
              </a:spcAft>
              <a:buClr>
                <a:schemeClr val="dk1"/>
              </a:buClr>
              <a:buSzPct val="100000"/>
              <a:buNone/>
            </a:pPr>
            <a:r>
              <a:rPr i="1" lang="en-US"/>
              <a:t>   Link:</a:t>
            </a:r>
            <a:r>
              <a:rPr lang="en-US"/>
              <a:t> </a:t>
            </a:r>
            <a:r>
              <a:rPr lang="en-US" u="sng">
                <a:solidFill>
                  <a:schemeClr val="hlink"/>
                </a:solidFill>
                <a:hlinkClick r:id="rId4"/>
              </a:rPr>
              <a:t>https://riscv.org/technical/specifications/</a:t>
            </a:r>
            <a:endParaRPr/>
          </a:p>
          <a:p>
            <a:pPr indent="-228600" lvl="0" marL="228600" rtl="0" algn="l">
              <a:lnSpc>
                <a:spcPct val="130000"/>
              </a:lnSpc>
              <a:spcBef>
                <a:spcPts val="600"/>
              </a:spcBef>
              <a:spcAft>
                <a:spcPts val="0"/>
              </a:spcAft>
              <a:buClr>
                <a:schemeClr val="dk1"/>
              </a:buClr>
              <a:buSzPct val="100000"/>
              <a:buChar char="•"/>
            </a:pPr>
            <a:r>
              <a:rPr b="1" lang="en-US"/>
              <a:t>[4] Khoa Kỹ thuật Máy tính - UIT</a:t>
            </a:r>
            <a:r>
              <a:rPr lang="en-US"/>
              <a:t>. Tài liệu bài giảng môn học Kiến trúc Máy tính.</a:t>
            </a:r>
            <a:endParaRPr/>
          </a:p>
          <a:p>
            <a:pPr indent="-90805" lvl="0" marL="228600" rtl="0" algn="l">
              <a:lnSpc>
                <a:spcPct val="130000"/>
              </a:lnSpc>
              <a:spcBef>
                <a:spcPts val="600"/>
              </a:spcBef>
              <a:spcAft>
                <a:spcPts val="0"/>
              </a:spcAft>
              <a:buClr>
                <a:schemeClr val="dk1"/>
              </a:buClr>
              <a:buSzPct val="100000"/>
              <a:buNone/>
            </a:pPr>
            <a:r>
              <a:t/>
            </a:r>
            <a:endParaRPr/>
          </a:p>
          <a:p>
            <a:pPr indent="0" lvl="0" marL="0" rtl="0" algn="l">
              <a:lnSpc>
                <a:spcPct val="130000"/>
              </a:lnSpc>
              <a:spcBef>
                <a:spcPts val="600"/>
              </a:spcBef>
              <a:spcAft>
                <a:spcPts val="0"/>
              </a:spcAft>
              <a:buClr>
                <a:schemeClr val="dk1"/>
              </a:buClr>
              <a:buSzPct val="100000"/>
              <a:buNone/>
            </a:pPr>
            <a:r>
              <a:t/>
            </a:r>
            <a:endParaRPr/>
          </a:p>
        </p:txBody>
      </p:sp>
      <p:sp>
        <p:nvSpPr>
          <p:cNvPr id="643" name="Google Shape;643;p35"/>
          <p:cNvSpPr txBox="1"/>
          <p:nvPr>
            <p:ph idx="11" type="ftr"/>
          </p:nvPr>
        </p:nvSpPr>
        <p:spPr>
          <a:xfrm>
            <a:off x="4233564"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Báo cáo đồ án 1_23520624_23520629</a:t>
            </a:r>
            <a:endParaRPr/>
          </a:p>
        </p:txBody>
      </p:sp>
      <p:sp>
        <p:nvSpPr>
          <p:cNvPr id="644" name="Google Shape;644;p35"/>
          <p:cNvSpPr txBox="1"/>
          <p:nvPr>
            <p:ph idx="12" type="sldNum"/>
          </p:nvPr>
        </p:nvSpPr>
        <p:spPr>
          <a:xfrm>
            <a:off x="10422944" y="6356350"/>
            <a:ext cx="27432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FCE Green v2">
      <a:dk1>
        <a:srgbClr val="000000"/>
      </a:dk1>
      <a:lt1>
        <a:srgbClr val="FFFFFF"/>
      </a:lt1>
      <a:dk2>
        <a:srgbClr val="455F51"/>
      </a:dk2>
      <a:lt2>
        <a:srgbClr val="E3DED1"/>
      </a:lt2>
      <a:accent1>
        <a:srgbClr val="549E39"/>
      </a:accent1>
      <a:accent2>
        <a:srgbClr val="0071FF"/>
      </a:accent2>
      <a:accent3>
        <a:srgbClr val="38EF7D"/>
      </a:accent3>
      <a:accent4>
        <a:srgbClr val="029676"/>
      </a:accent4>
      <a:accent5>
        <a:srgbClr val="F5AF19"/>
      </a:accent5>
      <a:accent6>
        <a:srgbClr val="F12711"/>
      </a:accent6>
      <a:hlink>
        <a:srgbClr val="6B9F25"/>
      </a:hlink>
      <a:folHlink>
        <a:srgbClr val="BA69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2022-06-26T12:27:32Z</dcterms:created>
  <dc:creator>PC</dc:creator>
</cp:coreProperties>
</file>